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62" r:id="rId3"/>
    <p:sldId id="276" r:id="rId4"/>
    <p:sldId id="258" r:id="rId5"/>
    <p:sldId id="259" r:id="rId6"/>
    <p:sldId id="260" r:id="rId7"/>
    <p:sldId id="261" r:id="rId8"/>
    <p:sldId id="277" r:id="rId9"/>
    <p:sldId id="263" r:id="rId10"/>
    <p:sldId id="264" r:id="rId11"/>
    <p:sldId id="265" r:id="rId12"/>
    <p:sldId id="266" r:id="rId13"/>
    <p:sldId id="267" r:id="rId14"/>
    <p:sldId id="268" r:id="rId15"/>
    <p:sldId id="279" r:id="rId16"/>
    <p:sldId id="278" r:id="rId17"/>
  </p:sldIdLst>
  <p:sldSz cx="18288000" cy="10287000"/>
  <p:notesSz cx="6858000" cy="9144000"/>
  <p:embeddedFontLst>
    <p:embeddedFont>
      <p:font typeface="Baskerville Old Face" panose="02020602080505020303" pitchFamily="18" charset="0"/>
      <p:regular r:id="rId19"/>
    </p:embeddedFont>
    <p:embeddedFont>
      <p:font typeface="Cambria" panose="02040503050406030204" pitchFamily="18" charset="0"/>
      <p:regular r:id="rId20"/>
      <p:bold r:id="rId21"/>
      <p:italic r:id="rId22"/>
      <p:boldItalic r:id="rId23"/>
    </p:embeddedFont>
    <p:embeddedFont>
      <p:font typeface="TT Supermolot Neue Expanded" panose="020B0604020202020204" charset="0"/>
      <p:regular r:id="rId24"/>
    </p:embeddedFont>
    <p:embeddedFont>
      <p:font typeface="TT Supermolot Neue Expanded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C4DE44-2ED5-4FD6-B8D1-9C63BCC6E7CB}" type="datetimeFigureOut">
              <a:rPr lang="fr-FR" smtClean="0"/>
              <a:t>30/06/2026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89CF0E-6ED9-461A-A1E0-57466B4ADE78}" type="slidenum">
              <a:rPr lang="fr-FR" smtClean="0"/>
              <a:t>‹N°›</a:t>
            </a:fld>
            <a:endParaRPr lang="fr-FR" dirty="0"/>
          </a:p>
        </p:txBody>
      </p:sp>
    </p:spTree>
    <p:extLst>
      <p:ext uri="{BB962C8B-B14F-4D97-AF65-F5344CB8AC3E}">
        <p14:creationId xmlns:p14="http://schemas.microsoft.com/office/powerpoint/2010/main" val="15420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3389CF0E-6ED9-461A-A1E0-57466B4ADE78}" type="slidenum">
              <a:rPr lang="fr-FR" smtClean="0"/>
              <a:t>1</a:t>
            </a:fld>
            <a:endParaRPr lang="fr-FR" dirty="0"/>
          </a:p>
        </p:txBody>
      </p:sp>
    </p:spTree>
    <p:extLst>
      <p:ext uri="{BB962C8B-B14F-4D97-AF65-F5344CB8AC3E}">
        <p14:creationId xmlns:p14="http://schemas.microsoft.com/office/powerpoint/2010/main" val="1941035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482449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520053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2961648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7320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1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828"/>
        </a:solidFill>
        <a:effectLst/>
      </p:bgPr>
    </p:bg>
    <p:spTree>
      <p:nvGrpSpPr>
        <p:cNvPr id="1" name=""/>
        <p:cNvGrpSpPr/>
        <p:nvPr/>
      </p:nvGrpSpPr>
      <p:grpSpPr>
        <a:xfrm>
          <a:off x="0" y="0"/>
          <a:ext cx="0" cy="0"/>
          <a:chOff x="0" y="0"/>
          <a:chExt cx="0" cy="0"/>
        </a:xfrm>
      </p:grpSpPr>
      <p:grpSp>
        <p:nvGrpSpPr>
          <p:cNvPr id="2" name="Group 2"/>
          <p:cNvGrpSpPr/>
          <p:nvPr/>
        </p:nvGrpSpPr>
        <p:grpSpPr>
          <a:xfrm>
            <a:off x="-337852" y="1685369"/>
            <a:ext cx="18625852" cy="8506554"/>
            <a:chOff x="0" y="0"/>
            <a:chExt cx="4905574" cy="2240409"/>
          </a:xfrm>
        </p:grpSpPr>
        <p:sp>
          <p:nvSpPr>
            <p:cNvPr id="3" name="Freeform 3"/>
            <p:cNvSpPr/>
            <p:nvPr/>
          </p:nvSpPr>
          <p:spPr>
            <a:xfrm>
              <a:off x="0" y="0"/>
              <a:ext cx="4905574" cy="2240409"/>
            </a:xfrm>
            <a:custGeom>
              <a:avLst/>
              <a:gdLst/>
              <a:ahLst/>
              <a:cxnLst/>
              <a:rect l="l" t="t" r="r" b="b"/>
              <a:pathLst>
                <a:path w="4905574" h="2240409">
                  <a:moveTo>
                    <a:pt x="0" y="0"/>
                  </a:moveTo>
                  <a:lnTo>
                    <a:pt x="4905574" y="0"/>
                  </a:lnTo>
                  <a:lnTo>
                    <a:pt x="4905574" y="2240409"/>
                  </a:lnTo>
                  <a:lnTo>
                    <a:pt x="0" y="2240409"/>
                  </a:lnTo>
                  <a:close/>
                </a:path>
              </a:pathLst>
            </a:custGeom>
            <a:gradFill rotWithShape="1">
              <a:gsLst>
                <a:gs pos="0">
                  <a:srgbClr val="0E1923">
                    <a:alpha val="0"/>
                  </a:srgbClr>
                </a:gs>
                <a:gs pos="50000">
                  <a:srgbClr val="0E1923">
                    <a:alpha val="100000"/>
                  </a:srgbClr>
                </a:gs>
                <a:gs pos="100000">
                  <a:srgbClr val="0E1923">
                    <a:alpha val="100000"/>
                  </a:srgbClr>
                </a:gs>
              </a:gsLst>
              <a:lin ang="5400000"/>
            </a:gradFill>
          </p:spPr>
        </p:sp>
        <p:sp>
          <p:nvSpPr>
            <p:cNvPr id="4" name="TextBox 4"/>
            <p:cNvSpPr txBox="1"/>
            <p:nvPr/>
          </p:nvSpPr>
          <p:spPr>
            <a:xfrm>
              <a:off x="0" y="19050"/>
              <a:ext cx="4905574" cy="2221359"/>
            </a:xfrm>
            <a:prstGeom prst="rect">
              <a:avLst/>
            </a:prstGeom>
          </p:spPr>
          <p:txBody>
            <a:bodyPr lIns="50800" tIns="50800" rIns="50800" bIns="50800" rtlCol="0" anchor="ctr"/>
            <a:lstStyle/>
            <a:p>
              <a:pPr algn="ctr">
                <a:lnSpc>
                  <a:spcPts val="2750"/>
                </a:lnSpc>
              </a:pPr>
              <a:endParaRPr dirty="0"/>
            </a:p>
          </p:txBody>
        </p:sp>
      </p:grpSp>
      <p:grpSp>
        <p:nvGrpSpPr>
          <p:cNvPr id="5" name="Group 5"/>
          <p:cNvGrpSpPr/>
          <p:nvPr/>
        </p:nvGrpSpPr>
        <p:grpSpPr>
          <a:xfrm>
            <a:off x="8522304" y="4429872"/>
            <a:ext cx="905539" cy="905539"/>
            <a:chOff x="0" y="0"/>
            <a:chExt cx="6350000" cy="6350000"/>
          </a:xfrm>
        </p:grpSpPr>
        <p:sp>
          <p:nvSpPr>
            <p:cNvPr id="6" name="Freeform 6"/>
            <p:cNvSpPr/>
            <p:nvPr/>
          </p:nvSpPr>
          <p:spPr>
            <a:xfrm>
              <a:off x="11684" y="11684"/>
              <a:ext cx="6326632" cy="6326632"/>
            </a:xfrm>
            <a:custGeom>
              <a:avLst/>
              <a:gdLst/>
              <a:ahLst/>
              <a:cxnLst/>
              <a:rect l="l" t="t" r="r" b="b"/>
              <a:pathLst>
                <a:path w="6326632" h="6326632">
                  <a:moveTo>
                    <a:pt x="3163316" y="0"/>
                  </a:moveTo>
                  <a:cubicBezTo>
                    <a:pt x="1416304" y="0"/>
                    <a:pt x="0" y="1416304"/>
                    <a:pt x="0" y="3163316"/>
                  </a:cubicBezTo>
                  <a:cubicBezTo>
                    <a:pt x="0" y="4910328"/>
                    <a:pt x="1416304" y="6326632"/>
                    <a:pt x="3163316" y="6326632"/>
                  </a:cubicBezTo>
                  <a:cubicBezTo>
                    <a:pt x="4910328" y="6326632"/>
                    <a:pt x="6326632" y="4910328"/>
                    <a:pt x="6326632" y="3163316"/>
                  </a:cubicBezTo>
                  <a:cubicBezTo>
                    <a:pt x="6326632" y="1416304"/>
                    <a:pt x="4910328" y="0"/>
                    <a:pt x="3163316" y="0"/>
                  </a:cubicBezTo>
                  <a:close/>
                  <a:moveTo>
                    <a:pt x="3163316" y="4190746"/>
                  </a:moveTo>
                  <a:cubicBezTo>
                    <a:pt x="2595880" y="4190746"/>
                    <a:pt x="2135886" y="3730752"/>
                    <a:pt x="2135886" y="3163316"/>
                  </a:cubicBezTo>
                  <a:cubicBezTo>
                    <a:pt x="2135886" y="2595880"/>
                    <a:pt x="2595880" y="2135886"/>
                    <a:pt x="3163316" y="2135886"/>
                  </a:cubicBezTo>
                  <a:cubicBezTo>
                    <a:pt x="3730752" y="2135886"/>
                    <a:pt x="4190746" y="2595880"/>
                    <a:pt x="4190746" y="3163316"/>
                  </a:cubicBezTo>
                  <a:cubicBezTo>
                    <a:pt x="4190746" y="3730752"/>
                    <a:pt x="3730752" y="4190746"/>
                    <a:pt x="3163316" y="4190746"/>
                  </a:cubicBezTo>
                  <a:close/>
                </a:path>
              </a:pathLst>
            </a:custGeom>
            <a:solidFill>
              <a:srgbClr val="2F5273"/>
            </a:solidFill>
            <a:ln w="200025" cap="sq">
              <a:solidFill>
                <a:srgbClr val="2F5273"/>
              </a:solidFill>
              <a:prstDash val="solid"/>
              <a:miter/>
            </a:ln>
          </p:spPr>
        </p:sp>
      </p:grpSp>
      <p:grpSp>
        <p:nvGrpSpPr>
          <p:cNvPr id="7" name="Group 7"/>
          <p:cNvGrpSpPr/>
          <p:nvPr/>
        </p:nvGrpSpPr>
        <p:grpSpPr>
          <a:xfrm>
            <a:off x="15836958" y="1424511"/>
            <a:ext cx="1422342" cy="521716"/>
            <a:chOff x="0" y="0"/>
            <a:chExt cx="1904302" cy="698500"/>
          </a:xfrm>
        </p:grpSpPr>
        <p:sp>
          <p:nvSpPr>
            <p:cNvPr id="8" name="Freeform 8"/>
            <p:cNvSpPr/>
            <p:nvPr/>
          </p:nvSpPr>
          <p:spPr>
            <a:xfrm>
              <a:off x="0" y="0"/>
              <a:ext cx="1904302" cy="698500"/>
            </a:xfrm>
            <a:custGeom>
              <a:avLst/>
              <a:gdLst/>
              <a:ahLst/>
              <a:cxnLst/>
              <a:rect l="l" t="t" r="r" b="b"/>
              <a:pathLst>
                <a:path w="1904302" h="698500">
                  <a:moveTo>
                    <a:pt x="1904302" y="349250"/>
                  </a:moveTo>
                  <a:lnTo>
                    <a:pt x="1701102" y="698500"/>
                  </a:lnTo>
                  <a:lnTo>
                    <a:pt x="203200" y="698500"/>
                  </a:lnTo>
                  <a:lnTo>
                    <a:pt x="0" y="349250"/>
                  </a:lnTo>
                  <a:lnTo>
                    <a:pt x="203200" y="0"/>
                  </a:lnTo>
                  <a:lnTo>
                    <a:pt x="1701102" y="0"/>
                  </a:lnTo>
                  <a:lnTo>
                    <a:pt x="1904302" y="349250"/>
                  </a:lnTo>
                  <a:close/>
                </a:path>
              </a:pathLst>
            </a:custGeom>
            <a:ln w="19050" cap="sq">
              <a:solidFill>
                <a:srgbClr val="39A1FF"/>
              </a:solidFill>
              <a:prstDash val="solid"/>
              <a:miter/>
            </a:ln>
          </p:spPr>
        </p:sp>
        <p:sp>
          <p:nvSpPr>
            <p:cNvPr id="9" name="TextBox 9"/>
            <p:cNvSpPr txBox="1"/>
            <p:nvPr/>
          </p:nvSpPr>
          <p:spPr>
            <a:xfrm>
              <a:off x="114300" y="19050"/>
              <a:ext cx="1675702" cy="679450"/>
            </a:xfrm>
            <a:prstGeom prst="rect">
              <a:avLst/>
            </a:prstGeom>
          </p:spPr>
          <p:txBody>
            <a:bodyPr lIns="50800" tIns="50800" rIns="50800" bIns="50800" rtlCol="0" anchor="ctr"/>
            <a:lstStyle/>
            <a:p>
              <a:pPr algn="ctr">
                <a:lnSpc>
                  <a:spcPts val="2750"/>
                </a:lnSpc>
              </a:pPr>
              <a:endParaRPr dirty="0"/>
            </a:p>
          </p:txBody>
        </p:sp>
      </p:grpSp>
      <p:grpSp>
        <p:nvGrpSpPr>
          <p:cNvPr id="10" name="Group 10"/>
          <p:cNvGrpSpPr/>
          <p:nvPr/>
        </p:nvGrpSpPr>
        <p:grpSpPr>
          <a:xfrm>
            <a:off x="416061" y="4621784"/>
            <a:ext cx="1422342" cy="521716"/>
            <a:chOff x="0" y="0"/>
            <a:chExt cx="1904302" cy="698500"/>
          </a:xfrm>
        </p:grpSpPr>
        <p:sp>
          <p:nvSpPr>
            <p:cNvPr id="11" name="Freeform 11"/>
            <p:cNvSpPr/>
            <p:nvPr/>
          </p:nvSpPr>
          <p:spPr>
            <a:xfrm>
              <a:off x="0" y="0"/>
              <a:ext cx="1904302" cy="698500"/>
            </a:xfrm>
            <a:custGeom>
              <a:avLst/>
              <a:gdLst/>
              <a:ahLst/>
              <a:cxnLst/>
              <a:rect l="l" t="t" r="r" b="b"/>
              <a:pathLst>
                <a:path w="1904302" h="698500">
                  <a:moveTo>
                    <a:pt x="1904302" y="349250"/>
                  </a:moveTo>
                  <a:lnTo>
                    <a:pt x="1701102" y="698500"/>
                  </a:lnTo>
                  <a:lnTo>
                    <a:pt x="203200" y="698500"/>
                  </a:lnTo>
                  <a:lnTo>
                    <a:pt x="0" y="349250"/>
                  </a:lnTo>
                  <a:lnTo>
                    <a:pt x="203200" y="0"/>
                  </a:lnTo>
                  <a:lnTo>
                    <a:pt x="1701102" y="0"/>
                  </a:lnTo>
                  <a:lnTo>
                    <a:pt x="1904302" y="349250"/>
                  </a:lnTo>
                  <a:close/>
                </a:path>
              </a:pathLst>
            </a:custGeom>
            <a:ln w="19050" cap="sq">
              <a:solidFill>
                <a:srgbClr val="39A1FF"/>
              </a:solidFill>
              <a:prstDash val="solid"/>
              <a:miter/>
            </a:ln>
          </p:spPr>
        </p:sp>
        <p:sp>
          <p:nvSpPr>
            <p:cNvPr id="12" name="TextBox 12"/>
            <p:cNvSpPr txBox="1"/>
            <p:nvPr/>
          </p:nvSpPr>
          <p:spPr>
            <a:xfrm>
              <a:off x="114300" y="19050"/>
              <a:ext cx="1675702" cy="679450"/>
            </a:xfrm>
            <a:prstGeom prst="rect">
              <a:avLst/>
            </a:prstGeom>
          </p:spPr>
          <p:txBody>
            <a:bodyPr lIns="50800" tIns="50800" rIns="50800" bIns="50800" rtlCol="0" anchor="ctr"/>
            <a:lstStyle/>
            <a:p>
              <a:pPr algn="ctr">
                <a:lnSpc>
                  <a:spcPts val="2750"/>
                </a:lnSpc>
              </a:pPr>
              <a:endParaRPr dirty="0"/>
            </a:p>
          </p:txBody>
        </p:sp>
      </p:grpSp>
      <p:grpSp>
        <p:nvGrpSpPr>
          <p:cNvPr id="13" name="Group 13"/>
          <p:cNvGrpSpPr/>
          <p:nvPr/>
        </p:nvGrpSpPr>
        <p:grpSpPr>
          <a:xfrm>
            <a:off x="17259300" y="9670206"/>
            <a:ext cx="1422342" cy="521716"/>
            <a:chOff x="0" y="0"/>
            <a:chExt cx="1904302" cy="698500"/>
          </a:xfrm>
        </p:grpSpPr>
        <p:sp>
          <p:nvSpPr>
            <p:cNvPr id="14" name="Freeform 14"/>
            <p:cNvSpPr/>
            <p:nvPr/>
          </p:nvSpPr>
          <p:spPr>
            <a:xfrm>
              <a:off x="0" y="0"/>
              <a:ext cx="1904302" cy="698500"/>
            </a:xfrm>
            <a:custGeom>
              <a:avLst/>
              <a:gdLst/>
              <a:ahLst/>
              <a:cxnLst/>
              <a:rect l="l" t="t" r="r" b="b"/>
              <a:pathLst>
                <a:path w="1904302" h="698500">
                  <a:moveTo>
                    <a:pt x="1904302" y="349250"/>
                  </a:moveTo>
                  <a:lnTo>
                    <a:pt x="1701102" y="698500"/>
                  </a:lnTo>
                  <a:lnTo>
                    <a:pt x="203200" y="698500"/>
                  </a:lnTo>
                  <a:lnTo>
                    <a:pt x="0" y="349250"/>
                  </a:lnTo>
                  <a:lnTo>
                    <a:pt x="203200" y="0"/>
                  </a:lnTo>
                  <a:lnTo>
                    <a:pt x="1701102" y="0"/>
                  </a:lnTo>
                  <a:lnTo>
                    <a:pt x="1904302" y="349250"/>
                  </a:lnTo>
                  <a:close/>
                </a:path>
              </a:pathLst>
            </a:custGeom>
            <a:ln w="19050" cap="sq">
              <a:solidFill>
                <a:srgbClr val="39A1FF"/>
              </a:solidFill>
              <a:prstDash val="solid"/>
              <a:miter/>
            </a:ln>
          </p:spPr>
        </p:sp>
        <p:sp>
          <p:nvSpPr>
            <p:cNvPr id="15" name="TextBox 15"/>
            <p:cNvSpPr txBox="1"/>
            <p:nvPr/>
          </p:nvSpPr>
          <p:spPr>
            <a:xfrm>
              <a:off x="114300" y="19050"/>
              <a:ext cx="1675702" cy="679450"/>
            </a:xfrm>
            <a:prstGeom prst="rect">
              <a:avLst/>
            </a:prstGeom>
          </p:spPr>
          <p:txBody>
            <a:bodyPr lIns="50800" tIns="50800" rIns="50800" bIns="50800" rtlCol="0" anchor="ctr"/>
            <a:lstStyle/>
            <a:p>
              <a:pPr algn="ctr">
                <a:lnSpc>
                  <a:spcPts val="2750"/>
                </a:lnSpc>
              </a:pPr>
              <a:endParaRPr dirty="0"/>
            </a:p>
          </p:txBody>
        </p:sp>
      </p:grpSp>
      <p:grpSp>
        <p:nvGrpSpPr>
          <p:cNvPr id="16" name="Group 16"/>
          <p:cNvGrpSpPr/>
          <p:nvPr/>
        </p:nvGrpSpPr>
        <p:grpSpPr>
          <a:xfrm>
            <a:off x="8301012" y="4208580"/>
            <a:ext cx="1348123" cy="1348123"/>
            <a:chOff x="0" y="0"/>
            <a:chExt cx="6350000" cy="6350000"/>
          </a:xfrm>
          <a:solidFill>
            <a:schemeClr val="accent5">
              <a:lumMod val="40000"/>
              <a:lumOff val="60000"/>
            </a:schemeClr>
          </a:solidFill>
        </p:grpSpPr>
        <p:sp>
          <p:nvSpPr>
            <p:cNvPr id="17" name="Freeform 17"/>
            <p:cNvSpPr/>
            <p:nvPr/>
          </p:nvSpPr>
          <p:spPr>
            <a:xfrm>
              <a:off x="11684" y="11684"/>
              <a:ext cx="6326632" cy="6326632"/>
            </a:xfrm>
            <a:custGeom>
              <a:avLst/>
              <a:gdLst/>
              <a:ahLst/>
              <a:cxnLst/>
              <a:rect l="l" t="t" r="r" b="b"/>
              <a:pathLst>
                <a:path w="6326632" h="6326632">
                  <a:moveTo>
                    <a:pt x="3163316" y="0"/>
                  </a:moveTo>
                  <a:cubicBezTo>
                    <a:pt x="1416304" y="0"/>
                    <a:pt x="0" y="1416304"/>
                    <a:pt x="0" y="3163316"/>
                  </a:cubicBezTo>
                  <a:cubicBezTo>
                    <a:pt x="0" y="4910328"/>
                    <a:pt x="1416304" y="6326632"/>
                    <a:pt x="3163316" y="6326632"/>
                  </a:cubicBezTo>
                  <a:cubicBezTo>
                    <a:pt x="4910328" y="6326632"/>
                    <a:pt x="6326632" y="4910328"/>
                    <a:pt x="6326632" y="3163316"/>
                  </a:cubicBezTo>
                  <a:cubicBezTo>
                    <a:pt x="6326632" y="1416304"/>
                    <a:pt x="4910328" y="0"/>
                    <a:pt x="3163316" y="0"/>
                  </a:cubicBezTo>
                  <a:close/>
                  <a:moveTo>
                    <a:pt x="3163316" y="4190746"/>
                  </a:moveTo>
                  <a:cubicBezTo>
                    <a:pt x="2595880" y="4190746"/>
                    <a:pt x="2135886" y="3730752"/>
                    <a:pt x="2135886" y="3163316"/>
                  </a:cubicBezTo>
                  <a:cubicBezTo>
                    <a:pt x="2135886" y="2595880"/>
                    <a:pt x="2595880" y="2135886"/>
                    <a:pt x="3163316" y="2135886"/>
                  </a:cubicBezTo>
                  <a:cubicBezTo>
                    <a:pt x="3730752" y="2135886"/>
                    <a:pt x="4190746" y="2595880"/>
                    <a:pt x="4190746" y="3163316"/>
                  </a:cubicBezTo>
                  <a:cubicBezTo>
                    <a:pt x="4190746" y="3730752"/>
                    <a:pt x="3730752" y="4190746"/>
                    <a:pt x="3163316" y="4190746"/>
                  </a:cubicBezTo>
                  <a:close/>
                </a:path>
              </a:pathLst>
            </a:custGeom>
            <a:grpFill/>
            <a:ln w="200025" cap="sq">
              <a:solidFill>
                <a:srgbClr val="D7E2ED">
                  <a:alpha val="43922"/>
                </a:srgbClr>
              </a:solidFill>
              <a:prstDash val="solid"/>
              <a:miter/>
            </a:ln>
          </p:spPr>
        </p:sp>
      </p:grpSp>
      <p:grpSp>
        <p:nvGrpSpPr>
          <p:cNvPr id="18" name="Group 18"/>
          <p:cNvGrpSpPr/>
          <p:nvPr/>
        </p:nvGrpSpPr>
        <p:grpSpPr>
          <a:xfrm>
            <a:off x="8153400" y="4075246"/>
            <a:ext cx="1601654" cy="1601654"/>
            <a:chOff x="-6692553" y="11684"/>
            <a:chExt cx="6326631" cy="6326631"/>
          </a:xfrm>
          <a:solidFill>
            <a:schemeClr val="tx1"/>
          </a:solidFill>
        </p:grpSpPr>
        <p:sp>
          <p:nvSpPr>
            <p:cNvPr id="19" name="Freeform 19"/>
            <p:cNvSpPr/>
            <p:nvPr/>
          </p:nvSpPr>
          <p:spPr>
            <a:xfrm>
              <a:off x="-6692553" y="11684"/>
              <a:ext cx="6326631" cy="6326631"/>
            </a:xfrm>
            <a:custGeom>
              <a:avLst/>
              <a:gdLst/>
              <a:ahLst/>
              <a:cxnLst/>
              <a:rect l="l" t="t" r="r" b="b"/>
              <a:pathLst>
                <a:path w="6326632" h="6326632">
                  <a:moveTo>
                    <a:pt x="3163316" y="0"/>
                  </a:moveTo>
                  <a:cubicBezTo>
                    <a:pt x="1416304" y="0"/>
                    <a:pt x="0" y="1416304"/>
                    <a:pt x="0" y="3163316"/>
                  </a:cubicBezTo>
                  <a:cubicBezTo>
                    <a:pt x="0" y="4910328"/>
                    <a:pt x="1416304" y="6326632"/>
                    <a:pt x="3163316" y="6326632"/>
                  </a:cubicBezTo>
                  <a:cubicBezTo>
                    <a:pt x="4910328" y="6326632"/>
                    <a:pt x="6326632" y="4910328"/>
                    <a:pt x="6326632" y="3163316"/>
                  </a:cubicBezTo>
                  <a:cubicBezTo>
                    <a:pt x="6326632" y="1416304"/>
                    <a:pt x="4910328" y="0"/>
                    <a:pt x="3163316" y="0"/>
                  </a:cubicBezTo>
                  <a:close/>
                  <a:moveTo>
                    <a:pt x="3163316" y="4190746"/>
                  </a:moveTo>
                  <a:cubicBezTo>
                    <a:pt x="2595880" y="4190746"/>
                    <a:pt x="2135886" y="3730752"/>
                    <a:pt x="2135886" y="3163316"/>
                  </a:cubicBezTo>
                  <a:cubicBezTo>
                    <a:pt x="2135886" y="2595880"/>
                    <a:pt x="2595880" y="2135886"/>
                    <a:pt x="3163316" y="2135886"/>
                  </a:cubicBezTo>
                  <a:cubicBezTo>
                    <a:pt x="3730752" y="2135886"/>
                    <a:pt x="4190746" y="2595880"/>
                    <a:pt x="4190746" y="3163316"/>
                  </a:cubicBezTo>
                  <a:cubicBezTo>
                    <a:pt x="4190746" y="3730752"/>
                    <a:pt x="3730752" y="4190746"/>
                    <a:pt x="3163316" y="4190746"/>
                  </a:cubicBezTo>
                  <a:close/>
                </a:path>
              </a:pathLst>
            </a:custGeom>
            <a:grpFill/>
            <a:ln w="200025" cap="sq">
              <a:solidFill>
                <a:srgbClr val="38B6FF">
                  <a:alpha val="65882"/>
                </a:srgbClr>
              </a:solidFill>
              <a:prstDash val="solid"/>
              <a:miter/>
            </a:ln>
          </p:spPr>
        </p:sp>
      </p:grpSp>
      <p:sp>
        <p:nvSpPr>
          <p:cNvPr id="22" name="Freeform 22"/>
          <p:cNvSpPr/>
          <p:nvPr/>
        </p:nvSpPr>
        <p:spPr>
          <a:xfrm>
            <a:off x="15836958" y="7270110"/>
            <a:ext cx="2821284" cy="3319654"/>
          </a:xfrm>
          <a:custGeom>
            <a:avLst/>
            <a:gdLst/>
            <a:ahLst/>
            <a:cxnLst/>
            <a:rect l="l" t="t" r="r" b="b"/>
            <a:pathLst>
              <a:path w="2821284" h="3319654">
                <a:moveTo>
                  <a:pt x="0" y="0"/>
                </a:moveTo>
                <a:lnTo>
                  <a:pt x="2821284" y="0"/>
                </a:lnTo>
                <a:lnTo>
                  <a:pt x="2821284" y="3319654"/>
                </a:lnTo>
                <a:lnTo>
                  <a:pt x="0" y="3319654"/>
                </a:lnTo>
                <a:lnTo>
                  <a:pt x="0" y="0"/>
                </a:lnTo>
                <a:close/>
              </a:path>
            </a:pathLst>
          </a:custGeom>
          <a:blipFill>
            <a:blip r:embed="rId3"/>
            <a:stretch>
              <a:fillRect/>
            </a:stretch>
          </a:blipFill>
        </p:spPr>
      </p:sp>
      <p:sp>
        <p:nvSpPr>
          <p:cNvPr id="23" name="Freeform 23"/>
          <p:cNvSpPr/>
          <p:nvPr/>
        </p:nvSpPr>
        <p:spPr>
          <a:xfrm rot="5400000">
            <a:off x="0" y="57570"/>
            <a:ext cx="2619583" cy="2619583"/>
          </a:xfrm>
          <a:custGeom>
            <a:avLst/>
            <a:gdLst/>
            <a:ahLst/>
            <a:cxnLst/>
            <a:rect l="l" t="t" r="r" b="b"/>
            <a:pathLst>
              <a:path w="2619583" h="2619583">
                <a:moveTo>
                  <a:pt x="0" y="0"/>
                </a:moveTo>
                <a:lnTo>
                  <a:pt x="2619583" y="0"/>
                </a:lnTo>
                <a:lnTo>
                  <a:pt x="2619583" y="2619582"/>
                </a:lnTo>
                <a:lnTo>
                  <a:pt x="0" y="26195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4" name="Freeform 24"/>
          <p:cNvSpPr/>
          <p:nvPr/>
        </p:nvSpPr>
        <p:spPr>
          <a:xfrm>
            <a:off x="15836958" y="0"/>
            <a:ext cx="3657600" cy="532015"/>
          </a:xfrm>
          <a:custGeom>
            <a:avLst/>
            <a:gdLst/>
            <a:ahLst/>
            <a:cxnLst/>
            <a:rect l="l" t="t" r="r" b="b"/>
            <a:pathLst>
              <a:path w="3657600" h="532015">
                <a:moveTo>
                  <a:pt x="0" y="0"/>
                </a:moveTo>
                <a:lnTo>
                  <a:pt x="3657600" y="0"/>
                </a:lnTo>
                <a:lnTo>
                  <a:pt x="3657600" y="532015"/>
                </a:lnTo>
                <a:lnTo>
                  <a:pt x="0" y="5320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5" name="Freeform 25"/>
          <p:cNvSpPr/>
          <p:nvPr/>
        </p:nvSpPr>
        <p:spPr>
          <a:xfrm>
            <a:off x="-2628900" y="9714099"/>
            <a:ext cx="3938691" cy="572901"/>
          </a:xfrm>
          <a:custGeom>
            <a:avLst/>
            <a:gdLst/>
            <a:ahLst/>
            <a:cxnLst/>
            <a:rect l="l" t="t" r="r" b="b"/>
            <a:pathLst>
              <a:path w="3938691" h="572901">
                <a:moveTo>
                  <a:pt x="0" y="0"/>
                </a:moveTo>
                <a:lnTo>
                  <a:pt x="3938691" y="0"/>
                </a:lnTo>
                <a:lnTo>
                  <a:pt x="3938691" y="572901"/>
                </a:lnTo>
                <a:lnTo>
                  <a:pt x="0" y="57290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26" name="TextBox 26"/>
          <p:cNvSpPr txBox="1"/>
          <p:nvPr/>
        </p:nvSpPr>
        <p:spPr>
          <a:xfrm>
            <a:off x="4844059" y="6292936"/>
            <a:ext cx="8220335" cy="1641475"/>
          </a:xfrm>
          <a:prstGeom prst="rect">
            <a:avLst/>
          </a:prstGeom>
        </p:spPr>
        <p:txBody>
          <a:bodyPr wrap="square" lIns="0" tIns="0" rIns="0" bIns="0" rtlCol="0" anchor="t">
            <a:spAutoFit/>
          </a:bodyPr>
          <a:lstStyle/>
          <a:p>
            <a:pPr algn="ctr">
              <a:lnSpc>
                <a:spcPts val="6363"/>
              </a:lnSpc>
            </a:pPr>
            <a:r>
              <a:rPr lang="en-US" sz="5785" dirty="0">
                <a:solidFill>
                  <a:srgbClr val="FFFFFF"/>
                </a:solidFill>
                <a:latin typeface="TT Supermolot Neue Expanded"/>
                <a:ea typeface="TT Supermolot Neue Expanded"/>
                <a:cs typeface="TT Supermolot Neue Expanded"/>
                <a:sym typeface="TT Supermolot Neue Expanded"/>
              </a:rPr>
              <a:t>OBJETS CONNECTÉS &amp; CAPTEURS</a:t>
            </a:r>
          </a:p>
        </p:txBody>
      </p:sp>
      <p:sp>
        <p:nvSpPr>
          <p:cNvPr id="29" name="TextBox 29"/>
          <p:cNvSpPr txBox="1"/>
          <p:nvPr/>
        </p:nvSpPr>
        <p:spPr>
          <a:xfrm>
            <a:off x="-252480" y="4972832"/>
            <a:ext cx="18625852" cy="8434224"/>
          </a:xfrm>
          <a:prstGeom prst="rect">
            <a:avLst/>
          </a:prstGeom>
        </p:spPr>
        <p:txBody>
          <a:bodyPr lIns="50800" tIns="50800" rIns="50800" bIns="50800" rtlCol="0" anchor="ctr"/>
          <a:lstStyle/>
          <a:p>
            <a:pPr algn="ctr">
              <a:lnSpc>
                <a:spcPts val="2750"/>
              </a:lnSpc>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tx2">
                <a:lumMod val="20000"/>
                <a:lumOff val="80000"/>
              </a:schemeClr>
            </a:gs>
            <a:gs pos="31000">
              <a:schemeClr val="tx2">
                <a:lumMod val="50000"/>
              </a:schemeClr>
            </a:gs>
            <a:gs pos="95000">
              <a:schemeClr val="tx2">
                <a:lumMod val="50000"/>
              </a:schemeClr>
            </a:gs>
            <a:gs pos="100000">
              <a:schemeClr val="accent1">
                <a:lumMod val="60000"/>
                <a:lumOff val="40000"/>
              </a:schemeClr>
            </a:gs>
          </a:gsLst>
          <a:path path="circle">
            <a:fillToRect l="100000" t="100000"/>
          </a:path>
        </a:gradFill>
        <a:effectLst/>
      </p:bgPr>
    </p:bg>
    <p:spTree>
      <p:nvGrpSpPr>
        <p:cNvPr id="1" name=""/>
        <p:cNvGrpSpPr/>
        <p:nvPr/>
      </p:nvGrpSpPr>
      <p:grpSpPr>
        <a:xfrm>
          <a:off x="0" y="0"/>
          <a:ext cx="0" cy="0"/>
          <a:chOff x="0" y="0"/>
          <a:chExt cx="0" cy="0"/>
        </a:xfrm>
      </p:grpSpPr>
      <p:sp>
        <p:nvSpPr>
          <p:cNvPr id="27" name="Shape 0">
            <a:extLst>
              <a:ext uri="{FF2B5EF4-FFF2-40B4-BE49-F238E27FC236}">
                <a16:creationId xmlns:a16="http://schemas.microsoft.com/office/drawing/2014/main" id="{F012C51A-9BE2-AC71-7B8C-19EC8C8F0017}"/>
              </a:ext>
            </a:extLst>
          </p:cNvPr>
          <p:cNvSpPr/>
          <p:nvPr/>
        </p:nvSpPr>
        <p:spPr>
          <a:xfrm>
            <a:off x="13865656" y="2138198"/>
            <a:ext cx="8752592" cy="8907994"/>
          </a:xfrm>
          <a:prstGeom prst="ellipse">
            <a:avLst/>
          </a:prstGeom>
          <a:blipFill dpi="0" rotWithShape="1">
            <a:blip r:embed="rId2">
              <a:alphaModFix amt="50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a:fillRect/>
            </a:stretch>
          </a:blipFill>
          <a:ln w="12700">
            <a:noFill/>
          </a:ln>
          <a:effectLst>
            <a:outerShdw blurRad="50800" dist="38100" dir="8100000" algn="tr" rotWithShape="0">
              <a:prstClr val="black">
                <a:alpha val="40000"/>
              </a:prstClr>
            </a:outerShdw>
          </a:effectLst>
        </p:spPr>
      </p:sp>
      <p:sp>
        <p:nvSpPr>
          <p:cNvPr id="6" name="Freeform 6"/>
          <p:cNvSpPr/>
          <p:nvPr/>
        </p:nvSpPr>
        <p:spPr>
          <a:xfrm>
            <a:off x="484114" y="670465"/>
            <a:ext cx="1089173" cy="713408"/>
          </a:xfrm>
          <a:custGeom>
            <a:avLst/>
            <a:gdLst/>
            <a:ahLst/>
            <a:cxnLst/>
            <a:rect l="l" t="t" r="r" b="b"/>
            <a:pathLst>
              <a:path w="1089173" h="713408">
                <a:moveTo>
                  <a:pt x="0" y="0"/>
                </a:moveTo>
                <a:lnTo>
                  <a:pt x="1089172" y="0"/>
                </a:lnTo>
                <a:lnTo>
                  <a:pt x="1089172" y="713408"/>
                </a:lnTo>
                <a:lnTo>
                  <a:pt x="0" y="7134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7" name="Group 7"/>
          <p:cNvGrpSpPr/>
          <p:nvPr/>
        </p:nvGrpSpPr>
        <p:grpSpPr>
          <a:xfrm>
            <a:off x="16057871" y="432765"/>
            <a:ext cx="1481875" cy="148187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1583" r="-1583"/>
              </a:stretch>
            </a:blipFill>
          </p:spPr>
        </p:sp>
      </p:grpSp>
      <p:sp>
        <p:nvSpPr>
          <p:cNvPr id="9" name="TextBox 9"/>
          <p:cNvSpPr txBox="1"/>
          <p:nvPr/>
        </p:nvSpPr>
        <p:spPr>
          <a:xfrm>
            <a:off x="876300" y="2476500"/>
            <a:ext cx="16535399" cy="1265411"/>
          </a:xfrm>
          <a:prstGeom prst="rect">
            <a:avLst/>
          </a:prstGeom>
        </p:spPr>
        <p:txBody>
          <a:bodyPr wrap="square" lIns="0" tIns="0" rIns="0" bIns="0" rtlCol="0" anchor="t">
            <a:spAutoFit/>
          </a:bodyPr>
          <a:lstStyle/>
          <a:p>
            <a:pPr algn="ctr">
              <a:lnSpc>
                <a:spcPts val="10986"/>
              </a:lnSpc>
            </a:pPr>
            <a:r>
              <a:rPr lang="en-US" sz="6000" dirty="0">
                <a:solidFill>
                  <a:srgbClr val="FFFFFF"/>
                </a:solidFill>
                <a:latin typeface="TT Supermolot Neue Expanded"/>
                <a:ea typeface="TT Supermolot Neue Expanded"/>
                <a:cs typeface="TT Supermolot Neue Expanded"/>
                <a:sym typeface="TT Supermolot Neue Expanded"/>
              </a:rPr>
              <a:t>GUIRLANDE LED CONNECTE</a:t>
            </a:r>
          </a:p>
        </p:txBody>
      </p:sp>
      <p:sp>
        <p:nvSpPr>
          <p:cNvPr id="10" name="TextBox 10"/>
          <p:cNvSpPr txBox="1"/>
          <p:nvPr/>
        </p:nvSpPr>
        <p:spPr>
          <a:xfrm>
            <a:off x="1018809" y="3779432"/>
            <a:ext cx="16520937" cy="845552"/>
          </a:xfrm>
          <a:prstGeom prst="rect">
            <a:avLst/>
          </a:prstGeom>
        </p:spPr>
        <p:txBody>
          <a:bodyPr wrap="square" lIns="0" tIns="0" rIns="0" bIns="0" rtlCol="0" anchor="t">
            <a:spAutoFit/>
          </a:bodyPr>
          <a:lstStyle/>
          <a:p>
            <a:pPr algn="ctr">
              <a:lnSpc>
                <a:spcPts val="7357"/>
              </a:lnSpc>
            </a:pPr>
            <a:r>
              <a:rPr lang="fr-FR" sz="3600" dirty="0">
                <a:solidFill>
                  <a:schemeClr val="bg1"/>
                </a:solidFill>
                <a:latin typeface="TT Supermolot Neue Expanded"/>
                <a:ea typeface="TT Supermolot Neue Expanded"/>
                <a:cs typeface="TT Supermolot Neue Expanded"/>
                <a:sym typeface="TT Supermolot Neue Expanded"/>
              </a:rPr>
              <a:t>Piste Intelligente pour la détection d'avions à l’atterrissage</a:t>
            </a:r>
          </a:p>
        </p:txBody>
      </p:sp>
      <p:sp>
        <p:nvSpPr>
          <p:cNvPr id="11" name="TextBox 11"/>
          <p:cNvSpPr txBox="1"/>
          <p:nvPr/>
        </p:nvSpPr>
        <p:spPr>
          <a:xfrm>
            <a:off x="5453661" y="9510251"/>
            <a:ext cx="7718530" cy="339668"/>
          </a:xfrm>
          <a:prstGeom prst="rect">
            <a:avLst/>
          </a:prstGeom>
        </p:spPr>
        <p:txBody>
          <a:bodyPr lIns="0" tIns="0" rIns="0" bIns="0" rtlCol="0" anchor="t">
            <a:spAutoFit/>
          </a:bodyPr>
          <a:lstStyle/>
          <a:p>
            <a:pPr algn="ctr">
              <a:lnSpc>
                <a:spcPts val="2803"/>
              </a:lnSpc>
            </a:pPr>
            <a:r>
              <a:rPr lang="en-US" sz="2002" dirty="0">
                <a:solidFill>
                  <a:srgbClr val="FFFFFF"/>
                </a:solidFill>
                <a:latin typeface="TT Supermolot Neue Expanded"/>
                <a:ea typeface="TT Supermolot Neue Expanded"/>
                <a:cs typeface="TT Supermolot Neue Expanded"/>
                <a:sym typeface="TT Supermolot Neue Expanded"/>
              </a:rPr>
              <a:t>Année Académique 2025 - 2026</a:t>
            </a:r>
          </a:p>
        </p:txBody>
      </p:sp>
      <p:sp>
        <p:nvSpPr>
          <p:cNvPr id="13" name="TextBox 13"/>
          <p:cNvSpPr txBox="1"/>
          <p:nvPr/>
        </p:nvSpPr>
        <p:spPr>
          <a:xfrm>
            <a:off x="8625232" y="7819862"/>
            <a:ext cx="2042768" cy="336182"/>
          </a:xfrm>
          <a:prstGeom prst="rect">
            <a:avLst/>
          </a:prstGeom>
        </p:spPr>
        <p:txBody>
          <a:bodyPr lIns="0" tIns="0" rIns="0" bIns="0" rtlCol="0" anchor="t">
            <a:spAutoFit/>
          </a:bodyPr>
          <a:lstStyle/>
          <a:p>
            <a:pPr algn="l">
              <a:lnSpc>
                <a:spcPts val="2800"/>
              </a:lnSpc>
            </a:pPr>
            <a:r>
              <a:rPr lang="en-US" sz="2000" b="1" dirty="0">
                <a:solidFill>
                  <a:schemeClr val="bg1"/>
                </a:solidFill>
                <a:latin typeface="TT Supermolot Neue Expanded"/>
                <a:ea typeface="TT Supermolot Neue Expanded"/>
                <a:cs typeface="TT Supermolot Neue Expanded"/>
                <a:sym typeface="TT Supermolot Neue Expanded"/>
              </a:rPr>
              <a:t>Correcteur :</a:t>
            </a:r>
          </a:p>
        </p:txBody>
      </p:sp>
      <p:sp>
        <p:nvSpPr>
          <p:cNvPr id="15" name="TextBox 15"/>
          <p:cNvSpPr txBox="1"/>
          <p:nvPr/>
        </p:nvSpPr>
        <p:spPr>
          <a:xfrm>
            <a:off x="7010400" y="8666716"/>
            <a:ext cx="5105400" cy="362984"/>
          </a:xfrm>
          <a:prstGeom prst="rect">
            <a:avLst/>
          </a:prstGeom>
        </p:spPr>
        <p:txBody>
          <a:bodyPr wrap="square" lIns="0" tIns="0" rIns="0" bIns="0" rtlCol="0" anchor="t">
            <a:spAutoFit/>
          </a:bodyPr>
          <a:lstStyle/>
          <a:p>
            <a:pPr algn="l">
              <a:lnSpc>
                <a:spcPts val="2800"/>
              </a:lnSpc>
            </a:pPr>
            <a:r>
              <a:rPr lang="en-US" sz="2800" b="1" dirty="0">
                <a:solidFill>
                  <a:schemeClr val="bg1"/>
                </a:solidFill>
                <a:latin typeface="TT Supermolot Neue Expanded Bold"/>
                <a:ea typeface="TT Supermolot Neue Expanded Bold"/>
                <a:cs typeface="TT Supermolot Neue Expanded Bold"/>
                <a:sym typeface="TT Supermolot Neue Expanded Bold"/>
              </a:rPr>
              <a:t>Mr. TAKOUMBO MBE Yvan</a:t>
            </a:r>
          </a:p>
        </p:txBody>
      </p:sp>
      <p:sp>
        <p:nvSpPr>
          <p:cNvPr id="16" name="TextBox 16"/>
          <p:cNvSpPr txBox="1"/>
          <p:nvPr/>
        </p:nvSpPr>
        <p:spPr>
          <a:xfrm>
            <a:off x="1752600" y="723900"/>
            <a:ext cx="2335763" cy="695255"/>
          </a:xfrm>
          <a:prstGeom prst="rect">
            <a:avLst/>
          </a:prstGeom>
        </p:spPr>
        <p:txBody>
          <a:bodyPr wrap="square" lIns="0" tIns="0" rIns="0" bIns="0" rtlCol="0" anchor="t">
            <a:spAutoFit/>
          </a:bodyPr>
          <a:lstStyle/>
          <a:p>
            <a:pPr algn="ctr">
              <a:lnSpc>
                <a:spcPts val="2800"/>
              </a:lnSpc>
            </a:pPr>
            <a:r>
              <a:rPr lang="en-US" sz="2000" dirty="0">
                <a:solidFill>
                  <a:srgbClr val="FFFFFF"/>
                </a:solidFill>
                <a:latin typeface="TT Supermolot Neue Expanded"/>
                <a:ea typeface="TT Supermolot Neue Expanded"/>
                <a:cs typeface="TT Supermolot Neue Expanded"/>
                <a:sym typeface="TT Supermolot Neue Expanded"/>
              </a:rPr>
              <a:t>Objets Connectés &amp; Capteurs</a:t>
            </a:r>
          </a:p>
        </p:txBody>
      </p:sp>
      <p:sp>
        <p:nvSpPr>
          <p:cNvPr id="17" name="TextBox 17"/>
          <p:cNvSpPr txBox="1"/>
          <p:nvPr/>
        </p:nvSpPr>
        <p:spPr>
          <a:xfrm>
            <a:off x="13929157" y="613315"/>
            <a:ext cx="2009817" cy="1063625"/>
          </a:xfrm>
          <a:prstGeom prst="rect">
            <a:avLst/>
          </a:prstGeom>
        </p:spPr>
        <p:txBody>
          <a:bodyPr lIns="0" tIns="0" rIns="0" bIns="0" rtlCol="0" anchor="t">
            <a:spAutoFit/>
          </a:bodyPr>
          <a:lstStyle/>
          <a:p>
            <a:pPr algn="r">
              <a:lnSpc>
                <a:spcPts val="2800"/>
              </a:lnSpc>
            </a:pPr>
            <a:r>
              <a:rPr lang="en-US" sz="2000" dirty="0">
                <a:solidFill>
                  <a:srgbClr val="FFFFFF"/>
                </a:solidFill>
                <a:latin typeface="TT Supermolot Neue Expanded"/>
                <a:ea typeface="TT Supermolot Neue Expanded"/>
                <a:cs typeface="TT Supermolot Neue Expanded"/>
                <a:sym typeface="TT Supermolot Neue Expanded"/>
              </a:rPr>
              <a:t>Institut Africaine d’Informatique</a:t>
            </a:r>
          </a:p>
        </p:txBody>
      </p:sp>
      <p:grpSp>
        <p:nvGrpSpPr>
          <p:cNvPr id="18" name="Groupe 17">
            <a:extLst>
              <a:ext uri="{FF2B5EF4-FFF2-40B4-BE49-F238E27FC236}">
                <a16:creationId xmlns:a16="http://schemas.microsoft.com/office/drawing/2014/main" id="{6D6D8863-7BEC-AD57-78A9-8FB800932BB8}"/>
              </a:ext>
            </a:extLst>
          </p:cNvPr>
          <p:cNvGrpSpPr/>
          <p:nvPr/>
        </p:nvGrpSpPr>
        <p:grpSpPr>
          <a:xfrm>
            <a:off x="14091886" y="1900498"/>
            <a:ext cx="1847088" cy="41148"/>
            <a:chOff x="822960" y="914400"/>
            <a:chExt cx="1847088" cy="41148"/>
          </a:xfrm>
        </p:grpSpPr>
        <p:sp>
          <p:nvSpPr>
            <p:cNvPr id="19" name="Shape 1">
              <a:extLst>
                <a:ext uri="{FF2B5EF4-FFF2-40B4-BE49-F238E27FC236}">
                  <a16:creationId xmlns:a16="http://schemas.microsoft.com/office/drawing/2014/main" id="{A7C68869-4B82-7A96-4A5F-A56F329532F1}"/>
                </a:ext>
              </a:extLst>
            </p:cNvPr>
            <p:cNvSpPr/>
            <p:nvPr/>
          </p:nvSpPr>
          <p:spPr>
            <a:xfrm>
              <a:off x="822960" y="914400"/>
              <a:ext cx="201168" cy="41148"/>
            </a:xfrm>
            <a:prstGeom prst="rect">
              <a:avLst/>
            </a:prstGeom>
            <a:solidFill>
              <a:srgbClr val="FFC857"/>
            </a:solidFill>
            <a:ln/>
          </p:spPr>
        </p:sp>
        <p:sp>
          <p:nvSpPr>
            <p:cNvPr id="20" name="Shape 2">
              <a:extLst>
                <a:ext uri="{FF2B5EF4-FFF2-40B4-BE49-F238E27FC236}">
                  <a16:creationId xmlns:a16="http://schemas.microsoft.com/office/drawing/2014/main" id="{A2B89AA1-300E-C077-8A02-C73E896F2FCB}"/>
                </a:ext>
              </a:extLst>
            </p:cNvPr>
            <p:cNvSpPr/>
            <p:nvPr/>
          </p:nvSpPr>
          <p:spPr>
            <a:xfrm>
              <a:off x="1152144" y="914400"/>
              <a:ext cx="201168" cy="41148"/>
            </a:xfrm>
            <a:prstGeom prst="rect">
              <a:avLst/>
            </a:prstGeom>
            <a:solidFill>
              <a:srgbClr val="FFC857"/>
            </a:solidFill>
            <a:ln/>
          </p:spPr>
        </p:sp>
        <p:sp>
          <p:nvSpPr>
            <p:cNvPr id="21" name="Shape 3">
              <a:extLst>
                <a:ext uri="{FF2B5EF4-FFF2-40B4-BE49-F238E27FC236}">
                  <a16:creationId xmlns:a16="http://schemas.microsoft.com/office/drawing/2014/main" id="{18E8DB8C-A7BC-A058-7B62-3FADFA2BA6C2}"/>
                </a:ext>
              </a:extLst>
            </p:cNvPr>
            <p:cNvSpPr/>
            <p:nvPr/>
          </p:nvSpPr>
          <p:spPr>
            <a:xfrm>
              <a:off x="1481328" y="914400"/>
              <a:ext cx="201168" cy="41148"/>
            </a:xfrm>
            <a:prstGeom prst="rect">
              <a:avLst/>
            </a:prstGeom>
            <a:solidFill>
              <a:srgbClr val="FFC857"/>
            </a:solidFill>
            <a:ln/>
          </p:spPr>
        </p:sp>
        <p:sp>
          <p:nvSpPr>
            <p:cNvPr id="22" name="Shape 4">
              <a:extLst>
                <a:ext uri="{FF2B5EF4-FFF2-40B4-BE49-F238E27FC236}">
                  <a16:creationId xmlns:a16="http://schemas.microsoft.com/office/drawing/2014/main" id="{ADE90150-5476-89FF-D0E9-B69D3C2779B5}"/>
                </a:ext>
              </a:extLst>
            </p:cNvPr>
            <p:cNvSpPr/>
            <p:nvPr/>
          </p:nvSpPr>
          <p:spPr>
            <a:xfrm>
              <a:off x="1810512" y="914400"/>
              <a:ext cx="201168" cy="41148"/>
            </a:xfrm>
            <a:prstGeom prst="rect">
              <a:avLst/>
            </a:prstGeom>
            <a:solidFill>
              <a:srgbClr val="FFC857"/>
            </a:solidFill>
            <a:ln/>
          </p:spPr>
        </p:sp>
        <p:sp>
          <p:nvSpPr>
            <p:cNvPr id="23" name="Shape 5">
              <a:extLst>
                <a:ext uri="{FF2B5EF4-FFF2-40B4-BE49-F238E27FC236}">
                  <a16:creationId xmlns:a16="http://schemas.microsoft.com/office/drawing/2014/main" id="{A83D31B0-1CD1-080C-7B24-A204016D1050}"/>
                </a:ext>
              </a:extLst>
            </p:cNvPr>
            <p:cNvSpPr/>
            <p:nvPr/>
          </p:nvSpPr>
          <p:spPr>
            <a:xfrm>
              <a:off x="2139696" y="914400"/>
              <a:ext cx="201168" cy="41148"/>
            </a:xfrm>
            <a:prstGeom prst="rect">
              <a:avLst/>
            </a:prstGeom>
            <a:solidFill>
              <a:srgbClr val="FFC857"/>
            </a:solidFill>
            <a:ln/>
          </p:spPr>
        </p:sp>
        <p:sp>
          <p:nvSpPr>
            <p:cNvPr id="24" name="Shape 6">
              <a:extLst>
                <a:ext uri="{FF2B5EF4-FFF2-40B4-BE49-F238E27FC236}">
                  <a16:creationId xmlns:a16="http://schemas.microsoft.com/office/drawing/2014/main" id="{3832B629-71CE-5021-326D-1B910B143770}"/>
                </a:ext>
              </a:extLst>
            </p:cNvPr>
            <p:cNvSpPr/>
            <p:nvPr/>
          </p:nvSpPr>
          <p:spPr>
            <a:xfrm>
              <a:off x="2468880" y="914400"/>
              <a:ext cx="201168" cy="41148"/>
            </a:xfrm>
            <a:prstGeom prst="rect">
              <a:avLst/>
            </a:prstGeom>
            <a:solidFill>
              <a:srgbClr val="FFC857"/>
            </a:solidFill>
            <a:ln/>
          </p:spPr>
        </p:sp>
      </p:grpSp>
      <p:sp>
        <p:nvSpPr>
          <p:cNvPr id="26" name="Text 9">
            <a:extLst>
              <a:ext uri="{FF2B5EF4-FFF2-40B4-BE49-F238E27FC236}">
                <a16:creationId xmlns:a16="http://schemas.microsoft.com/office/drawing/2014/main" id="{F7FDC673-929F-4D48-CD6D-BFC2366F5C38}"/>
              </a:ext>
            </a:extLst>
          </p:cNvPr>
          <p:cNvSpPr/>
          <p:nvPr/>
        </p:nvSpPr>
        <p:spPr>
          <a:xfrm>
            <a:off x="876300" y="5885810"/>
            <a:ext cx="2743200" cy="2634872"/>
          </a:xfrm>
          <a:prstGeom prst="rect">
            <a:avLst/>
          </a:prstGeom>
          <a:noFill/>
          <a:ln/>
        </p:spPr>
        <p:txBody>
          <a:bodyPr wrap="square" lIns="0" tIns="0" rIns="0" bIns="0" rtlCol="0" anchor="ctr"/>
          <a:lstStyle/>
          <a:p>
            <a:pPr marL="0" indent="0">
              <a:lnSpc>
                <a:spcPct val="150000"/>
              </a:lnSpc>
              <a:buNone/>
            </a:pPr>
            <a:r>
              <a:rPr lang="en-US" sz="2800" dirty="0">
                <a:solidFill>
                  <a:schemeClr val="bg1"/>
                </a:solidFill>
                <a:latin typeface="TT Supermolot Neue Expanded" panose="020B0604020202020204" charset="0"/>
                <a:ea typeface="Calibri" pitchFamily="34" charset="-122"/>
                <a:cs typeface="Calibri" pitchFamily="34" charset="-120"/>
              </a:rPr>
              <a:t>Groupe 1:</a:t>
            </a:r>
          </a:p>
          <a:p>
            <a:pPr marL="285750" indent="-285750">
              <a:lnSpc>
                <a:spcPct val="150000"/>
              </a:lnSpc>
              <a:buFont typeface="Wingdings" panose="05000000000000000000" pitchFamily="2" charset="2"/>
              <a:buChar char="Ø"/>
            </a:pPr>
            <a:r>
              <a:rPr lang="en-US" sz="2800" dirty="0">
                <a:solidFill>
                  <a:schemeClr val="bg1"/>
                </a:solidFill>
                <a:latin typeface="TT Supermolot Neue Expanded" panose="020B0604020202020204" charset="0"/>
                <a:ea typeface="Calibri" pitchFamily="34" charset="-122"/>
                <a:cs typeface="Calibri" pitchFamily="34" charset="-120"/>
              </a:rPr>
              <a:t>BARESSY</a:t>
            </a:r>
          </a:p>
          <a:p>
            <a:pPr marL="285750" indent="-285750">
              <a:lnSpc>
                <a:spcPct val="150000"/>
              </a:lnSpc>
              <a:buFont typeface="Wingdings" panose="05000000000000000000" pitchFamily="2" charset="2"/>
              <a:buChar char="Ø"/>
            </a:pPr>
            <a:r>
              <a:rPr lang="en-US" sz="2800" dirty="0">
                <a:solidFill>
                  <a:schemeClr val="bg1"/>
                </a:solidFill>
                <a:latin typeface="TT Supermolot Neue Expanded" panose="020B0604020202020204" charset="0"/>
                <a:ea typeface="Calibri" pitchFamily="34" charset="-122"/>
                <a:cs typeface="Calibri" pitchFamily="34" charset="-120"/>
              </a:rPr>
              <a:t>DOUTHE</a:t>
            </a:r>
          </a:p>
          <a:p>
            <a:pPr marL="285750" indent="-285750">
              <a:lnSpc>
                <a:spcPct val="150000"/>
              </a:lnSpc>
              <a:buFont typeface="Wingdings" panose="05000000000000000000" pitchFamily="2" charset="2"/>
              <a:buChar char="Ø"/>
            </a:pPr>
            <a:r>
              <a:rPr lang="en-US" sz="2800" dirty="0">
                <a:solidFill>
                  <a:schemeClr val="bg1"/>
                </a:solidFill>
                <a:latin typeface="TT Supermolot Neue Expanded" panose="020B0604020202020204" charset="0"/>
                <a:ea typeface="Calibri" pitchFamily="34" charset="-122"/>
                <a:cs typeface="Calibri" pitchFamily="34" charset="-120"/>
              </a:rPr>
              <a:t>EKOME</a:t>
            </a:r>
          </a:p>
          <a:p>
            <a:pPr marL="285750" indent="-285750">
              <a:lnSpc>
                <a:spcPct val="150000"/>
              </a:lnSpc>
              <a:buFont typeface="Wingdings" panose="05000000000000000000" pitchFamily="2" charset="2"/>
              <a:buChar char="Ø"/>
            </a:pPr>
            <a:r>
              <a:rPr lang="en-US" sz="2800" dirty="0">
                <a:solidFill>
                  <a:schemeClr val="bg1"/>
                </a:solidFill>
                <a:latin typeface="TT Supermolot Neue Expanded" panose="020B0604020202020204" charset="0"/>
                <a:ea typeface="Calibri" pitchFamily="34" charset="-122"/>
                <a:cs typeface="Calibri" pitchFamily="34" charset="-120"/>
              </a:rPr>
              <a:t>ISSAMBOU</a:t>
            </a:r>
          </a:p>
        </p:txBody>
      </p:sp>
      <p:sp>
        <p:nvSpPr>
          <p:cNvPr id="28" name="Text 7">
            <a:extLst>
              <a:ext uri="{FF2B5EF4-FFF2-40B4-BE49-F238E27FC236}">
                <a16:creationId xmlns:a16="http://schemas.microsoft.com/office/drawing/2014/main" id="{8A436578-ED08-74C8-A66B-1AED3F1712C2}"/>
              </a:ext>
            </a:extLst>
          </p:cNvPr>
          <p:cNvSpPr/>
          <p:nvPr/>
        </p:nvSpPr>
        <p:spPr>
          <a:xfrm>
            <a:off x="7085964" y="1879337"/>
            <a:ext cx="4116071" cy="517721"/>
          </a:xfrm>
          <a:prstGeom prst="rect">
            <a:avLst/>
          </a:prstGeom>
          <a:noFill/>
          <a:ln/>
        </p:spPr>
        <p:txBody>
          <a:bodyPr wrap="square" lIns="0" tIns="0" rIns="0" bIns="0" rtlCol="0" anchor="ctr"/>
          <a:lstStyle/>
          <a:p>
            <a:pPr marL="0" indent="0">
              <a:buNone/>
            </a:pPr>
            <a:r>
              <a:rPr lang="en-US" sz="2000" b="1" kern="0" spc="300" dirty="0">
                <a:solidFill>
                  <a:srgbClr val="FFC857"/>
                </a:solidFill>
                <a:latin typeface="Calibri" pitchFamily="34" charset="0"/>
                <a:ea typeface="Calibri" pitchFamily="34" charset="-122"/>
                <a:cs typeface="Calibri" pitchFamily="34" charset="-120"/>
              </a:rPr>
              <a:t>PROJET OBJETS CONNECTÉS</a:t>
            </a:r>
            <a:endParaRPr lang="en-US" sz="2000" dirty="0"/>
          </a:p>
        </p:txBody>
      </p:sp>
      <p:sp>
        <p:nvSpPr>
          <p:cNvPr id="30" name="ZoneTexte 29">
            <a:extLst>
              <a:ext uri="{FF2B5EF4-FFF2-40B4-BE49-F238E27FC236}">
                <a16:creationId xmlns:a16="http://schemas.microsoft.com/office/drawing/2014/main" id="{38D97EF0-2550-9ED9-123F-AD7E32A86A07}"/>
              </a:ext>
            </a:extLst>
          </p:cNvPr>
          <p:cNvSpPr txBox="1"/>
          <p:nvPr/>
        </p:nvSpPr>
        <p:spPr>
          <a:xfrm>
            <a:off x="3452180" y="6191347"/>
            <a:ext cx="2967262" cy="260975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sz="2800" dirty="0">
                <a:solidFill>
                  <a:schemeClr val="bg1"/>
                </a:solidFill>
                <a:latin typeface="TT Supermolot Neue Expanded" panose="020B0604020202020204" charset="0"/>
                <a:ea typeface="Calibri" pitchFamily="34" charset="-122"/>
                <a:cs typeface="Calibri" pitchFamily="34" charset="-120"/>
              </a:rPr>
              <a:t>ILOUMBOU</a:t>
            </a:r>
          </a:p>
          <a:p>
            <a:pPr marL="285750" indent="-285750">
              <a:lnSpc>
                <a:spcPct val="150000"/>
              </a:lnSpc>
              <a:buFont typeface="Wingdings" panose="05000000000000000000" pitchFamily="2" charset="2"/>
              <a:buChar char="Ø"/>
            </a:pPr>
            <a:r>
              <a:rPr lang="en-US" sz="2800" dirty="0">
                <a:solidFill>
                  <a:schemeClr val="bg1"/>
                </a:solidFill>
                <a:latin typeface="TT Supermolot Neue Expanded" panose="020B0604020202020204" charset="0"/>
                <a:ea typeface="Calibri" pitchFamily="34" charset="-122"/>
                <a:cs typeface="Calibri" pitchFamily="34" charset="-120"/>
              </a:rPr>
              <a:t>EYA’A</a:t>
            </a:r>
          </a:p>
          <a:p>
            <a:pPr marL="285750" indent="-285750">
              <a:lnSpc>
                <a:spcPct val="150000"/>
              </a:lnSpc>
              <a:buFont typeface="Wingdings" panose="05000000000000000000" pitchFamily="2" charset="2"/>
              <a:buChar char="Ø"/>
            </a:pPr>
            <a:r>
              <a:rPr lang="en-US" sz="2800" dirty="0">
                <a:solidFill>
                  <a:schemeClr val="bg1"/>
                </a:solidFill>
                <a:latin typeface="TT Supermolot Neue Expanded" panose="020B0604020202020204" charset="0"/>
                <a:ea typeface="Calibri" pitchFamily="34" charset="-122"/>
                <a:cs typeface="Calibri" pitchFamily="34" charset="-120"/>
              </a:rPr>
              <a:t>BAMBO</a:t>
            </a:r>
          </a:p>
          <a:p>
            <a:pPr marL="285750" indent="-285750">
              <a:lnSpc>
                <a:spcPct val="150000"/>
              </a:lnSpc>
              <a:buFont typeface="Wingdings" panose="05000000000000000000" pitchFamily="2" charset="2"/>
              <a:buChar char="Ø"/>
            </a:pPr>
            <a:r>
              <a:rPr lang="en-US" sz="2800" dirty="0">
                <a:solidFill>
                  <a:schemeClr val="bg1"/>
                </a:solidFill>
                <a:latin typeface="TT Supermolot Neue Expanded" panose="020B0604020202020204" charset="0"/>
                <a:ea typeface="Calibri" pitchFamily="34" charset="-122"/>
                <a:cs typeface="Calibri" pitchFamily="34" charset="-120"/>
              </a:rPr>
              <a:t>DANSOU</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0120" y="754380"/>
            <a:ext cx="10972800" cy="960120"/>
          </a:xfrm>
          <a:prstGeom prst="rect">
            <a:avLst/>
          </a:prstGeom>
          <a:noFill/>
          <a:ln/>
        </p:spPr>
        <p:txBody>
          <a:bodyPr wrap="square" lIns="0" tIns="0" rIns="0" bIns="0" rtlCol="0" anchor="ctr"/>
          <a:lstStyle/>
          <a:p>
            <a:r>
              <a:rPr lang="en-US" sz="4800" b="1" dirty="0">
                <a:solidFill>
                  <a:srgbClr val="0B1B2B"/>
                </a:solidFill>
                <a:latin typeface="TT Supermolot Neue Expanded" panose="020B0604020202020204" charset="0"/>
                <a:ea typeface="Cambria" pitchFamily="34" charset="-122"/>
                <a:cs typeface="Cambria" pitchFamily="34" charset="-120"/>
              </a:rPr>
              <a:t>Sommaire</a:t>
            </a:r>
            <a:endParaRPr lang="en-US" sz="4800" dirty="0">
              <a:latin typeface="TT Supermolot Neue Expanded" panose="020B0604020202020204" charset="0"/>
            </a:endParaRPr>
          </a:p>
        </p:txBody>
      </p:sp>
      <p:sp>
        <p:nvSpPr>
          <p:cNvPr id="3" name="Text 1"/>
          <p:cNvSpPr/>
          <p:nvPr/>
        </p:nvSpPr>
        <p:spPr>
          <a:xfrm>
            <a:off x="960120" y="2674620"/>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01</a:t>
            </a:r>
            <a:endParaRPr lang="en-US" sz="2850" dirty="0">
              <a:latin typeface="TT Supermolot Neue Expanded" panose="020B0604020202020204" charset="0"/>
            </a:endParaRPr>
          </a:p>
        </p:txBody>
      </p:sp>
      <p:sp>
        <p:nvSpPr>
          <p:cNvPr id="4" name="Text 2"/>
          <p:cNvSpPr/>
          <p:nvPr/>
        </p:nvSpPr>
        <p:spPr>
          <a:xfrm>
            <a:off x="1988820" y="2674620"/>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Contexte &amp; problématique</a:t>
            </a:r>
            <a:endParaRPr lang="en-US" sz="2400" dirty="0">
              <a:latin typeface="TT Supermolot Neue Expanded" panose="020B0604020202020204" charset="0"/>
            </a:endParaRPr>
          </a:p>
        </p:txBody>
      </p:sp>
      <p:sp>
        <p:nvSpPr>
          <p:cNvPr id="5" name="Shape 3"/>
          <p:cNvSpPr/>
          <p:nvPr/>
        </p:nvSpPr>
        <p:spPr>
          <a:xfrm>
            <a:off x="960120" y="3689604"/>
            <a:ext cx="7749540" cy="0"/>
          </a:xfrm>
          <a:prstGeom prst="line">
            <a:avLst/>
          </a:prstGeom>
          <a:noFill/>
          <a:ln w="12700">
            <a:solidFill>
              <a:srgbClr val="D6E0E8"/>
            </a:solidFill>
            <a:prstDash val="solid"/>
          </a:ln>
        </p:spPr>
      </p:sp>
      <p:sp>
        <p:nvSpPr>
          <p:cNvPr id="6" name="Text 4"/>
          <p:cNvSpPr/>
          <p:nvPr/>
        </p:nvSpPr>
        <p:spPr>
          <a:xfrm>
            <a:off x="960120" y="3936492"/>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02</a:t>
            </a:r>
            <a:endParaRPr lang="en-US" sz="2850" dirty="0">
              <a:latin typeface="TT Supermolot Neue Expanded" panose="020B0604020202020204" charset="0"/>
            </a:endParaRPr>
          </a:p>
        </p:txBody>
      </p:sp>
      <p:sp>
        <p:nvSpPr>
          <p:cNvPr id="7" name="Text 5"/>
          <p:cNvSpPr/>
          <p:nvPr/>
        </p:nvSpPr>
        <p:spPr>
          <a:xfrm>
            <a:off x="1988820" y="3936492"/>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Objectif de la solution</a:t>
            </a:r>
            <a:endParaRPr lang="en-US" sz="2400" dirty="0">
              <a:latin typeface="TT Supermolot Neue Expanded" panose="020B0604020202020204" charset="0"/>
            </a:endParaRPr>
          </a:p>
        </p:txBody>
      </p:sp>
      <p:sp>
        <p:nvSpPr>
          <p:cNvPr id="8" name="Shape 6"/>
          <p:cNvSpPr/>
          <p:nvPr/>
        </p:nvSpPr>
        <p:spPr>
          <a:xfrm>
            <a:off x="960120" y="4951476"/>
            <a:ext cx="7749540" cy="0"/>
          </a:xfrm>
          <a:prstGeom prst="line">
            <a:avLst/>
          </a:prstGeom>
          <a:noFill/>
          <a:ln w="12700">
            <a:solidFill>
              <a:srgbClr val="D6E0E8"/>
            </a:solidFill>
            <a:prstDash val="solid"/>
          </a:ln>
        </p:spPr>
      </p:sp>
      <p:sp>
        <p:nvSpPr>
          <p:cNvPr id="9" name="Text 7"/>
          <p:cNvSpPr/>
          <p:nvPr/>
        </p:nvSpPr>
        <p:spPr>
          <a:xfrm>
            <a:off x="960120" y="5198364"/>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03</a:t>
            </a:r>
            <a:endParaRPr lang="en-US" sz="2850" dirty="0">
              <a:latin typeface="TT Supermolot Neue Expanded" panose="020B0604020202020204" charset="0"/>
            </a:endParaRPr>
          </a:p>
        </p:txBody>
      </p:sp>
      <p:sp>
        <p:nvSpPr>
          <p:cNvPr id="10" name="Text 8"/>
          <p:cNvSpPr/>
          <p:nvPr/>
        </p:nvSpPr>
        <p:spPr>
          <a:xfrm>
            <a:off x="1988820" y="5198364"/>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Outils utilisés</a:t>
            </a:r>
            <a:endParaRPr lang="en-US" sz="2400" dirty="0">
              <a:latin typeface="TT Supermolot Neue Expanded" panose="020B0604020202020204" charset="0"/>
            </a:endParaRPr>
          </a:p>
        </p:txBody>
      </p:sp>
      <p:sp>
        <p:nvSpPr>
          <p:cNvPr id="11" name="Shape 9"/>
          <p:cNvSpPr/>
          <p:nvPr/>
        </p:nvSpPr>
        <p:spPr>
          <a:xfrm>
            <a:off x="960120" y="6213348"/>
            <a:ext cx="7749540" cy="0"/>
          </a:xfrm>
          <a:prstGeom prst="line">
            <a:avLst/>
          </a:prstGeom>
          <a:noFill/>
          <a:ln w="12700">
            <a:solidFill>
              <a:srgbClr val="D6E0E8"/>
            </a:solidFill>
            <a:prstDash val="solid"/>
          </a:ln>
        </p:spPr>
      </p:sp>
      <p:sp>
        <p:nvSpPr>
          <p:cNvPr id="12" name="Text 10"/>
          <p:cNvSpPr/>
          <p:nvPr/>
        </p:nvSpPr>
        <p:spPr>
          <a:xfrm>
            <a:off x="960120" y="6460236"/>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04</a:t>
            </a:r>
            <a:endParaRPr lang="en-US" sz="2850" dirty="0">
              <a:latin typeface="TT Supermolot Neue Expanded" panose="020B0604020202020204" charset="0"/>
            </a:endParaRPr>
          </a:p>
        </p:txBody>
      </p:sp>
      <p:sp>
        <p:nvSpPr>
          <p:cNvPr id="13" name="Text 11"/>
          <p:cNvSpPr/>
          <p:nvPr/>
        </p:nvSpPr>
        <p:spPr>
          <a:xfrm>
            <a:off x="1988820" y="6460236"/>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Composants du système</a:t>
            </a:r>
            <a:endParaRPr lang="en-US" sz="2400" dirty="0">
              <a:latin typeface="TT Supermolot Neue Expanded" panose="020B0604020202020204" charset="0"/>
            </a:endParaRPr>
          </a:p>
        </p:txBody>
      </p:sp>
      <p:sp>
        <p:nvSpPr>
          <p:cNvPr id="14" name="Shape 12"/>
          <p:cNvSpPr/>
          <p:nvPr/>
        </p:nvSpPr>
        <p:spPr>
          <a:xfrm>
            <a:off x="960120" y="7475220"/>
            <a:ext cx="7749540" cy="0"/>
          </a:xfrm>
          <a:prstGeom prst="line">
            <a:avLst/>
          </a:prstGeom>
          <a:noFill/>
          <a:ln w="12700">
            <a:solidFill>
              <a:srgbClr val="D6E0E8"/>
            </a:solidFill>
            <a:prstDash val="solid"/>
          </a:ln>
        </p:spPr>
      </p:sp>
      <p:sp>
        <p:nvSpPr>
          <p:cNvPr id="15" name="Text 13"/>
          <p:cNvSpPr/>
          <p:nvPr/>
        </p:nvSpPr>
        <p:spPr>
          <a:xfrm>
            <a:off x="960120" y="7722108"/>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05</a:t>
            </a:r>
            <a:endParaRPr lang="en-US" sz="2850" dirty="0">
              <a:latin typeface="TT Supermolot Neue Expanded" panose="020B0604020202020204" charset="0"/>
            </a:endParaRPr>
          </a:p>
        </p:txBody>
      </p:sp>
      <p:sp>
        <p:nvSpPr>
          <p:cNvPr id="16" name="Text 14"/>
          <p:cNvSpPr/>
          <p:nvPr/>
        </p:nvSpPr>
        <p:spPr>
          <a:xfrm>
            <a:off x="1988820" y="7722108"/>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Schéma de montage</a:t>
            </a:r>
            <a:endParaRPr lang="en-US" sz="2400" dirty="0">
              <a:latin typeface="TT Supermolot Neue Expanded" panose="020B0604020202020204" charset="0"/>
            </a:endParaRPr>
          </a:p>
        </p:txBody>
      </p:sp>
      <p:sp>
        <p:nvSpPr>
          <p:cNvPr id="17" name="Text 15"/>
          <p:cNvSpPr/>
          <p:nvPr/>
        </p:nvSpPr>
        <p:spPr>
          <a:xfrm>
            <a:off x="9532620" y="2674620"/>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06</a:t>
            </a:r>
            <a:endParaRPr lang="en-US" sz="2850" dirty="0">
              <a:latin typeface="TT Supermolot Neue Expanded" panose="020B0604020202020204" charset="0"/>
            </a:endParaRPr>
          </a:p>
        </p:txBody>
      </p:sp>
      <p:sp>
        <p:nvSpPr>
          <p:cNvPr id="18" name="Text 16"/>
          <p:cNvSpPr/>
          <p:nvPr/>
        </p:nvSpPr>
        <p:spPr>
          <a:xfrm>
            <a:off x="10561320" y="2674620"/>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Étapes d'assemblage</a:t>
            </a:r>
            <a:endParaRPr lang="en-US" sz="2400" dirty="0">
              <a:latin typeface="TT Supermolot Neue Expanded" panose="020B0604020202020204" charset="0"/>
            </a:endParaRPr>
          </a:p>
        </p:txBody>
      </p:sp>
      <p:sp>
        <p:nvSpPr>
          <p:cNvPr id="19" name="Shape 17"/>
          <p:cNvSpPr/>
          <p:nvPr/>
        </p:nvSpPr>
        <p:spPr>
          <a:xfrm>
            <a:off x="9532620" y="3689604"/>
            <a:ext cx="7749540" cy="0"/>
          </a:xfrm>
          <a:prstGeom prst="line">
            <a:avLst/>
          </a:prstGeom>
          <a:noFill/>
          <a:ln w="12700">
            <a:solidFill>
              <a:srgbClr val="D6E0E8"/>
            </a:solidFill>
            <a:prstDash val="solid"/>
          </a:ln>
        </p:spPr>
      </p:sp>
      <p:sp>
        <p:nvSpPr>
          <p:cNvPr id="20" name="Text 18"/>
          <p:cNvSpPr/>
          <p:nvPr/>
        </p:nvSpPr>
        <p:spPr>
          <a:xfrm>
            <a:off x="9532620" y="3936492"/>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07</a:t>
            </a:r>
            <a:endParaRPr lang="en-US" sz="2850" dirty="0">
              <a:latin typeface="TT Supermolot Neue Expanded" panose="020B0604020202020204" charset="0"/>
            </a:endParaRPr>
          </a:p>
        </p:txBody>
      </p:sp>
      <p:sp>
        <p:nvSpPr>
          <p:cNvPr id="21" name="Text 19"/>
          <p:cNvSpPr/>
          <p:nvPr/>
        </p:nvSpPr>
        <p:spPr>
          <a:xfrm>
            <a:off x="10561320" y="3936492"/>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Fonctionnement du système</a:t>
            </a:r>
            <a:endParaRPr lang="en-US" sz="2400" dirty="0">
              <a:latin typeface="TT Supermolot Neue Expanded" panose="020B0604020202020204" charset="0"/>
            </a:endParaRPr>
          </a:p>
        </p:txBody>
      </p:sp>
      <p:sp>
        <p:nvSpPr>
          <p:cNvPr id="22" name="Shape 20"/>
          <p:cNvSpPr/>
          <p:nvPr/>
        </p:nvSpPr>
        <p:spPr>
          <a:xfrm>
            <a:off x="9532620" y="4951476"/>
            <a:ext cx="7749540" cy="0"/>
          </a:xfrm>
          <a:prstGeom prst="line">
            <a:avLst/>
          </a:prstGeom>
          <a:noFill/>
          <a:ln w="12700">
            <a:solidFill>
              <a:srgbClr val="D6E0E8"/>
            </a:solidFill>
            <a:prstDash val="solid"/>
          </a:ln>
        </p:spPr>
      </p:sp>
      <p:sp>
        <p:nvSpPr>
          <p:cNvPr id="23" name="Text 21"/>
          <p:cNvSpPr/>
          <p:nvPr/>
        </p:nvSpPr>
        <p:spPr>
          <a:xfrm>
            <a:off x="9532620" y="5198364"/>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08</a:t>
            </a:r>
            <a:endParaRPr lang="en-US" sz="2850" dirty="0">
              <a:latin typeface="TT Supermolot Neue Expanded" panose="020B0604020202020204" charset="0"/>
            </a:endParaRPr>
          </a:p>
        </p:txBody>
      </p:sp>
      <p:sp>
        <p:nvSpPr>
          <p:cNvPr id="24" name="Text 22"/>
          <p:cNvSpPr/>
          <p:nvPr/>
        </p:nvSpPr>
        <p:spPr>
          <a:xfrm>
            <a:off x="10561320" y="5198364"/>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Démonstration</a:t>
            </a:r>
            <a:endParaRPr lang="en-US" sz="2400" dirty="0">
              <a:latin typeface="TT Supermolot Neue Expanded" panose="020B0604020202020204" charset="0"/>
            </a:endParaRPr>
          </a:p>
        </p:txBody>
      </p:sp>
      <p:sp>
        <p:nvSpPr>
          <p:cNvPr id="25" name="Shape 23"/>
          <p:cNvSpPr/>
          <p:nvPr/>
        </p:nvSpPr>
        <p:spPr>
          <a:xfrm>
            <a:off x="9532620" y="6213348"/>
            <a:ext cx="7749540" cy="0"/>
          </a:xfrm>
          <a:prstGeom prst="line">
            <a:avLst/>
          </a:prstGeom>
          <a:noFill/>
          <a:ln w="12700">
            <a:solidFill>
              <a:srgbClr val="D6E0E8"/>
            </a:solidFill>
            <a:prstDash val="solid"/>
          </a:ln>
        </p:spPr>
      </p:sp>
      <p:sp>
        <p:nvSpPr>
          <p:cNvPr id="26" name="Text 24"/>
          <p:cNvSpPr/>
          <p:nvPr/>
        </p:nvSpPr>
        <p:spPr>
          <a:xfrm>
            <a:off x="9532620" y="6460236"/>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09</a:t>
            </a:r>
            <a:endParaRPr lang="en-US" sz="2850" dirty="0">
              <a:latin typeface="TT Supermolot Neue Expanded" panose="020B0604020202020204" charset="0"/>
            </a:endParaRPr>
          </a:p>
        </p:txBody>
      </p:sp>
      <p:sp>
        <p:nvSpPr>
          <p:cNvPr id="27" name="Text 25"/>
          <p:cNvSpPr/>
          <p:nvPr/>
        </p:nvSpPr>
        <p:spPr>
          <a:xfrm>
            <a:off x="10561320" y="6460236"/>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Conclusion</a:t>
            </a:r>
            <a:endParaRPr lang="en-US" sz="2400" dirty="0">
              <a:latin typeface="TT Supermolot Neue Expanded" panose="020B0604020202020204" charset="0"/>
            </a:endParaRPr>
          </a:p>
        </p:txBody>
      </p:sp>
      <p:sp>
        <p:nvSpPr>
          <p:cNvPr id="28" name="Shape 26"/>
          <p:cNvSpPr/>
          <p:nvPr/>
        </p:nvSpPr>
        <p:spPr>
          <a:xfrm>
            <a:off x="9532620" y="7475220"/>
            <a:ext cx="7749540" cy="0"/>
          </a:xfrm>
          <a:prstGeom prst="line">
            <a:avLst/>
          </a:prstGeom>
          <a:noFill/>
          <a:ln w="12700">
            <a:solidFill>
              <a:srgbClr val="D6E0E8"/>
            </a:solidFill>
            <a:prstDash val="solid"/>
          </a:ln>
        </p:spPr>
      </p:sp>
      <p:sp>
        <p:nvSpPr>
          <p:cNvPr id="29" name="Text 27"/>
          <p:cNvSpPr/>
          <p:nvPr/>
        </p:nvSpPr>
        <p:spPr>
          <a:xfrm>
            <a:off x="9532620" y="7722108"/>
            <a:ext cx="960120" cy="960120"/>
          </a:xfrm>
          <a:prstGeom prst="rect">
            <a:avLst/>
          </a:prstGeom>
          <a:noFill/>
          <a:ln/>
        </p:spPr>
        <p:txBody>
          <a:bodyPr wrap="square" lIns="0" tIns="0" rIns="0" bIns="0" rtlCol="0" anchor="ctr"/>
          <a:lstStyle/>
          <a:p>
            <a:r>
              <a:rPr lang="en-US" sz="2850" b="1" dirty="0">
                <a:solidFill>
                  <a:srgbClr val="E0A93A"/>
                </a:solidFill>
                <a:latin typeface="TT Supermolot Neue Expanded" panose="020B0604020202020204" charset="0"/>
                <a:ea typeface="Cambria" pitchFamily="34" charset="-122"/>
                <a:cs typeface="Cambria" pitchFamily="34" charset="-120"/>
              </a:rPr>
              <a:t>10</a:t>
            </a:r>
            <a:endParaRPr lang="en-US" sz="2850" dirty="0">
              <a:latin typeface="TT Supermolot Neue Expanded" panose="020B0604020202020204" charset="0"/>
            </a:endParaRPr>
          </a:p>
        </p:txBody>
      </p:sp>
      <p:sp>
        <p:nvSpPr>
          <p:cNvPr id="30" name="Text 28"/>
          <p:cNvSpPr/>
          <p:nvPr/>
        </p:nvSpPr>
        <p:spPr>
          <a:xfrm>
            <a:off x="10561320" y="7722108"/>
            <a:ext cx="6720840" cy="960120"/>
          </a:xfrm>
          <a:prstGeom prst="rect">
            <a:avLst/>
          </a:prstGeom>
          <a:noFill/>
          <a:ln/>
        </p:spPr>
        <p:txBody>
          <a:bodyPr wrap="square" lIns="0" tIns="0" rIns="0" bIns="0" rtlCol="0" anchor="ctr"/>
          <a:lstStyle/>
          <a:p>
            <a:r>
              <a:rPr lang="en-US" sz="2400" dirty="0">
                <a:solidFill>
                  <a:srgbClr val="0B1B2B"/>
                </a:solidFill>
                <a:latin typeface="TT Supermolot Neue Expanded" panose="020B0604020202020204" charset="0"/>
                <a:ea typeface="Calibri" pitchFamily="34" charset="-122"/>
                <a:cs typeface="Calibri" pitchFamily="34" charset="-120"/>
              </a:rPr>
              <a:t>Questions</a:t>
            </a:r>
            <a:endParaRPr lang="en-US" sz="2400" dirty="0">
              <a:latin typeface="TT Supermolot Neue Expanded" panose="020B0604020202020204" charset="0"/>
            </a:endParaRPr>
          </a:p>
        </p:txBody>
      </p:sp>
      <p:sp>
        <p:nvSpPr>
          <p:cNvPr id="31" name="Text 29"/>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5A7184"/>
                </a:solidFill>
                <a:latin typeface="TT Supermolot Neue Expanded" panose="020B0604020202020204" charset="0"/>
                <a:ea typeface="Calibri" pitchFamily="34" charset="-122"/>
                <a:cs typeface="Calibri" pitchFamily="34" charset="-120"/>
              </a:rPr>
              <a:t>2</a:t>
            </a:r>
            <a:endParaRPr lang="en-US" sz="1650" dirty="0">
              <a:latin typeface="TT Supermolot Neue Expanded" panose="020B0604020202020204" charset="0"/>
            </a:endParaRPr>
          </a:p>
        </p:txBody>
      </p:sp>
      <p:sp>
        <p:nvSpPr>
          <p:cNvPr id="32" name="Text 30"/>
          <p:cNvSpPr/>
          <p:nvPr/>
        </p:nvSpPr>
        <p:spPr>
          <a:xfrm>
            <a:off x="822960" y="9601200"/>
            <a:ext cx="6858000" cy="411480"/>
          </a:xfrm>
          <a:prstGeom prst="rect">
            <a:avLst/>
          </a:prstGeom>
          <a:noFill/>
          <a:ln/>
        </p:spPr>
        <p:txBody>
          <a:bodyPr wrap="square" lIns="0" tIns="0" rIns="0" bIns="0" rtlCol="0" anchor="ctr"/>
          <a:lstStyle/>
          <a:p>
            <a:r>
              <a:rPr lang="en-US" sz="1500" dirty="0">
                <a:solidFill>
                  <a:srgbClr val="5A7184"/>
                </a:solidFill>
                <a:latin typeface="TT Supermolot Neue Expanded" panose="020B0604020202020204" charset="0"/>
                <a:ea typeface="Calibri" pitchFamily="34" charset="-122"/>
                <a:cs typeface="Calibri" pitchFamily="34" charset="-120"/>
              </a:rPr>
              <a:t>Objets Connectés  Piste Intelligente</a:t>
            </a:r>
            <a:endParaRPr lang="en-US" sz="1500" dirty="0">
              <a:latin typeface="TT Supermolot Neue Expanded" panose="020B0604020202020204" charset="0"/>
            </a:endParaRPr>
          </a:p>
        </p:txBody>
      </p:sp>
    </p:spTree>
    <p:extLst>
      <p:ext uri="{BB962C8B-B14F-4D97-AF65-F5344CB8AC3E}">
        <p14:creationId xmlns:p14="http://schemas.microsoft.com/office/powerpoint/2010/main" val="1841960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E0A93A"/>
                </a:solidFill>
                <a:latin typeface="Calibri" pitchFamily="34" charset="0"/>
                <a:ea typeface="Calibri" pitchFamily="34" charset="-122"/>
                <a:cs typeface="Calibri" pitchFamily="34" charset="-120"/>
              </a:rPr>
              <a:t>01</a:t>
            </a:r>
            <a:endParaRPr lang="en-US" sz="2100" dirty="0"/>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0B1B2B"/>
                </a:solidFill>
                <a:latin typeface="TT Supermolot Neue Expanded" panose="020B0604020202020204" charset="0"/>
                <a:ea typeface="Cambria" pitchFamily="34" charset="-122"/>
                <a:cs typeface="Cambria" pitchFamily="34" charset="-120"/>
              </a:rPr>
              <a:t>Contexte &amp; problématique</a:t>
            </a:r>
            <a:endParaRPr lang="en-US" sz="4500" dirty="0">
              <a:latin typeface="TT Supermolot Neue Expanded" panose="020B0604020202020204" charset="0"/>
            </a:endParaRPr>
          </a:p>
        </p:txBody>
      </p:sp>
      <p:sp>
        <p:nvSpPr>
          <p:cNvPr id="4" name="Text 2"/>
          <p:cNvSpPr/>
          <p:nvPr/>
        </p:nvSpPr>
        <p:spPr>
          <a:xfrm>
            <a:off x="761238" y="2331720"/>
            <a:ext cx="8092440" cy="4389120"/>
          </a:xfrm>
          <a:prstGeom prst="rect">
            <a:avLst/>
          </a:prstGeom>
          <a:noFill/>
          <a:ln/>
        </p:spPr>
        <p:txBody>
          <a:bodyPr wrap="square" rtlCol="0" anchor="ctr"/>
          <a:lstStyle/>
          <a:p>
            <a:pPr algn="ctr">
              <a:lnSpc>
                <a:spcPct val="150000"/>
              </a:lnSpc>
            </a:pPr>
            <a:r>
              <a:rPr lang="fr-FR" sz="2000" dirty="0">
                <a:latin typeface="Times New Roman" panose="02020603050405020304" pitchFamily="18" charset="0"/>
                <a:ea typeface="Calibri" panose="020F0502020204030204" pitchFamily="34" charset="0"/>
              </a:rPr>
              <a:t>Mise en place d’un </a:t>
            </a:r>
            <a:r>
              <a:rPr lang="fr-FR" sz="2000" dirty="0">
                <a:effectLst/>
                <a:latin typeface="Times New Roman" panose="02020603050405020304" pitchFamily="18" charset="0"/>
                <a:ea typeface="Calibri" panose="020F0502020204030204" pitchFamily="34" charset="0"/>
              </a:rPr>
              <a:t>système d’éclairage de piste que nous allons adapter aux besoins d'une compagnie aérienne de la place.</a:t>
            </a:r>
          </a:p>
          <a:p>
            <a:endParaRPr lang="en-US" sz="2250" dirty="0"/>
          </a:p>
        </p:txBody>
      </p:sp>
      <p:sp>
        <p:nvSpPr>
          <p:cNvPr id="5" name="Shape 3"/>
          <p:cNvSpPr/>
          <p:nvPr/>
        </p:nvSpPr>
        <p:spPr>
          <a:xfrm>
            <a:off x="1051560" y="5753100"/>
            <a:ext cx="8092440" cy="3368040"/>
          </a:xfrm>
          <a:prstGeom prst="roundRect">
            <a:avLst>
              <a:gd name="adj" fmla="val 5161"/>
            </a:avLst>
          </a:prstGeom>
          <a:solidFill>
            <a:srgbClr val="FFFFFF"/>
          </a:solidFill>
          <a:ln/>
          <a:effectLst>
            <a:outerShdw blurRad="101600" dist="38100" dir="5400000" algn="bl" rotWithShape="0">
              <a:srgbClr val="000000">
                <a:alpha val="10000"/>
              </a:srgbClr>
            </a:outerShdw>
          </a:effectLst>
        </p:spPr>
      </p:sp>
      <p:sp>
        <p:nvSpPr>
          <p:cNvPr id="6" name="Text 4"/>
          <p:cNvSpPr/>
          <p:nvPr/>
        </p:nvSpPr>
        <p:spPr>
          <a:xfrm>
            <a:off x="1219200" y="5935981"/>
            <a:ext cx="7634478" cy="3002279"/>
          </a:xfrm>
          <a:prstGeom prst="rect">
            <a:avLst/>
          </a:prstGeom>
          <a:noFill/>
          <a:ln/>
        </p:spPr>
        <p:txBody>
          <a:bodyPr wrap="square" rtlCol="0" anchor="t"/>
          <a:lstStyle/>
          <a:p>
            <a:pPr algn="ctr">
              <a:lnSpc>
                <a:spcPct val="150000"/>
              </a:lnSpc>
            </a:pPr>
            <a:r>
              <a:rPr lang="en-US" sz="2025" b="1" dirty="0">
                <a:solidFill>
                  <a:srgbClr val="0B1B2B"/>
                </a:solidFill>
              </a:rPr>
              <a:t>Problématique retenue</a:t>
            </a:r>
            <a:endParaRPr lang="en-US" sz="2025" dirty="0"/>
          </a:p>
          <a:p>
            <a:pPr algn="ctr">
              <a:lnSpc>
                <a:spcPct val="150000"/>
              </a:lnSpc>
            </a:pPr>
            <a:r>
              <a:rPr lang="fr-FR" sz="2000" i="0" dirty="0">
                <a:effectLst/>
                <a:latin typeface="Baskerville Old Face" panose="02020602080505020303" pitchFamily="18" charset="0"/>
              </a:rPr>
              <a:t>Comment concevoir un système d'éclairage de piste aéroportuaire intelligent, capable d'arbitrer en temps réel entre une commande automatique (détection de l'approche d'un avion) et une supervision manuelle par les équipes au sol (via Bluetooth), tout en garantissant la sécurité des opérations et l'optimisation énergétique ?</a:t>
            </a:r>
            <a:endParaRPr lang="en-US" sz="2025" dirty="0">
              <a:latin typeface="Baskerville Old Face" panose="02020602080505020303" pitchFamily="18" charset="0"/>
            </a:endParaRPr>
          </a:p>
        </p:txBody>
      </p:sp>
      <p:sp>
        <p:nvSpPr>
          <p:cNvPr id="7" name="Shape 5"/>
          <p:cNvSpPr/>
          <p:nvPr/>
        </p:nvSpPr>
        <p:spPr>
          <a:xfrm>
            <a:off x="9738360" y="2331720"/>
            <a:ext cx="7612380" cy="6858000"/>
          </a:xfrm>
          <a:prstGeom prst="rect">
            <a:avLst/>
          </a:prstGeom>
          <a:solidFill>
            <a:srgbClr val="0B1B2B"/>
          </a:solidFill>
          <a:ln/>
        </p:spPr>
      </p:sp>
      <p:sp>
        <p:nvSpPr>
          <p:cNvPr id="8" name="Shape 6"/>
          <p:cNvSpPr/>
          <p:nvPr/>
        </p:nvSpPr>
        <p:spPr>
          <a:xfrm>
            <a:off x="11507724" y="5493258"/>
            <a:ext cx="384048" cy="61722"/>
          </a:xfrm>
          <a:prstGeom prst="rect">
            <a:avLst/>
          </a:prstGeom>
          <a:solidFill>
            <a:srgbClr val="FFC000"/>
          </a:solidFill>
          <a:ln/>
          <a:effectLst>
            <a:glow rad="139700">
              <a:schemeClr val="accent6">
                <a:satMod val="175000"/>
                <a:alpha val="40000"/>
              </a:schemeClr>
            </a:glow>
          </a:effectLst>
        </p:spPr>
      </p:sp>
      <p:sp>
        <p:nvSpPr>
          <p:cNvPr id="9" name="Shape 7"/>
          <p:cNvSpPr/>
          <p:nvPr/>
        </p:nvSpPr>
        <p:spPr>
          <a:xfrm>
            <a:off x="12111228" y="5493258"/>
            <a:ext cx="384048" cy="61722"/>
          </a:xfrm>
          <a:prstGeom prst="rect">
            <a:avLst/>
          </a:prstGeom>
          <a:solidFill>
            <a:schemeClr val="accent5">
              <a:lumMod val="75000"/>
            </a:schemeClr>
          </a:solidFill>
          <a:ln/>
          <a:effectLst>
            <a:glow rad="101600">
              <a:schemeClr val="accent5">
                <a:satMod val="175000"/>
                <a:alpha val="40000"/>
              </a:schemeClr>
            </a:glow>
          </a:effectLst>
        </p:spPr>
      </p:sp>
      <p:sp>
        <p:nvSpPr>
          <p:cNvPr id="10" name="Shape 8"/>
          <p:cNvSpPr/>
          <p:nvPr/>
        </p:nvSpPr>
        <p:spPr>
          <a:xfrm>
            <a:off x="12714732" y="5493258"/>
            <a:ext cx="384048" cy="61722"/>
          </a:xfrm>
          <a:prstGeom prst="rect">
            <a:avLst/>
          </a:prstGeom>
          <a:solidFill>
            <a:srgbClr val="0070C0"/>
          </a:solidFill>
          <a:ln/>
          <a:effectLst>
            <a:glow rad="101600">
              <a:schemeClr val="accent1">
                <a:satMod val="175000"/>
                <a:alpha val="40000"/>
              </a:schemeClr>
            </a:glow>
          </a:effectLst>
        </p:spPr>
      </p:sp>
      <p:sp>
        <p:nvSpPr>
          <p:cNvPr id="11" name="Shape 9"/>
          <p:cNvSpPr/>
          <p:nvPr/>
        </p:nvSpPr>
        <p:spPr>
          <a:xfrm>
            <a:off x="13318236" y="5493258"/>
            <a:ext cx="384048" cy="61722"/>
          </a:xfrm>
          <a:prstGeom prst="rect">
            <a:avLst/>
          </a:prstGeom>
          <a:solidFill>
            <a:srgbClr val="00B050"/>
          </a:solidFill>
          <a:ln/>
          <a:effectLst>
            <a:glow rad="101600">
              <a:srgbClr val="00B050">
                <a:alpha val="60000"/>
              </a:srgbClr>
            </a:glow>
          </a:effectLst>
        </p:spPr>
      </p:sp>
      <p:sp>
        <p:nvSpPr>
          <p:cNvPr id="12" name="Shape 10"/>
          <p:cNvSpPr/>
          <p:nvPr/>
        </p:nvSpPr>
        <p:spPr>
          <a:xfrm>
            <a:off x="13921740" y="5493258"/>
            <a:ext cx="384048" cy="61722"/>
          </a:xfrm>
          <a:prstGeom prst="rect">
            <a:avLst/>
          </a:prstGeom>
          <a:solidFill>
            <a:srgbClr val="FFC857"/>
          </a:solidFill>
          <a:ln/>
          <a:effectLst>
            <a:glow rad="139700">
              <a:schemeClr val="accent6">
                <a:satMod val="175000"/>
                <a:alpha val="40000"/>
              </a:schemeClr>
            </a:glow>
          </a:effectLst>
        </p:spPr>
      </p:sp>
      <p:sp>
        <p:nvSpPr>
          <p:cNvPr id="13" name="Shape 11"/>
          <p:cNvSpPr/>
          <p:nvPr/>
        </p:nvSpPr>
        <p:spPr>
          <a:xfrm>
            <a:off x="14525244" y="5493258"/>
            <a:ext cx="384048" cy="61722"/>
          </a:xfrm>
          <a:prstGeom prst="rect">
            <a:avLst/>
          </a:prstGeom>
          <a:solidFill>
            <a:schemeClr val="accent2">
              <a:lumMod val="75000"/>
            </a:schemeClr>
          </a:solidFill>
          <a:ln/>
          <a:effectLst>
            <a:glow rad="139700">
              <a:schemeClr val="accent2">
                <a:satMod val="175000"/>
                <a:alpha val="40000"/>
              </a:schemeClr>
            </a:glow>
          </a:effectLst>
        </p:spPr>
      </p:sp>
      <p:sp>
        <p:nvSpPr>
          <p:cNvPr id="14" name="Shape 12"/>
          <p:cNvSpPr/>
          <p:nvPr/>
        </p:nvSpPr>
        <p:spPr>
          <a:xfrm>
            <a:off x="15128748" y="5493258"/>
            <a:ext cx="384048" cy="61722"/>
          </a:xfrm>
          <a:prstGeom prst="rect">
            <a:avLst/>
          </a:prstGeom>
          <a:solidFill>
            <a:schemeClr val="tx2">
              <a:lumMod val="40000"/>
              <a:lumOff val="60000"/>
            </a:schemeClr>
          </a:solidFill>
          <a:ln/>
          <a:effectLst>
            <a:glow rad="139700">
              <a:schemeClr val="accent5">
                <a:satMod val="175000"/>
                <a:alpha val="40000"/>
              </a:schemeClr>
            </a:glow>
          </a:effectLst>
        </p:spPr>
      </p:sp>
      <p:sp>
        <p:nvSpPr>
          <p:cNvPr id="15" name="Text 13"/>
          <p:cNvSpPr/>
          <p:nvPr/>
        </p:nvSpPr>
        <p:spPr>
          <a:xfrm>
            <a:off x="10355580" y="6172200"/>
            <a:ext cx="6309360" cy="1234440"/>
          </a:xfrm>
          <a:prstGeom prst="rect">
            <a:avLst/>
          </a:prstGeom>
          <a:noFill/>
          <a:ln/>
        </p:spPr>
        <p:txBody>
          <a:bodyPr wrap="square" lIns="0" tIns="0" rIns="0" bIns="0" rtlCol="0" anchor="ctr"/>
          <a:lstStyle/>
          <a:p>
            <a:pPr algn="ctr"/>
            <a:r>
              <a:rPr lang="en-US" sz="2250" dirty="0">
                <a:solidFill>
                  <a:srgbClr val="EAF2F8"/>
                </a:solidFill>
                <a:latin typeface="Calibri" pitchFamily="34" charset="0"/>
                <a:ea typeface="Calibri" pitchFamily="34" charset="-122"/>
                <a:cs typeface="Calibri" pitchFamily="34" charset="-120"/>
              </a:rPr>
              <a:t>Une guirlande décorative</a:t>
            </a:r>
            <a:endParaRPr lang="en-US" sz="2250" dirty="0"/>
          </a:p>
          <a:p>
            <a:pPr algn="ctr"/>
            <a:r>
              <a:rPr lang="en-US" sz="2250" dirty="0">
                <a:solidFill>
                  <a:srgbClr val="EAF2F8"/>
                </a:solidFill>
                <a:latin typeface="Calibri" pitchFamily="34" charset="0"/>
                <a:ea typeface="Calibri" pitchFamily="34" charset="-122"/>
                <a:cs typeface="Calibri" pitchFamily="34" charset="-120"/>
              </a:rPr>
              <a:t>sans fonction utile</a:t>
            </a:r>
            <a:endParaRPr lang="en-US" sz="2250" dirty="0"/>
          </a:p>
        </p:txBody>
      </p:sp>
      <p:sp>
        <p:nvSpPr>
          <p:cNvPr id="16" name="Text 14"/>
          <p:cNvSpPr/>
          <p:nvPr/>
        </p:nvSpPr>
        <p:spPr>
          <a:xfrm>
            <a:off x="10355580" y="7612380"/>
            <a:ext cx="6309360" cy="960120"/>
          </a:xfrm>
          <a:prstGeom prst="rect">
            <a:avLst/>
          </a:prstGeom>
          <a:noFill/>
          <a:ln/>
        </p:spPr>
        <p:txBody>
          <a:bodyPr wrap="square" lIns="0" tIns="0" rIns="0" bIns="0" rtlCol="0" anchor="ctr"/>
          <a:lstStyle/>
          <a:p>
            <a:pPr algn="ctr"/>
            <a:r>
              <a:rPr lang="en-US" sz="1875" i="1" dirty="0">
                <a:solidFill>
                  <a:srgbClr val="FFC857"/>
                </a:solidFill>
                <a:latin typeface="Calibri" pitchFamily="34" charset="0"/>
                <a:ea typeface="Calibri" pitchFamily="34" charset="-122"/>
                <a:cs typeface="Calibri" pitchFamily="34" charset="-120"/>
              </a:rPr>
              <a:t>→ Il faut innover</a:t>
            </a:r>
            <a:endParaRPr lang="en-US" sz="1875" dirty="0"/>
          </a:p>
        </p:txBody>
      </p:sp>
      <p:sp>
        <p:nvSpPr>
          <p:cNvPr id="17" name="Text 15"/>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5A7184"/>
                </a:solidFill>
                <a:latin typeface="Calibri" pitchFamily="34" charset="0"/>
                <a:ea typeface="Calibri" pitchFamily="34" charset="-122"/>
                <a:cs typeface="Calibri" pitchFamily="34" charset="-120"/>
              </a:rPr>
              <a:t>3</a:t>
            </a:r>
            <a:endParaRPr lang="en-US" sz="1650" dirty="0"/>
          </a:p>
        </p:txBody>
      </p:sp>
      <p:sp>
        <p:nvSpPr>
          <p:cNvPr id="18" name="Text 16"/>
          <p:cNvSpPr/>
          <p:nvPr/>
        </p:nvSpPr>
        <p:spPr>
          <a:xfrm>
            <a:off x="822960" y="9601200"/>
            <a:ext cx="6858000" cy="411480"/>
          </a:xfrm>
          <a:prstGeom prst="rect">
            <a:avLst/>
          </a:prstGeom>
          <a:noFill/>
          <a:ln/>
        </p:spPr>
        <p:txBody>
          <a:bodyPr wrap="square" lIns="0" tIns="0" rIns="0" bIns="0" rtlCol="0" anchor="ctr"/>
          <a:lstStyle/>
          <a:p>
            <a:r>
              <a:rPr lang="en-US" sz="1500" dirty="0">
                <a:solidFill>
                  <a:srgbClr val="5A7184"/>
                </a:solidFill>
                <a:latin typeface="TT Supermolot Neue Expanded" panose="020B0604020202020204" charset="0"/>
                <a:ea typeface="Calibri" pitchFamily="34" charset="-122"/>
                <a:cs typeface="Calibri" pitchFamily="34" charset="-120"/>
              </a:rPr>
              <a:t>Objets Connectés  Piste Intelligente</a:t>
            </a:r>
            <a:endParaRPr lang="en-US" sz="1500" dirty="0">
              <a:latin typeface="TT Supermolot Neue Expanded" panose="020B0604020202020204" charset="0"/>
            </a:endParaRPr>
          </a:p>
        </p:txBody>
      </p:sp>
      <p:sp>
        <p:nvSpPr>
          <p:cNvPr id="24" name="Shape 3">
            <a:extLst>
              <a:ext uri="{FF2B5EF4-FFF2-40B4-BE49-F238E27FC236}">
                <a16:creationId xmlns:a16="http://schemas.microsoft.com/office/drawing/2014/main" id="{4DE5017C-DE71-7674-FDAA-108EAFCC90C7}"/>
              </a:ext>
            </a:extLst>
          </p:cNvPr>
          <p:cNvSpPr/>
          <p:nvPr/>
        </p:nvSpPr>
        <p:spPr>
          <a:xfrm>
            <a:off x="960120" y="2171700"/>
            <a:ext cx="7749540" cy="0"/>
          </a:xfrm>
          <a:prstGeom prst="line">
            <a:avLst/>
          </a:prstGeom>
          <a:ln/>
        </p:spPr>
        <p:style>
          <a:lnRef idx="1">
            <a:schemeClr val="accent1"/>
          </a:lnRef>
          <a:fillRef idx="0">
            <a:schemeClr val="accent1"/>
          </a:fillRef>
          <a:effectRef idx="0">
            <a:schemeClr val="accent1"/>
          </a:effectRef>
          <a:fontRef idx="minor">
            <a:schemeClr val="tx1"/>
          </a:fontRef>
        </p:style>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100" tmFilter="0, 0; .2, .5; .8, .5; 1, 0"/>
                                        <p:tgtEl>
                                          <p:spTgt spid="8"/>
                                        </p:tgtEl>
                                      </p:cBhvr>
                                    </p:animEffect>
                                    <p:animScale>
                                      <p:cBhvr>
                                        <p:cTn id="7" dur="50" autoRev="1" fill="hold"/>
                                        <p:tgtEl>
                                          <p:spTgt spid="8"/>
                                        </p:tgtEl>
                                      </p:cBhvr>
                                      <p:by x="105000" y="105000"/>
                                    </p:animScale>
                                  </p:childTnLst>
                                </p:cTn>
                              </p:par>
                            </p:childTnLst>
                          </p:cTn>
                        </p:par>
                        <p:par>
                          <p:cTn id="8" fill="hold">
                            <p:stCondLst>
                              <p:cond delay="100"/>
                            </p:stCondLst>
                            <p:childTnLst>
                              <p:par>
                                <p:cTn id="9" presetID="26" presetClass="emph" presetSubtype="0" fill="hold" nodeType="afterEffect">
                                  <p:stCondLst>
                                    <p:cond delay="0"/>
                                  </p:stCondLst>
                                  <p:childTnLst>
                                    <p:animEffect transition="out" filter="fade">
                                      <p:cBhvr>
                                        <p:cTn id="10" dur="100" tmFilter="0, 0; .2, .5; .8, .5; 1, 0"/>
                                        <p:tgtEl>
                                          <p:spTgt spid="9"/>
                                        </p:tgtEl>
                                      </p:cBhvr>
                                    </p:animEffect>
                                    <p:animScale>
                                      <p:cBhvr>
                                        <p:cTn id="11" dur="50" autoRev="1" fill="hold"/>
                                        <p:tgtEl>
                                          <p:spTgt spid="9"/>
                                        </p:tgtEl>
                                      </p:cBhvr>
                                      <p:by x="105000" y="105000"/>
                                    </p:animScale>
                                  </p:childTnLst>
                                </p:cTn>
                              </p:par>
                            </p:childTnLst>
                          </p:cTn>
                        </p:par>
                        <p:par>
                          <p:cTn id="12" fill="hold">
                            <p:stCondLst>
                              <p:cond delay="200"/>
                            </p:stCondLst>
                            <p:childTnLst>
                              <p:par>
                                <p:cTn id="13" presetID="26" presetClass="emph" presetSubtype="0" fill="hold" nodeType="afterEffect">
                                  <p:stCondLst>
                                    <p:cond delay="0"/>
                                  </p:stCondLst>
                                  <p:childTnLst>
                                    <p:animEffect transition="out" filter="fade">
                                      <p:cBhvr>
                                        <p:cTn id="14" dur="100" tmFilter="0, 0; .2, .5; .8, .5; 1, 0"/>
                                        <p:tgtEl>
                                          <p:spTgt spid="10"/>
                                        </p:tgtEl>
                                      </p:cBhvr>
                                    </p:animEffect>
                                    <p:animScale>
                                      <p:cBhvr>
                                        <p:cTn id="15" dur="50" autoRev="1" fill="hold"/>
                                        <p:tgtEl>
                                          <p:spTgt spid="10"/>
                                        </p:tgtEl>
                                      </p:cBhvr>
                                      <p:by x="105000" y="105000"/>
                                    </p:animScale>
                                  </p:childTnLst>
                                </p:cTn>
                              </p:par>
                            </p:childTnLst>
                          </p:cTn>
                        </p:par>
                        <p:par>
                          <p:cTn id="16" fill="hold">
                            <p:stCondLst>
                              <p:cond delay="300"/>
                            </p:stCondLst>
                            <p:childTnLst>
                              <p:par>
                                <p:cTn id="17" presetID="26" presetClass="emph" presetSubtype="0" fill="hold" nodeType="afterEffect">
                                  <p:stCondLst>
                                    <p:cond delay="0"/>
                                  </p:stCondLst>
                                  <p:childTnLst>
                                    <p:animEffect transition="out" filter="fade">
                                      <p:cBhvr>
                                        <p:cTn id="18" dur="100" tmFilter="0, 0; .2, .5; .8, .5; 1, 0"/>
                                        <p:tgtEl>
                                          <p:spTgt spid="11"/>
                                        </p:tgtEl>
                                      </p:cBhvr>
                                    </p:animEffect>
                                    <p:animScale>
                                      <p:cBhvr>
                                        <p:cTn id="19" dur="50" autoRev="1" fill="hold"/>
                                        <p:tgtEl>
                                          <p:spTgt spid="11"/>
                                        </p:tgtEl>
                                      </p:cBhvr>
                                      <p:by x="105000" y="105000"/>
                                    </p:animScale>
                                  </p:childTnLst>
                                </p:cTn>
                              </p:par>
                            </p:childTnLst>
                          </p:cTn>
                        </p:par>
                        <p:par>
                          <p:cTn id="20" fill="hold">
                            <p:stCondLst>
                              <p:cond delay="400"/>
                            </p:stCondLst>
                            <p:childTnLst>
                              <p:par>
                                <p:cTn id="21" presetID="26" presetClass="emph" presetSubtype="0" fill="hold" nodeType="afterEffect">
                                  <p:stCondLst>
                                    <p:cond delay="0"/>
                                  </p:stCondLst>
                                  <p:childTnLst>
                                    <p:animEffect transition="out" filter="fade">
                                      <p:cBhvr>
                                        <p:cTn id="22" dur="100" tmFilter="0, 0; .2, .5; .8, .5; 1, 0"/>
                                        <p:tgtEl>
                                          <p:spTgt spid="12"/>
                                        </p:tgtEl>
                                      </p:cBhvr>
                                    </p:animEffect>
                                    <p:animScale>
                                      <p:cBhvr>
                                        <p:cTn id="23" dur="50" autoRev="1" fill="hold"/>
                                        <p:tgtEl>
                                          <p:spTgt spid="12"/>
                                        </p:tgtEl>
                                      </p:cBhvr>
                                      <p:by x="105000" y="105000"/>
                                    </p:animScale>
                                  </p:childTnLst>
                                </p:cTn>
                              </p:par>
                            </p:childTnLst>
                          </p:cTn>
                        </p:par>
                        <p:par>
                          <p:cTn id="24" fill="hold">
                            <p:stCondLst>
                              <p:cond delay="500"/>
                            </p:stCondLst>
                            <p:childTnLst>
                              <p:par>
                                <p:cTn id="25" presetID="26" presetClass="emph" presetSubtype="0" fill="hold" nodeType="afterEffect">
                                  <p:stCondLst>
                                    <p:cond delay="0"/>
                                  </p:stCondLst>
                                  <p:childTnLst>
                                    <p:animEffect transition="out" filter="fade">
                                      <p:cBhvr>
                                        <p:cTn id="26" dur="100" tmFilter="0, 0; .2, .5; .8, .5; 1, 0"/>
                                        <p:tgtEl>
                                          <p:spTgt spid="13"/>
                                        </p:tgtEl>
                                      </p:cBhvr>
                                    </p:animEffect>
                                    <p:animScale>
                                      <p:cBhvr>
                                        <p:cTn id="27" dur="50" autoRev="1" fill="hold"/>
                                        <p:tgtEl>
                                          <p:spTgt spid="13"/>
                                        </p:tgtEl>
                                      </p:cBhvr>
                                      <p:by x="105000" y="105000"/>
                                    </p:animScale>
                                  </p:childTnLst>
                                </p:cTn>
                              </p:par>
                            </p:childTnLst>
                          </p:cTn>
                        </p:par>
                        <p:par>
                          <p:cTn id="28" fill="hold">
                            <p:stCondLst>
                              <p:cond delay="600"/>
                            </p:stCondLst>
                            <p:childTnLst>
                              <p:par>
                                <p:cTn id="29" presetID="26" presetClass="emph" presetSubtype="0" fill="hold" nodeType="afterEffect">
                                  <p:stCondLst>
                                    <p:cond delay="0"/>
                                  </p:stCondLst>
                                  <p:childTnLst>
                                    <p:animEffect transition="out" filter="fade">
                                      <p:cBhvr>
                                        <p:cTn id="30" dur="100" tmFilter="0, 0; .2, .5; .8, .5; 1, 0"/>
                                        <p:tgtEl>
                                          <p:spTgt spid="14"/>
                                        </p:tgtEl>
                                      </p:cBhvr>
                                    </p:animEffect>
                                    <p:animScale>
                                      <p:cBhvr>
                                        <p:cTn id="31" dur="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FFC857"/>
                </a:solidFill>
                <a:latin typeface="TT Supermolot Neue Expanded" panose="020B0604020202020204" charset="0"/>
                <a:ea typeface="Calibri" pitchFamily="34" charset="-122"/>
                <a:cs typeface="Calibri" pitchFamily="34" charset="-120"/>
              </a:rPr>
              <a:t>02</a:t>
            </a:r>
            <a:endParaRPr lang="en-US" sz="2100" dirty="0">
              <a:latin typeface="TT Supermolot Neue Expanded" panose="020B0604020202020204" charset="0"/>
            </a:endParaRPr>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EAF2F8"/>
                </a:solidFill>
                <a:latin typeface="TT Supermolot Neue Expanded" panose="020B0604020202020204" charset="0"/>
                <a:ea typeface="Cambria" pitchFamily="34" charset="-122"/>
                <a:cs typeface="Cambria" pitchFamily="34" charset="-120"/>
              </a:rPr>
              <a:t>Objectif de la solution</a:t>
            </a:r>
            <a:endParaRPr lang="en-US" sz="4500" dirty="0">
              <a:latin typeface="TT Supermolot Neue Expanded" panose="020B0604020202020204" charset="0"/>
            </a:endParaRPr>
          </a:p>
        </p:txBody>
      </p:sp>
      <p:sp>
        <p:nvSpPr>
          <p:cNvPr id="4" name="Text 2"/>
          <p:cNvSpPr/>
          <p:nvPr/>
        </p:nvSpPr>
        <p:spPr>
          <a:xfrm>
            <a:off x="960120" y="2194560"/>
            <a:ext cx="16322040" cy="960120"/>
          </a:xfrm>
          <a:prstGeom prst="rect">
            <a:avLst/>
          </a:prstGeom>
          <a:noFill/>
          <a:ln/>
        </p:spPr>
        <p:txBody>
          <a:bodyPr wrap="square" lIns="0" tIns="0" rIns="0" bIns="0" rtlCol="0" anchor="ctr"/>
          <a:lstStyle/>
          <a:p>
            <a:r>
              <a:rPr lang="en-US" sz="2175" dirty="0">
                <a:solidFill>
                  <a:srgbClr val="9FB3C8"/>
                </a:solidFill>
                <a:latin typeface="Baskerville Old Face" panose="02020602080505020303" pitchFamily="18" charset="0"/>
                <a:ea typeface="Calibri" pitchFamily="34" charset="-122"/>
                <a:cs typeface="Calibri" pitchFamily="34" charset="-120"/>
              </a:rPr>
              <a:t>Transformer la guirlande en signal de </a:t>
            </a:r>
            <a:r>
              <a:rPr lang="en-US" sz="2175" dirty="0" err="1">
                <a:solidFill>
                  <a:srgbClr val="9FB3C8"/>
                </a:solidFill>
                <a:latin typeface="Baskerville Old Face" panose="02020602080505020303" pitchFamily="18" charset="0"/>
                <a:ea typeface="Calibri" pitchFamily="34" charset="-122"/>
                <a:cs typeface="Calibri" pitchFamily="34" charset="-120"/>
              </a:rPr>
              <a:t>piste</a:t>
            </a:r>
            <a:r>
              <a:rPr lang="en-US" sz="2175" dirty="0">
                <a:solidFill>
                  <a:srgbClr val="9FB3C8"/>
                </a:solidFill>
                <a:latin typeface="Baskerville Old Face" panose="02020602080505020303" pitchFamily="18" charset="0"/>
                <a:ea typeface="Calibri" pitchFamily="34" charset="-122"/>
                <a:cs typeface="Calibri" pitchFamily="34" charset="-120"/>
              </a:rPr>
              <a:t> : détecter l'approche ou le départ d'un avion et l'indiquer visuellement, en temps réel, aux appareils en vol.</a:t>
            </a:r>
            <a:endParaRPr lang="en-US" sz="2175" dirty="0">
              <a:latin typeface="Baskerville Old Face" panose="02020602080505020303" pitchFamily="18" charset="0"/>
            </a:endParaRPr>
          </a:p>
        </p:txBody>
      </p:sp>
      <p:sp>
        <p:nvSpPr>
          <p:cNvPr id="5" name="Shape 3"/>
          <p:cNvSpPr/>
          <p:nvPr/>
        </p:nvSpPr>
        <p:spPr>
          <a:xfrm>
            <a:off x="960120" y="3771900"/>
            <a:ext cx="3909060" cy="4046220"/>
          </a:xfrm>
          <a:prstGeom prst="roundRect">
            <a:avLst>
              <a:gd name="adj" fmla="val 2807"/>
            </a:avLst>
          </a:prstGeom>
          <a:solidFill>
            <a:srgbClr val="112A40"/>
          </a:solidFill>
          <a:ln/>
        </p:spPr>
      </p:sp>
      <p:sp>
        <p:nvSpPr>
          <p:cNvPr id="6" name="Shape 4"/>
          <p:cNvSpPr/>
          <p:nvPr/>
        </p:nvSpPr>
        <p:spPr>
          <a:xfrm>
            <a:off x="1207008" y="4155948"/>
            <a:ext cx="960120" cy="960120"/>
          </a:xfrm>
          <a:prstGeom prst="ellipse">
            <a:avLst/>
          </a:prstGeom>
          <a:solidFill>
            <a:srgbClr val="0B1B2B"/>
          </a:solidFill>
          <a:ln w="15875">
            <a:solidFill>
              <a:srgbClr val="FFC857"/>
            </a:solidFill>
            <a:prstDash val="solid"/>
          </a:ln>
        </p:spPr>
      </p:sp>
      <p:sp>
        <p:nvSpPr>
          <p:cNvPr id="7" name="Text 5"/>
          <p:cNvSpPr/>
          <p:nvPr/>
        </p:nvSpPr>
        <p:spPr>
          <a:xfrm>
            <a:off x="3977640" y="4046220"/>
            <a:ext cx="685800" cy="548640"/>
          </a:xfrm>
          <a:prstGeom prst="rect">
            <a:avLst/>
          </a:prstGeom>
          <a:noFill/>
          <a:ln/>
        </p:spPr>
        <p:txBody>
          <a:bodyPr wrap="square" lIns="0" tIns="0" rIns="0" bIns="0" rtlCol="0" anchor="ctr"/>
          <a:lstStyle/>
          <a:p>
            <a:pPr algn="r"/>
            <a:r>
              <a:rPr lang="en-US" sz="2400" b="1" dirty="0">
                <a:solidFill>
                  <a:srgbClr val="FFC857"/>
                </a:solidFill>
                <a:latin typeface="TT Supermolot Neue Expanded" panose="020B0604020202020204" charset="0"/>
                <a:ea typeface="Cambria" pitchFamily="34" charset="-122"/>
                <a:cs typeface="Cambria" pitchFamily="34" charset="-120"/>
              </a:rPr>
              <a:t>1</a:t>
            </a:r>
            <a:endParaRPr lang="en-US" sz="2400" dirty="0">
              <a:latin typeface="TT Supermolot Neue Expanded" panose="020B0604020202020204" charset="0"/>
            </a:endParaRPr>
          </a:p>
        </p:txBody>
      </p:sp>
      <p:sp>
        <p:nvSpPr>
          <p:cNvPr id="8" name="Text 6"/>
          <p:cNvSpPr/>
          <p:nvPr/>
        </p:nvSpPr>
        <p:spPr>
          <a:xfrm>
            <a:off x="1207008" y="5349240"/>
            <a:ext cx="3415284" cy="548640"/>
          </a:xfrm>
          <a:prstGeom prst="rect">
            <a:avLst/>
          </a:prstGeom>
          <a:noFill/>
          <a:ln/>
        </p:spPr>
        <p:txBody>
          <a:bodyPr wrap="square" lIns="0" tIns="0" rIns="0" bIns="0" rtlCol="0" anchor="ctr"/>
          <a:lstStyle/>
          <a:p>
            <a:r>
              <a:rPr lang="en-US" sz="2325" b="1" dirty="0">
                <a:solidFill>
                  <a:srgbClr val="EAF2F8"/>
                </a:solidFill>
                <a:latin typeface="TT Supermolot Neue Expanded" panose="020B0604020202020204" charset="0"/>
                <a:ea typeface="Calibri" pitchFamily="34" charset="-122"/>
                <a:cs typeface="Calibri" pitchFamily="34" charset="-120"/>
              </a:rPr>
              <a:t>Détection</a:t>
            </a:r>
            <a:endParaRPr lang="en-US" sz="2325" dirty="0">
              <a:latin typeface="TT Supermolot Neue Expanded" panose="020B0604020202020204" charset="0"/>
            </a:endParaRPr>
          </a:p>
        </p:txBody>
      </p:sp>
      <p:sp>
        <p:nvSpPr>
          <p:cNvPr id="9" name="Text 7"/>
          <p:cNvSpPr/>
          <p:nvPr/>
        </p:nvSpPr>
        <p:spPr>
          <a:xfrm>
            <a:off x="1207008" y="5966460"/>
            <a:ext cx="3415284" cy="1645920"/>
          </a:xfrm>
          <a:prstGeom prst="rect">
            <a:avLst/>
          </a:prstGeom>
          <a:noFill/>
          <a:ln/>
        </p:spPr>
        <p:txBody>
          <a:bodyPr wrap="square" lIns="0" tIns="0" rIns="0" bIns="0" rtlCol="0" anchor="t"/>
          <a:lstStyle/>
          <a:p>
            <a:pPr>
              <a:lnSpc>
                <a:spcPct val="150000"/>
              </a:lnSpc>
            </a:pPr>
            <a:r>
              <a:rPr lang="en-US" dirty="0">
                <a:solidFill>
                  <a:srgbClr val="9FB3C8"/>
                </a:solidFill>
                <a:latin typeface="Baskerville Old Face" panose="02020602080505020303" pitchFamily="18" charset="0"/>
                <a:ea typeface="Calibri" pitchFamily="34" charset="-122"/>
                <a:cs typeface="Calibri" pitchFamily="34" charset="-120"/>
              </a:rPr>
              <a:t>Un Capteur HC-SR04 mesure la distance d'un objet qui s'approche (simulant un avion).</a:t>
            </a:r>
            <a:endParaRPr lang="en-US" dirty="0">
              <a:latin typeface="Baskerville Old Face" panose="02020602080505020303" pitchFamily="18" charset="0"/>
            </a:endParaRPr>
          </a:p>
        </p:txBody>
      </p:sp>
      <p:sp>
        <p:nvSpPr>
          <p:cNvPr id="10" name="Shape 8"/>
          <p:cNvSpPr/>
          <p:nvPr/>
        </p:nvSpPr>
        <p:spPr>
          <a:xfrm>
            <a:off x="5212080" y="3771900"/>
            <a:ext cx="3909060" cy="4046220"/>
          </a:xfrm>
          <a:prstGeom prst="roundRect">
            <a:avLst>
              <a:gd name="adj" fmla="val 2807"/>
            </a:avLst>
          </a:prstGeom>
          <a:solidFill>
            <a:srgbClr val="112A40"/>
          </a:solidFill>
          <a:ln/>
        </p:spPr>
      </p:sp>
      <p:sp>
        <p:nvSpPr>
          <p:cNvPr id="11" name="Shape 9"/>
          <p:cNvSpPr/>
          <p:nvPr/>
        </p:nvSpPr>
        <p:spPr>
          <a:xfrm>
            <a:off x="5458968" y="4155948"/>
            <a:ext cx="960120" cy="960120"/>
          </a:xfrm>
          <a:prstGeom prst="ellipse">
            <a:avLst/>
          </a:prstGeom>
          <a:solidFill>
            <a:srgbClr val="0B1B2B"/>
          </a:solidFill>
          <a:ln w="15875">
            <a:solidFill>
              <a:srgbClr val="FFC857"/>
            </a:solidFill>
            <a:prstDash val="solid"/>
          </a:ln>
        </p:spPr>
      </p:sp>
      <p:sp>
        <p:nvSpPr>
          <p:cNvPr id="12" name="Text 10"/>
          <p:cNvSpPr/>
          <p:nvPr/>
        </p:nvSpPr>
        <p:spPr>
          <a:xfrm>
            <a:off x="8229600" y="4046220"/>
            <a:ext cx="685800" cy="548640"/>
          </a:xfrm>
          <a:prstGeom prst="rect">
            <a:avLst/>
          </a:prstGeom>
          <a:noFill/>
          <a:ln/>
        </p:spPr>
        <p:txBody>
          <a:bodyPr wrap="square" lIns="0" tIns="0" rIns="0" bIns="0" rtlCol="0" anchor="ctr"/>
          <a:lstStyle/>
          <a:p>
            <a:pPr algn="r"/>
            <a:r>
              <a:rPr lang="en-US" sz="2400" b="1" dirty="0">
                <a:solidFill>
                  <a:srgbClr val="FFC857"/>
                </a:solidFill>
                <a:latin typeface="TT Supermolot Neue Expanded" panose="020B0604020202020204" charset="0"/>
                <a:ea typeface="Cambria" pitchFamily="34" charset="-122"/>
                <a:cs typeface="Cambria" pitchFamily="34" charset="-120"/>
              </a:rPr>
              <a:t>2</a:t>
            </a:r>
            <a:endParaRPr lang="en-US" sz="2400" dirty="0">
              <a:latin typeface="TT Supermolot Neue Expanded" panose="020B0604020202020204" charset="0"/>
            </a:endParaRPr>
          </a:p>
        </p:txBody>
      </p:sp>
      <p:sp>
        <p:nvSpPr>
          <p:cNvPr id="13" name="Text 11"/>
          <p:cNvSpPr/>
          <p:nvPr/>
        </p:nvSpPr>
        <p:spPr>
          <a:xfrm>
            <a:off x="5458968" y="5349240"/>
            <a:ext cx="3415284" cy="548640"/>
          </a:xfrm>
          <a:prstGeom prst="rect">
            <a:avLst/>
          </a:prstGeom>
          <a:noFill/>
          <a:ln/>
        </p:spPr>
        <p:txBody>
          <a:bodyPr wrap="square" lIns="0" tIns="0" rIns="0" bIns="0" rtlCol="0" anchor="ctr"/>
          <a:lstStyle/>
          <a:p>
            <a:r>
              <a:rPr lang="en-US" sz="2325" b="1" dirty="0">
                <a:solidFill>
                  <a:srgbClr val="EAF2F8"/>
                </a:solidFill>
                <a:latin typeface="TT Supermolot Neue Expanded" panose="020B0604020202020204" charset="0"/>
                <a:ea typeface="Calibri" pitchFamily="34" charset="-122"/>
                <a:cs typeface="Calibri" pitchFamily="34" charset="-120"/>
              </a:rPr>
              <a:t>Animation</a:t>
            </a:r>
            <a:endParaRPr lang="en-US" sz="2325" dirty="0">
              <a:latin typeface="TT Supermolot Neue Expanded" panose="020B0604020202020204" charset="0"/>
            </a:endParaRPr>
          </a:p>
        </p:txBody>
      </p:sp>
      <p:sp>
        <p:nvSpPr>
          <p:cNvPr id="14" name="Text 12"/>
          <p:cNvSpPr/>
          <p:nvPr/>
        </p:nvSpPr>
        <p:spPr>
          <a:xfrm>
            <a:off x="5458968" y="5966460"/>
            <a:ext cx="3415284" cy="1645920"/>
          </a:xfrm>
          <a:prstGeom prst="rect">
            <a:avLst/>
          </a:prstGeom>
          <a:noFill/>
          <a:ln/>
        </p:spPr>
        <p:txBody>
          <a:bodyPr wrap="square" lIns="0" tIns="0" rIns="0" bIns="0" rtlCol="0" anchor="t"/>
          <a:lstStyle/>
          <a:p>
            <a:pPr>
              <a:lnSpc>
                <a:spcPct val="150000"/>
              </a:lnSpc>
            </a:pPr>
            <a:r>
              <a:rPr lang="en-US" dirty="0">
                <a:solidFill>
                  <a:srgbClr val="9FB3C8"/>
                </a:solidFill>
                <a:latin typeface="Baskerville Old Face" panose="02020602080505020303" pitchFamily="18" charset="0"/>
                <a:ea typeface="Calibri" pitchFamily="34" charset="-122"/>
                <a:cs typeface="Calibri" pitchFamily="34" charset="-120"/>
              </a:rPr>
              <a:t>Les LED s'allument en séquence pour signaler la détection.</a:t>
            </a:r>
            <a:endParaRPr lang="en-US" dirty="0">
              <a:latin typeface="Baskerville Old Face" panose="02020602080505020303" pitchFamily="18" charset="0"/>
            </a:endParaRPr>
          </a:p>
        </p:txBody>
      </p:sp>
      <p:sp>
        <p:nvSpPr>
          <p:cNvPr id="15" name="Shape 13"/>
          <p:cNvSpPr/>
          <p:nvPr/>
        </p:nvSpPr>
        <p:spPr>
          <a:xfrm>
            <a:off x="9464040" y="3771900"/>
            <a:ext cx="3909060" cy="4046220"/>
          </a:xfrm>
          <a:prstGeom prst="roundRect">
            <a:avLst>
              <a:gd name="adj" fmla="val 2807"/>
            </a:avLst>
          </a:prstGeom>
          <a:solidFill>
            <a:srgbClr val="112A40"/>
          </a:solidFill>
          <a:ln/>
        </p:spPr>
      </p:sp>
      <p:sp>
        <p:nvSpPr>
          <p:cNvPr id="16" name="Shape 14"/>
          <p:cNvSpPr/>
          <p:nvPr/>
        </p:nvSpPr>
        <p:spPr>
          <a:xfrm>
            <a:off x="9710928" y="4155948"/>
            <a:ext cx="960120" cy="960120"/>
          </a:xfrm>
          <a:prstGeom prst="ellipse">
            <a:avLst/>
          </a:prstGeom>
          <a:solidFill>
            <a:srgbClr val="0B1B2B"/>
          </a:solidFill>
          <a:ln w="15875">
            <a:solidFill>
              <a:srgbClr val="FFC857"/>
            </a:solidFill>
            <a:prstDash val="solid"/>
          </a:ln>
        </p:spPr>
      </p:sp>
      <p:sp>
        <p:nvSpPr>
          <p:cNvPr id="17" name="Text 15"/>
          <p:cNvSpPr/>
          <p:nvPr/>
        </p:nvSpPr>
        <p:spPr>
          <a:xfrm>
            <a:off x="12481560" y="4046220"/>
            <a:ext cx="685800" cy="548640"/>
          </a:xfrm>
          <a:prstGeom prst="rect">
            <a:avLst/>
          </a:prstGeom>
          <a:noFill/>
          <a:ln/>
        </p:spPr>
        <p:txBody>
          <a:bodyPr wrap="square" lIns="0" tIns="0" rIns="0" bIns="0" rtlCol="0" anchor="ctr"/>
          <a:lstStyle/>
          <a:p>
            <a:pPr algn="r"/>
            <a:r>
              <a:rPr lang="en-US" sz="2400" b="1" dirty="0">
                <a:solidFill>
                  <a:srgbClr val="FFC857"/>
                </a:solidFill>
                <a:latin typeface="TT Supermolot Neue Expanded" panose="020B0604020202020204" charset="0"/>
                <a:ea typeface="Cambria" pitchFamily="34" charset="-122"/>
                <a:cs typeface="Cambria" pitchFamily="34" charset="-120"/>
              </a:rPr>
              <a:t>3</a:t>
            </a:r>
            <a:endParaRPr lang="en-US" sz="2400" dirty="0">
              <a:latin typeface="TT Supermolot Neue Expanded" panose="020B0604020202020204" charset="0"/>
            </a:endParaRPr>
          </a:p>
        </p:txBody>
      </p:sp>
      <p:sp>
        <p:nvSpPr>
          <p:cNvPr id="18" name="Text 16"/>
          <p:cNvSpPr/>
          <p:nvPr/>
        </p:nvSpPr>
        <p:spPr>
          <a:xfrm>
            <a:off x="9710928" y="5349240"/>
            <a:ext cx="3415284" cy="548640"/>
          </a:xfrm>
          <a:prstGeom prst="rect">
            <a:avLst/>
          </a:prstGeom>
          <a:noFill/>
          <a:ln/>
        </p:spPr>
        <p:txBody>
          <a:bodyPr wrap="square" lIns="0" tIns="0" rIns="0" bIns="0" rtlCol="0" anchor="ctr"/>
          <a:lstStyle/>
          <a:p>
            <a:r>
              <a:rPr lang="en-US" sz="2325" b="1" dirty="0">
                <a:solidFill>
                  <a:srgbClr val="EAF2F8"/>
                </a:solidFill>
                <a:latin typeface="TT Supermolot Neue Expanded" panose="020B0604020202020204" charset="0"/>
                <a:ea typeface="Calibri" pitchFamily="34" charset="-122"/>
                <a:cs typeface="Calibri" pitchFamily="34" charset="-120"/>
              </a:rPr>
              <a:t>Information</a:t>
            </a:r>
            <a:endParaRPr lang="en-US" sz="2325" dirty="0">
              <a:latin typeface="TT Supermolot Neue Expanded" panose="020B0604020202020204" charset="0"/>
            </a:endParaRPr>
          </a:p>
        </p:txBody>
      </p:sp>
      <p:sp>
        <p:nvSpPr>
          <p:cNvPr id="19" name="Text 17"/>
          <p:cNvSpPr/>
          <p:nvPr/>
        </p:nvSpPr>
        <p:spPr>
          <a:xfrm>
            <a:off x="9710928" y="5966460"/>
            <a:ext cx="3415284" cy="1645920"/>
          </a:xfrm>
          <a:prstGeom prst="rect">
            <a:avLst/>
          </a:prstGeom>
          <a:noFill/>
          <a:ln/>
        </p:spPr>
        <p:txBody>
          <a:bodyPr wrap="square" lIns="0" tIns="0" rIns="0" bIns="0" rtlCol="0" anchor="t"/>
          <a:lstStyle/>
          <a:p>
            <a:pPr>
              <a:lnSpc>
                <a:spcPct val="150000"/>
              </a:lnSpc>
            </a:pPr>
            <a:r>
              <a:rPr lang="en-US" dirty="0">
                <a:solidFill>
                  <a:srgbClr val="9FB3C8"/>
                </a:solidFill>
                <a:latin typeface="Baskerville Old Face" panose="02020602080505020303" pitchFamily="18" charset="0"/>
                <a:ea typeface="Calibri" pitchFamily="34" charset="-122"/>
                <a:cs typeface="Calibri" pitchFamily="34" charset="-120"/>
              </a:rPr>
              <a:t>La distance en temps réel indique si la </a:t>
            </a:r>
            <a:r>
              <a:rPr lang="en-US" dirty="0" err="1">
                <a:solidFill>
                  <a:srgbClr val="9FB3C8"/>
                </a:solidFill>
                <a:latin typeface="Baskerville Old Face" panose="02020602080505020303" pitchFamily="18" charset="0"/>
                <a:ea typeface="Calibri" pitchFamily="34" charset="-122"/>
                <a:cs typeface="Calibri" pitchFamily="34" charset="-120"/>
              </a:rPr>
              <a:t>piste</a:t>
            </a:r>
            <a:r>
              <a:rPr lang="en-US" dirty="0">
                <a:solidFill>
                  <a:srgbClr val="9FB3C8"/>
                </a:solidFill>
                <a:latin typeface="Baskerville Old Face" panose="02020602080505020303" pitchFamily="18" charset="0"/>
                <a:ea typeface="Calibri" pitchFamily="34" charset="-122"/>
                <a:cs typeface="Calibri" pitchFamily="34" charset="-120"/>
              </a:rPr>
              <a:t> est libérée ou occupée.</a:t>
            </a:r>
            <a:endParaRPr lang="en-US" dirty="0">
              <a:latin typeface="Baskerville Old Face" panose="02020602080505020303" pitchFamily="18" charset="0"/>
            </a:endParaRPr>
          </a:p>
        </p:txBody>
      </p:sp>
      <p:sp>
        <p:nvSpPr>
          <p:cNvPr id="20" name="Shape 18"/>
          <p:cNvSpPr/>
          <p:nvPr/>
        </p:nvSpPr>
        <p:spPr>
          <a:xfrm>
            <a:off x="13716000" y="3771900"/>
            <a:ext cx="3909060" cy="4046220"/>
          </a:xfrm>
          <a:prstGeom prst="roundRect">
            <a:avLst>
              <a:gd name="adj" fmla="val 2807"/>
            </a:avLst>
          </a:prstGeom>
          <a:solidFill>
            <a:srgbClr val="112A40"/>
          </a:solidFill>
          <a:ln/>
        </p:spPr>
      </p:sp>
      <p:sp>
        <p:nvSpPr>
          <p:cNvPr id="21" name="Shape 19"/>
          <p:cNvSpPr/>
          <p:nvPr/>
        </p:nvSpPr>
        <p:spPr>
          <a:xfrm>
            <a:off x="13962888" y="4155948"/>
            <a:ext cx="960120" cy="960120"/>
          </a:xfrm>
          <a:prstGeom prst="ellipse">
            <a:avLst/>
          </a:prstGeom>
          <a:solidFill>
            <a:srgbClr val="0B1B2B"/>
          </a:solidFill>
          <a:ln w="15875">
            <a:solidFill>
              <a:srgbClr val="FFC857"/>
            </a:solidFill>
            <a:prstDash val="solid"/>
          </a:ln>
        </p:spPr>
      </p:sp>
      <p:sp>
        <p:nvSpPr>
          <p:cNvPr id="22" name="Text 20"/>
          <p:cNvSpPr/>
          <p:nvPr/>
        </p:nvSpPr>
        <p:spPr>
          <a:xfrm>
            <a:off x="16733520" y="4046220"/>
            <a:ext cx="685800" cy="548640"/>
          </a:xfrm>
          <a:prstGeom prst="rect">
            <a:avLst/>
          </a:prstGeom>
          <a:noFill/>
          <a:ln/>
        </p:spPr>
        <p:txBody>
          <a:bodyPr wrap="square" lIns="0" tIns="0" rIns="0" bIns="0" rtlCol="0" anchor="ctr"/>
          <a:lstStyle/>
          <a:p>
            <a:pPr algn="r"/>
            <a:r>
              <a:rPr lang="en-US" sz="2400" b="1" dirty="0">
                <a:solidFill>
                  <a:srgbClr val="FFC857"/>
                </a:solidFill>
                <a:latin typeface="TT Supermolot Neue Expanded" panose="020B0604020202020204" charset="0"/>
                <a:ea typeface="Cambria" pitchFamily="34" charset="-122"/>
                <a:cs typeface="Cambria" pitchFamily="34" charset="-120"/>
              </a:rPr>
              <a:t>4</a:t>
            </a:r>
            <a:endParaRPr lang="en-US" sz="2400" dirty="0">
              <a:latin typeface="TT Supermolot Neue Expanded" panose="020B0604020202020204" charset="0"/>
            </a:endParaRPr>
          </a:p>
        </p:txBody>
      </p:sp>
      <p:sp>
        <p:nvSpPr>
          <p:cNvPr id="23" name="Text 21"/>
          <p:cNvSpPr/>
          <p:nvPr/>
        </p:nvSpPr>
        <p:spPr>
          <a:xfrm>
            <a:off x="13962888" y="5349240"/>
            <a:ext cx="3415284" cy="548640"/>
          </a:xfrm>
          <a:prstGeom prst="rect">
            <a:avLst/>
          </a:prstGeom>
          <a:noFill/>
          <a:ln/>
        </p:spPr>
        <p:txBody>
          <a:bodyPr wrap="square" lIns="0" tIns="0" rIns="0" bIns="0" rtlCol="0" anchor="ctr"/>
          <a:lstStyle/>
          <a:p>
            <a:r>
              <a:rPr lang="en-US" sz="2325" b="1" dirty="0">
                <a:solidFill>
                  <a:srgbClr val="EAF2F8"/>
                </a:solidFill>
                <a:latin typeface="TT Supermolot Neue Expanded" panose="020B0604020202020204" charset="0"/>
                <a:ea typeface="Calibri" pitchFamily="34" charset="-122"/>
                <a:cs typeface="Calibri" pitchFamily="34" charset="-120"/>
              </a:rPr>
              <a:t>Pilotage</a:t>
            </a:r>
            <a:endParaRPr lang="en-US" sz="2325" dirty="0">
              <a:latin typeface="TT Supermolot Neue Expanded" panose="020B0604020202020204" charset="0"/>
            </a:endParaRPr>
          </a:p>
        </p:txBody>
      </p:sp>
      <p:sp>
        <p:nvSpPr>
          <p:cNvPr id="24" name="Text 22"/>
          <p:cNvSpPr/>
          <p:nvPr/>
        </p:nvSpPr>
        <p:spPr>
          <a:xfrm>
            <a:off x="13962888" y="5966460"/>
            <a:ext cx="3415284" cy="1645920"/>
          </a:xfrm>
          <a:prstGeom prst="rect">
            <a:avLst/>
          </a:prstGeom>
          <a:noFill/>
          <a:ln/>
        </p:spPr>
        <p:txBody>
          <a:bodyPr wrap="square" lIns="0" tIns="0" rIns="0" bIns="0" rtlCol="0" anchor="t"/>
          <a:lstStyle/>
          <a:p>
            <a:pPr>
              <a:lnSpc>
                <a:spcPct val="150000"/>
              </a:lnSpc>
            </a:pPr>
            <a:r>
              <a:rPr lang="en-US" dirty="0">
                <a:solidFill>
                  <a:srgbClr val="9FB3C8"/>
                </a:solidFill>
                <a:latin typeface="Baskerville Old Face" panose="02020602080505020303" pitchFamily="18" charset="0"/>
                <a:ea typeface="Calibri" pitchFamily="34" charset="-122"/>
                <a:cs typeface="Calibri" pitchFamily="34" charset="-120"/>
              </a:rPr>
              <a:t>Le HC-05 permet de garder le contrôle des modes via l'interface web.</a:t>
            </a:r>
            <a:endParaRPr lang="en-US" dirty="0">
              <a:latin typeface="Baskerville Old Face" panose="02020602080505020303" pitchFamily="18" charset="0"/>
            </a:endParaRPr>
          </a:p>
        </p:txBody>
      </p:sp>
      <p:sp>
        <p:nvSpPr>
          <p:cNvPr id="25" name="Text 23"/>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9FB3C8"/>
                </a:solidFill>
                <a:latin typeface="TT Supermolot Neue Expanded" panose="020B0604020202020204" charset="0"/>
                <a:ea typeface="Calibri" pitchFamily="34" charset="-122"/>
                <a:cs typeface="Calibri" pitchFamily="34" charset="-120"/>
              </a:rPr>
              <a:t>4</a:t>
            </a:r>
            <a:endParaRPr lang="en-US" sz="1650" dirty="0">
              <a:latin typeface="TT Supermolot Neue Expanded" panose="020B0604020202020204" charset="0"/>
            </a:endParaRPr>
          </a:p>
        </p:txBody>
      </p:sp>
      <p:sp>
        <p:nvSpPr>
          <p:cNvPr id="26" name="Text 24"/>
          <p:cNvSpPr/>
          <p:nvPr/>
        </p:nvSpPr>
        <p:spPr>
          <a:xfrm>
            <a:off x="822960" y="9601200"/>
            <a:ext cx="6858000" cy="411480"/>
          </a:xfrm>
          <a:prstGeom prst="rect">
            <a:avLst/>
          </a:prstGeom>
          <a:noFill/>
          <a:ln/>
        </p:spPr>
        <p:txBody>
          <a:bodyPr wrap="square" lIns="0" tIns="0" rIns="0" bIns="0" rtlCol="0" anchor="ctr"/>
          <a:lstStyle/>
          <a:p>
            <a:r>
              <a:rPr lang="en-US" sz="1500" dirty="0">
                <a:solidFill>
                  <a:srgbClr val="9FB3C8"/>
                </a:solidFill>
                <a:latin typeface="TT Supermolot Neue Expanded" panose="020B0604020202020204" charset="0"/>
                <a:ea typeface="Calibri" pitchFamily="34" charset="-122"/>
                <a:cs typeface="Calibri" pitchFamily="34" charset="-120"/>
              </a:rPr>
              <a:t>Objets Connectés  Piste Intelligente</a:t>
            </a:r>
            <a:endParaRPr lang="en-US" sz="1500" dirty="0">
              <a:latin typeface="TT Supermolot Neue Expanded" panose="020B0604020202020204" charset="0"/>
            </a:endParaRPr>
          </a:p>
        </p:txBody>
      </p:sp>
      <p:pic>
        <p:nvPicPr>
          <p:cNvPr id="1026" name="Picture 2" descr="Detect Location Icons - Free SVG &amp; PNG Detect Location ...">
            <a:extLst>
              <a:ext uri="{FF2B5EF4-FFF2-40B4-BE49-F238E27FC236}">
                <a16:creationId xmlns:a16="http://schemas.microsoft.com/office/drawing/2014/main" id="{75F54FC9-9F81-46F4-8DAE-341D6FB43C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9586" y="4393975"/>
            <a:ext cx="514964" cy="4840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cône De Roue De Bateau De Pilotage Sur Fond Blanc Clip Art Libres De  Droits, Svg, Vecteurs Et Illustration. Image 11237027">
            <a:extLst>
              <a:ext uri="{FF2B5EF4-FFF2-40B4-BE49-F238E27FC236}">
                <a16:creationId xmlns:a16="http://schemas.microsoft.com/office/drawing/2014/main" id="{C11F41D9-957B-4B81-91BC-27006DEC637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166456" y="4359515"/>
            <a:ext cx="552984" cy="5529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E0A93A"/>
                </a:solidFill>
                <a:latin typeface="Calibri" pitchFamily="34" charset="0"/>
                <a:ea typeface="Calibri" pitchFamily="34" charset="-122"/>
                <a:cs typeface="Calibri" pitchFamily="34" charset="-120"/>
              </a:rPr>
              <a:t>03</a:t>
            </a:r>
            <a:endParaRPr lang="en-US" sz="2100" dirty="0"/>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0B1B2B"/>
                </a:solidFill>
                <a:latin typeface="TT Supermolot Neue Expanded" panose="020B0604020202020204" charset="0"/>
                <a:ea typeface="Cambria" pitchFamily="34" charset="-122"/>
                <a:cs typeface="Cambria" pitchFamily="34" charset="-120"/>
              </a:rPr>
              <a:t>Outlies utilisés</a:t>
            </a:r>
            <a:endParaRPr lang="en-US" sz="4500" dirty="0">
              <a:latin typeface="TT Supermolot Neue Expanded" panose="020B0604020202020204" charset="0"/>
            </a:endParaRPr>
          </a:p>
        </p:txBody>
      </p:sp>
      <p:sp>
        <p:nvSpPr>
          <p:cNvPr id="4" name="Shape 2"/>
          <p:cNvSpPr/>
          <p:nvPr/>
        </p:nvSpPr>
        <p:spPr>
          <a:xfrm>
            <a:off x="960120" y="2880360"/>
            <a:ext cx="5143500" cy="4800600"/>
          </a:xfrm>
          <a:prstGeom prst="roundRect">
            <a:avLst>
              <a:gd name="adj" fmla="val 2286"/>
            </a:avLst>
          </a:prstGeom>
          <a:solidFill>
            <a:srgbClr val="FFFFFF"/>
          </a:solidFill>
          <a:ln/>
          <a:effectLst>
            <a:outerShdw blurRad="101600" dist="38100" dir="5400000" algn="bl" rotWithShape="0">
              <a:srgbClr val="000000">
                <a:alpha val="10000"/>
              </a:srgbClr>
            </a:outerShdw>
          </a:effectLst>
        </p:spPr>
      </p:sp>
      <p:sp>
        <p:nvSpPr>
          <p:cNvPr id="5" name="Shape 3"/>
          <p:cNvSpPr/>
          <p:nvPr/>
        </p:nvSpPr>
        <p:spPr>
          <a:xfrm>
            <a:off x="1440180" y="3429000"/>
            <a:ext cx="1303020" cy="1303020"/>
          </a:xfrm>
          <a:prstGeom prst="ellipse">
            <a:avLst/>
          </a:prstGeom>
          <a:solidFill>
            <a:srgbClr val="0B1B2B"/>
          </a:solidFill>
          <a:ln/>
        </p:spPr>
      </p:sp>
      <p:sp>
        <p:nvSpPr>
          <p:cNvPr id="6" name="Text 4"/>
          <p:cNvSpPr/>
          <p:nvPr/>
        </p:nvSpPr>
        <p:spPr>
          <a:xfrm>
            <a:off x="1440180" y="5006340"/>
            <a:ext cx="4183380" cy="754380"/>
          </a:xfrm>
          <a:prstGeom prst="rect">
            <a:avLst/>
          </a:prstGeom>
          <a:noFill/>
          <a:ln/>
        </p:spPr>
        <p:txBody>
          <a:bodyPr wrap="square" lIns="0" tIns="0" rIns="0" bIns="0" rtlCol="0" anchor="ctr"/>
          <a:lstStyle/>
          <a:p>
            <a:r>
              <a:rPr lang="en-US" sz="2475" b="1" dirty="0">
                <a:solidFill>
                  <a:srgbClr val="0B1B2B"/>
                </a:solidFill>
                <a:latin typeface="Calibri" pitchFamily="34" charset="0"/>
                <a:ea typeface="Calibri" pitchFamily="34" charset="-122"/>
                <a:cs typeface="Calibri" pitchFamily="34" charset="-120"/>
              </a:rPr>
              <a:t>Arduino IDE</a:t>
            </a:r>
            <a:endParaRPr lang="en-US" sz="2475" dirty="0"/>
          </a:p>
        </p:txBody>
      </p:sp>
      <p:sp>
        <p:nvSpPr>
          <p:cNvPr id="7" name="Text 5"/>
          <p:cNvSpPr/>
          <p:nvPr/>
        </p:nvSpPr>
        <p:spPr>
          <a:xfrm>
            <a:off x="1440180" y="5829300"/>
            <a:ext cx="4183380" cy="1645920"/>
          </a:xfrm>
          <a:prstGeom prst="rect">
            <a:avLst/>
          </a:prstGeom>
          <a:noFill/>
          <a:ln/>
        </p:spPr>
        <p:txBody>
          <a:bodyPr wrap="square" lIns="0" tIns="0" rIns="0" bIns="0" rtlCol="0" anchor="t"/>
          <a:lstStyle/>
          <a:p>
            <a:pPr>
              <a:lnSpc>
                <a:spcPct val="150000"/>
              </a:lnSpc>
            </a:pPr>
            <a:r>
              <a:rPr lang="en-US" sz="1875" dirty="0">
                <a:solidFill>
                  <a:srgbClr val="5A7184"/>
                </a:solidFill>
                <a:latin typeface="Baskerville Old Face" panose="02020602080505020303" pitchFamily="18" charset="0"/>
                <a:ea typeface="Calibri" pitchFamily="34" charset="-122"/>
                <a:cs typeface="Calibri" pitchFamily="34" charset="-120"/>
              </a:rPr>
              <a:t>Environnement utilisé pour écrire et envoyer le programme (croquis) sur la carte Arduino Uno via USB.</a:t>
            </a:r>
            <a:endParaRPr lang="en-US" sz="1875" dirty="0">
              <a:latin typeface="Baskerville Old Face" panose="02020602080505020303" pitchFamily="18" charset="0"/>
            </a:endParaRPr>
          </a:p>
        </p:txBody>
      </p:sp>
      <p:sp>
        <p:nvSpPr>
          <p:cNvPr id="8" name="Shape 6"/>
          <p:cNvSpPr/>
          <p:nvPr/>
        </p:nvSpPr>
        <p:spPr>
          <a:xfrm>
            <a:off x="6542532" y="2880360"/>
            <a:ext cx="5143500" cy="4800600"/>
          </a:xfrm>
          <a:prstGeom prst="roundRect">
            <a:avLst>
              <a:gd name="adj" fmla="val 2286"/>
            </a:avLst>
          </a:prstGeom>
          <a:solidFill>
            <a:srgbClr val="FFFFFF"/>
          </a:solidFill>
          <a:ln/>
          <a:effectLst>
            <a:outerShdw blurRad="101600" dist="38100" dir="5400000" algn="bl" rotWithShape="0">
              <a:srgbClr val="000000">
                <a:alpha val="10000"/>
              </a:srgbClr>
            </a:outerShdw>
          </a:effectLst>
        </p:spPr>
      </p:sp>
      <p:sp>
        <p:nvSpPr>
          <p:cNvPr id="9" name="Shape 7"/>
          <p:cNvSpPr/>
          <p:nvPr/>
        </p:nvSpPr>
        <p:spPr>
          <a:xfrm>
            <a:off x="7022592" y="3429000"/>
            <a:ext cx="1303020" cy="1303020"/>
          </a:xfrm>
          <a:prstGeom prst="ellipse">
            <a:avLst/>
          </a:prstGeom>
          <a:solidFill>
            <a:srgbClr val="0B1B2B"/>
          </a:solidFill>
          <a:ln/>
        </p:spPr>
      </p:sp>
      <p:sp>
        <p:nvSpPr>
          <p:cNvPr id="10" name="Text 8"/>
          <p:cNvSpPr/>
          <p:nvPr/>
        </p:nvSpPr>
        <p:spPr>
          <a:xfrm>
            <a:off x="7022592" y="5006340"/>
            <a:ext cx="4183380" cy="754380"/>
          </a:xfrm>
          <a:prstGeom prst="rect">
            <a:avLst/>
          </a:prstGeom>
          <a:noFill/>
          <a:ln/>
        </p:spPr>
        <p:txBody>
          <a:bodyPr wrap="square" lIns="0" tIns="0" rIns="0" bIns="0" rtlCol="0" anchor="ctr"/>
          <a:lstStyle/>
          <a:p>
            <a:r>
              <a:rPr lang="en-US" sz="2475" b="1" dirty="0">
                <a:solidFill>
                  <a:srgbClr val="0B1B2B"/>
                </a:solidFill>
                <a:latin typeface="Calibri" pitchFamily="34" charset="0"/>
                <a:ea typeface="Calibri" pitchFamily="34" charset="-122"/>
                <a:cs typeface="Calibri" pitchFamily="34" charset="-120"/>
              </a:rPr>
              <a:t>Interface Web Bluetooth</a:t>
            </a:r>
            <a:endParaRPr lang="en-US" sz="2475" dirty="0"/>
          </a:p>
        </p:txBody>
      </p:sp>
      <p:sp>
        <p:nvSpPr>
          <p:cNvPr id="11" name="Text 9"/>
          <p:cNvSpPr/>
          <p:nvPr/>
        </p:nvSpPr>
        <p:spPr>
          <a:xfrm>
            <a:off x="7022592" y="5829300"/>
            <a:ext cx="4183380" cy="1645920"/>
          </a:xfrm>
          <a:prstGeom prst="rect">
            <a:avLst/>
          </a:prstGeom>
          <a:noFill/>
          <a:ln/>
        </p:spPr>
        <p:txBody>
          <a:bodyPr wrap="square" lIns="0" tIns="0" rIns="0" bIns="0" rtlCol="0" anchor="t"/>
          <a:lstStyle/>
          <a:p>
            <a:pPr>
              <a:lnSpc>
                <a:spcPct val="150000"/>
              </a:lnSpc>
            </a:pPr>
            <a:r>
              <a:rPr lang="en-US" sz="1875" dirty="0">
                <a:solidFill>
                  <a:srgbClr val="5A7184"/>
                </a:solidFill>
                <a:latin typeface="Baskerville Old Face" panose="02020602080505020303" pitchFamily="18" charset="0"/>
                <a:ea typeface="Calibri" pitchFamily="34" charset="-122"/>
                <a:cs typeface="Calibri" pitchFamily="34" charset="-120"/>
              </a:rPr>
              <a:t>Page web connectée au module HC-05 pour choisir le mode de fonctionnement de la guirlande à distance.</a:t>
            </a:r>
            <a:endParaRPr lang="en-US" sz="1875" dirty="0">
              <a:latin typeface="Baskerville Old Face" panose="02020602080505020303" pitchFamily="18" charset="0"/>
            </a:endParaRPr>
          </a:p>
        </p:txBody>
      </p:sp>
      <p:sp>
        <p:nvSpPr>
          <p:cNvPr id="12" name="Shape 10"/>
          <p:cNvSpPr/>
          <p:nvPr/>
        </p:nvSpPr>
        <p:spPr>
          <a:xfrm>
            <a:off x="12124944" y="2880360"/>
            <a:ext cx="5143500" cy="4800600"/>
          </a:xfrm>
          <a:prstGeom prst="roundRect">
            <a:avLst>
              <a:gd name="adj" fmla="val 2286"/>
            </a:avLst>
          </a:prstGeom>
          <a:solidFill>
            <a:srgbClr val="FFFFFF"/>
          </a:solidFill>
          <a:ln/>
          <a:effectLst>
            <a:outerShdw blurRad="101600" dist="38100" dir="5400000" algn="bl" rotWithShape="0">
              <a:srgbClr val="000000">
                <a:alpha val="10000"/>
              </a:srgbClr>
            </a:outerShdw>
          </a:effectLst>
        </p:spPr>
      </p:sp>
      <p:sp>
        <p:nvSpPr>
          <p:cNvPr id="13" name="Shape 11"/>
          <p:cNvSpPr/>
          <p:nvPr/>
        </p:nvSpPr>
        <p:spPr>
          <a:xfrm>
            <a:off x="12605004" y="3429000"/>
            <a:ext cx="1303020" cy="1303020"/>
          </a:xfrm>
          <a:prstGeom prst="ellipse">
            <a:avLst/>
          </a:prstGeom>
          <a:solidFill>
            <a:srgbClr val="0B1B2B"/>
          </a:solidFill>
          <a:ln/>
        </p:spPr>
      </p:sp>
      <p:sp>
        <p:nvSpPr>
          <p:cNvPr id="14" name="Text 12"/>
          <p:cNvSpPr/>
          <p:nvPr/>
        </p:nvSpPr>
        <p:spPr>
          <a:xfrm>
            <a:off x="12605004" y="5006340"/>
            <a:ext cx="4183380" cy="754380"/>
          </a:xfrm>
          <a:prstGeom prst="rect">
            <a:avLst/>
          </a:prstGeom>
          <a:noFill/>
          <a:ln/>
        </p:spPr>
        <p:txBody>
          <a:bodyPr wrap="square" lIns="0" tIns="0" rIns="0" bIns="0" rtlCol="0" anchor="ctr"/>
          <a:lstStyle/>
          <a:p>
            <a:r>
              <a:rPr lang="en-US" sz="2475" b="1" dirty="0">
                <a:solidFill>
                  <a:srgbClr val="0B1B2B"/>
                </a:solidFill>
                <a:latin typeface="Calibri" pitchFamily="34" charset="0"/>
                <a:ea typeface="Calibri" pitchFamily="34" charset="-122"/>
                <a:cs typeface="Calibri" pitchFamily="34" charset="-120"/>
              </a:rPr>
              <a:t>Matériel électronique</a:t>
            </a:r>
            <a:endParaRPr lang="en-US" sz="2475" dirty="0"/>
          </a:p>
        </p:txBody>
      </p:sp>
      <p:sp>
        <p:nvSpPr>
          <p:cNvPr id="15" name="Text 13"/>
          <p:cNvSpPr/>
          <p:nvPr/>
        </p:nvSpPr>
        <p:spPr>
          <a:xfrm>
            <a:off x="12605004" y="5829300"/>
            <a:ext cx="4183380" cy="1645920"/>
          </a:xfrm>
          <a:prstGeom prst="rect">
            <a:avLst/>
          </a:prstGeom>
          <a:noFill/>
          <a:ln/>
        </p:spPr>
        <p:txBody>
          <a:bodyPr wrap="square" lIns="0" tIns="0" rIns="0" bIns="0" rtlCol="0" anchor="t"/>
          <a:lstStyle/>
          <a:p>
            <a:pPr>
              <a:lnSpc>
                <a:spcPct val="150000"/>
              </a:lnSpc>
            </a:pPr>
            <a:r>
              <a:rPr lang="en-US" sz="1875" dirty="0">
                <a:solidFill>
                  <a:srgbClr val="5A7184"/>
                </a:solidFill>
                <a:latin typeface="Baskerville Old Face" panose="02020602080505020303" pitchFamily="18" charset="0"/>
                <a:ea typeface="Calibri" pitchFamily="34" charset="-122"/>
                <a:cs typeface="Calibri" pitchFamily="34" charset="-120"/>
              </a:rPr>
              <a:t>Arduino Uno, module HC-05, Capteur HC-SR04, 8 LED, breadboard et fils de connexion.</a:t>
            </a:r>
            <a:endParaRPr lang="en-US" sz="1875" dirty="0">
              <a:latin typeface="Baskerville Old Face" panose="02020602080505020303" pitchFamily="18" charset="0"/>
            </a:endParaRPr>
          </a:p>
        </p:txBody>
      </p:sp>
      <p:sp>
        <p:nvSpPr>
          <p:cNvPr id="16" name="Text 14"/>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5A7184"/>
                </a:solidFill>
                <a:latin typeface="Calibri" pitchFamily="34" charset="0"/>
                <a:ea typeface="Calibri" pitchFamily="34" charset="-122"/>
                <a:cs typeface="Calibri" pitchFamily="34" charset="-120"/>
              </a:rPr>
              <a:t>5</a:t>
            </a:r>
            <a:endParaRPr lang="en-US" sz="1650" dirty="0"/>
          </a:p>
        </p:txBody>
      </p:sp>
      <p:sp>
        <p:nvSpPr>
          <p:cNvPr id="17" name="Text 15"/>
          <p:cNvSpPr/>
          <p:nvPr/>
        </p:nvSpPr>
        <p:spPr>
          <a:xfrm>
            <a:off x="822960" y="9601200"/>
            <a:ext cx="6858000" cy="411480"/>
          </a:xfrm>
          <a:prstGeom prst="rect">
            <a:avLst/>
          </a:prstGeom>
          <a:noFill/>
          <a:ln/>
        </p:spPr>
        <p:txBody>
          <a:bodyPr wrap="square" lIns="0" tIns="0" rIns="0" bIns="0" rtlCol="0" anchor="ctr"/>
          <a:lstStyle/>
          <a:p>
            <a:r>
              <a:rPr lang="en-US" sz="1500" dirty="0">
                <a:solidFill>
                  <a:srgbClr val="5A7184"/>
                </a:solidFill>
                <a:latin typeface="Calibri" pitchFamily="34" charset="0"/>
                <a:ea typeface="Calibri" pitchFamily="34" charset="-122"/>
                <a:cs typeface="Calibri" pitchFamily="34" charset="-120"/>
              </a:rPr>
              <a:t>Objets Connectés — Piste Intelligente</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FFC857"/>
                </a:solidFill>
                <a:latin typeface="Calibri" pitchFamily="34" charset="0"/>
                <a:ea typeface="Calibri" pitchFamily="34" charset="-122"/>
                <a:cs typeface="Calibri" pitchFamily="34" charset="-120"/>
              </a:rPr>
              <a:t>04</a:t>
            </a:r>
            <a:endParaRPr lang="en-US" sz="2100" dirty="0"/>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EAF2F8"/>
                </a:solidFill>
                <a:latin typeface="TT Supermolot Neue Expanded" panose="020B0604020202020204" charset="0"/>
                <a:ea typeface="Cambria" pitchFamily="34" charset="-122"/>
                <a:cs typeface="Cambria" pitchFamily="34" charset="-120"/>
              </a:rPr>
              <a:t>Composants du système</a:t>
            </a:r>
            <a:endParaRPr lang="en-US" sz="4500" dirty="0">
              <a:latin typeface="TT Supermolot Neue Expanded" panose="020B0604020202020204" charset="0"/>
            </a:endParaRPr>
          </a:p>
        </p:txBody>
      </p:sp>
      <p:sp>
        <p:nvSpPr>
          <p:cNvPr id="4" name="Text 2"/>
          <p:cNvSpPr/>
          <p:nvPr/>
        </p:nvSpPr>
        <p:spPr>
          <a:xfrm>
            <a:off x="960120" y="1988820"/>
            <a:ext cx="12344400" cy="548640"/>
          </a:xfrm>
          <a:prstGeom prst="rect">
            <a:avLst/>
          </a:prstGeom>
          <a:noFill/>
          <a:ln/>
        </p:spPr>
        <p:txBody>
          <a:bodyPr wrap="square" lIns="0" tIns="0" rIns="0" bIns="0" rtlCol="0" anchor="ctr"/>
          <a:lstStyle/>
          <a:p>
            <a:r>
              <a:rPr lang="en-US" sz="2025" dirty="0">
                <a:solidFill>
                  <a:srgbClr val="9FB3C8"/>
                </a:solidFill>
                <a:latin typeface="Baskerville Old Face" panose="02020602080505020303" pitchFamily="18" charset="0"/>
                <a:ea typeface="Calibri" pitchFamily="34" charset="-122"/>
                <a:cs typeface="Calibri" pitchFamily="34" charset="-120"/>
              </a:rPr>
              <a:t>5 éléments matériels assemblent l'ensemble du dispositif</a:t>
            </a:r>
            <a:endParaRPr lang="en-US" sz="2025" dirty="0">
              <a:latin typeface="Baskerville Old Face" panose="02020602080505020303" pitchFamily="18" charset="0"/>
            </a:endParaRPr>
          </a:p>
        </p:txBody>
      </p:sp>
      <p:sp>
        <p:nvSpPr>
          <p:cNvPr id="5" name="Shape 3"/>
          <p:cNvSpPr/>
          <p:nvPr/>
        </p:nvSpPr>
        <p:spPr>
          <a:xfrm>
            <a:off x="960120" y="2880360"/>
            <a:ext cx="2990088" cy="4869180"/>
          </a:xfrm>
          <a:prstGeom prst="roundRect">
            <a:avLst>
              <a:gd name="adj" fmla="val 3211"/>
            </a:avLst>
          </a:prstGeom>
          <a:solidFill>
            <a:srgbClr val="112A40"/>
          </a:solidFill>
          <a:ln/>
        </p:spPr>
      </p:sp>
      <p:sp>
        <p:nvSpPr>
          <p:cNvPr id="6" name="Shape 4"/>
          <p:cNvSpPr/>
          <p:nvPr/>
        </p:nvSpPr>
        <p:spPr>
          <a:xfrm>
            <a:off x="1165860" y="3127248"/>
            <a:ext cx="2578608" cy="2125980"/>
          </a:xfrm>
          <a:prstGeom prst="roundRect">
            <a:avLst>
              <a:gd name="adj" fmla="val 3226"/>
            </a:avLst>
          </a:prstGeom>
          <a:solidFill>
            <a:srgbClr val="0B1B2B"/>
          </a:solidFill>
          <a:ln w="12700">
            <a:solidFill>
              <a:srgbClr val="27445E"/>
            </a:solidFill>
            <a:prstDash val="dash"/>
          </a:ln>
        </p:spPr>
      </p:sp>
      <p:sp>
        <p:nvSpPr>
          <p:cNvPr id="7" name="Text 5"/>
          <p:cNvSpPr/>
          <p:nvPr/>
        </p:nvSpPr>
        <p:spPr>
          <a:xfrm>
            <a:off x="1124712" y="5417820"/>
            <a:ext cx="2660904" cy="891540"/>
          </a:xfrm>
          <a:prstGeom prst="rect">
            <a:avLst/>
          </a:prstGeom>
          <a:noFill/>
          <a:ln/>
        </p:spPr>
        <p:txBody>
          <a:bodyPr wrap="square" lIns="0" tIns="0" rIns="0" bIns="0" rtlCol="0" anchor="t"/>
          <a:lstStyle/>
          <a:p>
            <a:pPr algn="ctr"/>
            <a:r>
              <a:rPr lang="en-US" sz="1950" b="1" dirty="0">
                <a:solidFill>
                  <a:srgbClr val="EAF2F8"/>
                </a:solidFill>
                <a:latin typeface="Baskerville Old Face" panose="02020602080505020303" pitchFamily="18" charset="0"/>
                <a:ea typeface="Calibri" pitchFamily="34" charset="-122"/>
                <a:cs typeface="Calibri" pitchFamily="34" charset="-120"/>
              </a:rPr>
              <a:t>Arduino Uno</a:t>
            </a:r>
            <a:endParaRPr lang="en-US" sz="1950" dirty="0">
              <a:latin typeface="Baskerville Old Face" panose="02020602080505020303" pitchFamily="18" charset="0"/>
            </a:endParaRPr>
          </a:p>
        </p:txBody>
      </p:sp>
      <p:sp>
        <p:nvSpPr>
          <p:cNvPr id="8" name="Text 6"/>
          <p:cNvSpPr/>
          <p:nvPr/>
        </p:nvSpPr>
        <p:spPr>
          <a:xfrm>
            <a:off x="1124712" y="6309360"/>
            <a:ext cx="2660904" cy="1234440"/>
          </a:xfrm>
          <a:prstGeom prst="rect">
            <a:avLst/>
          </a:prstGeom>
          <a:noFill/>
          <a:ln/>
        </p:spPr>
        <p:txBody>
          <a:bodyPr wrap="square" lIns="0" tIns="0" rIns="0" bIns="0" rtlCol="0" anchor="t"/>
          <a:lstStyle/>
          <a:p>
            <a:pPr algn="ctr"/>
            <a:r>
              <a:rPr lang="en-US" sz="1575" dirty="0">
                <a:solidFill>
                  <a:srgbClr val="9FB3C8"/>
                </a:solidFill>
                <a:latin typeface="Baskerville Old Face" panose="02020602080505020303" pitchFamily="18" charset="0"/>
                <a:ea typeface="Calibri" pitchFamily="34" charset="-122"/>
                <a:cs typeface="Calibri" pitchFamily="34" charset="-120"/>
              </a:rPr>
              <a:t>Microcontrôleur central</a:t>
            </a:r>
            <a:endParaRPr lang="en-US" sz="1575" dirty="0">
              <a:latin typeface="Baskerville Old Face" panose="02020602080505020303" pitchFamily="18" charset="0"/>
            </a:endParaRPr>
          </a:p>
        </p:txBody>
      </p:sp>
      <p:sp>
        <p:nvSpPr>
          <p:cNvPr id="9" name="Shape 7"/>
          <p:cNvSpPr/>
          <p:nvPr/>
        </p:nvSpPr>
        <p:spPr>
          <a:xfrm>
            <a:off x="4197096" y="2880360"/>
            <a:ext cx="2990088" cy="4869180"/>
          </a:xfrm>
          <a:prstGeom prst="roundRect">
            <a:avLst>
              <a:gd name="adj" fmla="val 3211"/>
            </a:avLst>
          </a:prstGeom>
          <a:solidFill>
            <a:srgbClr val="112A40"/>
          </a:solidFill>
          <a:ln/>
        </p:spPr>
      </p:sp>
      <p:sp>
        <p:nvSpPr>
          <p:cNvPr id="10" name="Shape 8"/>
          <p:cNvSpPr/>
          <p:nvPr/>
        </p:nvSpPr>
        <p:spPr>
          <a:xfrm>
            <a:off x="4402836" y="3127248"/>
            <a:ext cx="2578608" cy="2125980"/>
          </a:xfrm>
          <a:prstGeom prst="roundRect">
            <a:avLst>
              <a:gd name="adj" fmla="val 3226"/>
            </a:avLst>
          </a:prstGeom>
          <a:solidFill>
            <a:srgbClr val="0B1B2B"/>
          </a:solidFill>
          <a:ln w="12700">
            <a:solidFill>
              <a:srgbClr val="27445E"/>
            </a:solidFill>
            <a:prstDash val="dash"/>
          </a:ln>
        </p:spPr>
      </p:sp>
      <p:sp>
        <p:nvSpPr>
          <p:cNvPr id="11" name="Text 9"/>
          <p:cNvSpPr/>
          <p:nvPr/>
        </p:nvSpPr>
        <p:spPr>
          <a:xfrm>
            <a:off x="4361688" y="5417820"/>
            <a:ext cx="2660904" cy="891540"/>
          </a:xfrm>
          <a:prstGeom prst="rect">
            <a:avLst/>
          </a:prstGeom>
          <a:noFill/>
          <a:ln/>
        </p:spPr>
        <p:txBody>
          <a:bodyPr wrap="square" lIns="0" tIns="0" rIns="0" bIns="0" rtlCol="0" anchor="t"/>
          <a:lstStyle/>
          <a:p>
            <a:pPr algn="ctr"/>
            <a:r>
              <a:rPr lang="en-US" sz="1950" b="1" dirty="0">
                <a:solidFill>
                  <a:srgbClr val="EAF2F8"/>
                </a:solidFill>
                <a:latin typeface="Baskerville Old Face" panose="02020602080505020303" pitchFamily="18" charset="0"/>
                <a:ea typeface="Calibri" pitchFamily="34" charset="-122"/>
                <a:cs typeface="Calibri" pitchFamily="34" charset="-120"/>
              </a:rPr>
              <a:t>Module HC-05</a:t>
            </a:r>
            <a:endParaRPr lang="en-US" sz="1950" dirty="0">
              <a:latin typeface="Baskerville Old Face" panose="02020602080505020303" pitchFamily="18" charset="0"/>
            </a:endParaRPr>
          </a:p>
        </p:txBody>
      </p:sp>
      <p:sp>
        <p:nvSpPr>
          <p:cNvPr id="12" name="Text 10"/>
          <p:cNvSpPr/>
          <p:nvPr/>
        </p:nvSpPr>
        <p:spPr>
          <a:xfrm>
            <a:off x="4361688" y="6309360"/>
            <a:ext cx="2660904" cy="1234440"/>
          </a:xfrm>
          <a:prstGeom prst="rect">
            <a:avLst/>
          </a:prstGeom>
          <a:noFill/>
          <a:ln/>
        </p:spPr>
        <p:txBody>
          <a:bodyPr wrap="square" lIns="0" tIns="0" rIns="0" bIns="0" rtlCol="0" anchor="t"/>
          <a:lstStyle/>
          <a:p>
            <a:pPr algn="ctr"/>
            <a:r>
              <a:rPr lang="en-US" sz="1575" dirty="0">
                <a:solidFill>
                  <a:srgbClr val="9FB3C8"/>
                </a:solidFill>
                <a:latin typeface="Baskerville Old Face" panose="02020602080505020303" pitchFamily="18" charset="0"/>
                <a:ea typeface="Calibri" pitchFamily="34" charset="-122"/>
                <a:cs typeface="Calibri" pitchFamily="34" charset="-120"/>
              </a:rPr>
              <a:t>Communication Bluetooth</a:t>
            </a:r>
            <a:endParaRPr lang="en-US" sz="1575" dirty="0">
              <a:latin typeface="Baskerville Old Face" panose="02020602080505020303" pitchFamily="18" charset="0"/>
            </a:endParaRPr>
          </a:p>
        </p:txBody>
      </p:sp>
      <p:sp>
        <p:nvSpPr>
          <p:cNvPr id="13" name="Shape 11"/>
          <p:cNvSpPr/>
          <p:nvPr/>
        </p:nvSpPr>
        <p:spPr>
          <a:xfrm>
            <a:off x="7434072" y="2880360"/>
            <a:ext cx="2990088" cy="4869180"/>
          </a:xfrm>
          <a:prstGeom prst="roundRect">
            <a:avLst>
              <a:gd name="adj" fmla="val 3211"/>
            </a:avLst>
          </a:prstGeom>
          <a:solidFill>
            <a:srgbClr val="112A40"/>
          </a:solidFill>
          <a:ln/>
        </p:spPr>
      </p:sp>
      <p:sp>
        <p:nvSpPr>
          <p:cNvPr id="14" name="Shape 12"/>
          <p:cNvSpPr/>
          <p:nvPr/>
        </p:nvSpPr>
        <p:spPr>
          <a:xfrm>
            <a:off x="7639812" y="3127248"/>
            <a:ext cx="2578608" cy="2125980"/>
          </a:xfrm>
          <a:prstGeom prst="roundRect">
            <a:avLst>
              <a:gd name="adj" fmla="val 3226"/>
            </a:avLst>
          </a:prstGeom>
          <a:solidFill>
            <a:srgbClr val="0B1B2B"/>
          </a:solidFill>
          <a:ln w="12700">
            <a:solidFill>
              <a:srgbClr val="27445E"/>
            </a:solidFill>
            <a:prstDash val="dash"/>
          </a:ln>
        </p:spPr>
      </p:sp>
      <p:sp>
        <p:nvSpPr>
          <p:cNvPr id="15" name="Text 13"/>
          <p:cNvSpPr/>
          <p:nvPr/>
        </p:nvSpPr>
        <p:spPr>
          <a:xfrm>
            <a:off x="7598664" y="5417820"/>
            <a:ext cx="2660904" cy="891540"/>
          </a:xfrm>
          <a:prstGeom prst="rect">
            <a:avLst/>
          </a:prstGeom>
          <a:noFill/>
          <a:ln/>
        </p:spPr>
        <p:txBody>
          <a:bodyPr wrap="square" lIns="0" tIns="0" rIns="0" bIns="0" rtlCol="0" anchor="t"/>
          <a:lstStyle/>
          <a:p>
            <a:pPr algn="ctr"/>
            <a:r>
              <a:rPr lang="en-US" sz="1950" b="1" dirty="0">
                <a:solidFill>
                  <a:srgbClr val="EAF2F8"/>
                </a:solidFill>
                <a:latin typeface="Baskerville Old Face" panose="02020602080505020303" pitchFamily="18" charset="0"/>
                <a:ea typeface="Calibri" pitchFamily="34" charset="-122"/>
                <a:cs typeface="Calibri" pitchFamily="34" charset="-120"/>
              </a:rPr>
              <a:t>Capteur HC-SR04</a:t>
            </a:r>
            <a:endParaRPr lang="en-US" sz="1950" dirty="0">
              <a:latin typeface="Baskerville Old Face" panose="02020602080505020303" pitchFamily="18" charset="0"/>
            </a:endParaRPr>
          </a:p>
        </p:txBody>
      </p:sp>
      <p:sp>
        <p:nvSpPr>
          <p:cNvPr id="16" name="Text 14"/>
          <p:cNvSpPr/>
          <p:nvPr/>
        </p:nvSpPr>
        <p:spPr>
          <a:xfrm>
            <a:off x="7598664" y="6309360"/>
            <a:ext cx="2660904" cy="1234440"/>
          </a:xfrm>
          <a:prstGeom prst="rect">
            <a:avLst/>
          </a:prstGeom>
          <a:noFill/>
          <a:ln/>
        </p:spPr>
        <p:txBody>
          <a:bodyPr wrap="square" lIns="0" tIns="0" rIns="0" bIns="0" rtlCol="0" anchor="t"/>
          <a:lstStyle/>
          <a:p>
            <a:pPr algn="ctr"/>
            <a:r>
              <a:rPr lang="en-US" sz="1575" dirty="0">
                <a:solidFill>
                  <a:srgbClr val="9FB3C8"/>
                </a:solidFill>
                <a:latin typeface="Baskerville Old Face" panose="02020602080505020303" pitchFamily="18" charset="0"/>
                <a:ea typeface="Calibri" pitchFamily="34" charset="-122"/>
                <a:cs typeface="Calibri" pitchFamily="34" charset="-120"/>
              </a:rPr>
              <a:t>Détection de distance</a:t>
            </a:r>
            <a:endParaRPr lang="en-US" sz="1575" dirty="0">
              <a:latin typeface="Baskerville Old Face" panose="02020602080505020303" pitchFamily="18" charset="0"/>
            </a:endParaRPr>
          </a:p>
        </p:txBody>
      </p:sp>
      <p:sp>
        <p:nvSpPr>
          <p:cNvPr id="17" name="Shape 15"/>
          <p:cNvSpPr/>
          <p:nvPr/>
        </p:nvSpPr>
        <p:spPr>
          <a:xfrm>
            <a:off x="10671048" y="2880360"/>
            <a:ext cx="2990088" cy="4869180"/>
          </a:xfrm>
          <a:prstGeom prst="roundRect">
            <a:avLst>
              <a:gd name="adj" fmla="val 3211"/>
            </a:avLst>
          </a:prstGeom>
          <a:solidFill>
            <a:srgbClr val="112A40"/>
          </a:solidFill>
          <a:ln/>
        </p:spPr>
      </p:sp>
      <p:sp>
        <p:nvSpPr>
          <p:cNvPr id="18" name="Shape 16"/>
          <p:cNvSpPr/>
          <p:nvPr/>
        </p:nvSpPr>
        <p:spPr>
          <a:xfrm>
            <a:off x="10876788" y="3127248"/>
            <a:ext cx="2578608" cy="2125980"/>
          </a:xfrm>
          <a:prstGeom prst="roundRect">
            <a:avLst>
              <a:gd name="adj" fmla="val 3226"/>
            </a:avLst>
          </a:prstGeom>
          <a:solidFill>
            <a:srgbClr val="0B1B2B"/>
          </a:solidFill>
          <a:ln w="12700">
            <a:solidFill>
              <a:srgbClr val="27445E"/>
            </a:solidFill>
            <a:prstDash val="dash"/>
          </a:ln>
        </p:spPr>
      </p:sp>
      <p:sp>
        <p:nvSpPr>
          <p:cNvPr id="19" name="Text 17"/>
          <p:cNvSpPr/>
          <p:nvPr/>
        </p:nvSpPr>
        <p:spPr>
          <a:xfrm>
            <a:off x="10835640" y="5417820"/>
            <a:ext cx="2660904" cy="891540"/>
          </a:xfrm>
          <a:prstGeom prst="rect">
            <a:avLst/>
          </a:prstGeom>
          <a:noFill/>
          <a:ln/>
        </p:spPr>
        <p:txBody>
          <a:bodyPr wrap="square" lIns="0" tIns="0" rIns="0" bIns="0" rtlCol="0" anchor="t"/>
          <a:lstStyle/>
          <a:p>
            <a:pPr algn="ctr"/>
            <a:r>
              <a:rPr lang="en-US" sz="1950" b="1" dirty="0">
                <a:solidFill>
                  <a:srgbClr val="EAF2F8"/>
                </a:solidFill>
                <a:latin typeface="Baskerville Old Face" panose="02020602080505020303" pitchFamily="18" charset="0"/>
                <a:ea typeface="Calibri" pitchFamily="34" charset="-122"/>
                <a:cs typeface="Calibri" pitchFamily="34" charset="-120"/>
              </a:rPr>
              <a:t>8 LED</a:t>
            </a:r>
            <a:endParaRPr lang="en-US" sz="1950" dirty="0">
              <a:latin typeface="Baskerville Old Face" panose="02020602080505020303" pitchFamily="18" charset="0"/>
            </a:endParaRPr>
          </a:p>
        </p:txBody>
      </p:sp>
      <p:sp>
        <p:nvSpPr>
          <p:cNvPr id="20" name="Text 18"/>
          <p:cNvSpPr/>
          <p:nvPr/>
        </p:nvSpPr>
        <p:spPr>
          <a:xfrm>
            <a:off x="10835640" y="6309360"/>
            <a:ext cx="2660904" cy="1234440"/>
          </a:xfrm>
          <a:prstGeom prst="rect">
            <a:avLst/>
          </a:prstGeom>
          <a:noFill/>
          <a:ln/>
        </p:spPr>
        <p:txBody>
          <a:bodyPr wrap="square" lIns="0" tIns="0" rIns="0" bIns="0" rtlCol="0" anchor="t"/>
          <a:lstStyle/>
          <a:p>
            <a:pPr algn="ctr"/>
            <a:r>
              <a:rPr lang="en-US" sz="1575" dirty="0">
                <a:solidFill>
                  <a:srgbClr val="9FB3C8"/>
                </a:solidFill>
                <a:latin typeface="Baskerville Old Face" panose="02020602080505020303" pitchFamily="18" charset="0"/>
                <a:ea typeface="Calibri" pitchFamily="34" charset="-122"/>
                <a:cs typeface="Calibri" pitchFamily="34" charset="-120"/>
              </a:rPr>
              <a:t>Signalisation lumineuse</a:t>
            </a:r>
            <a:endParaRPr lang="en-US" sz="1575" dirty="0">
              <a:latin typeface="Baskerville Old Face" panose="02020602080505020303" pitchFamily="18" charset="0"/>
            </a:endParaRPr>
          </a:p>
        </p:txBody>
      </p:sp>
      <p:sp>
        <p:nvSpPr>
          <p:cNvPr id="21" name="Shape 19"/>
          <p:cNvSpPr/>
          <p:nvPr/>
        </p:nvSpPr>
        <p:spPr>
          <a:xfrm>
            <a:off x="13908024" y="2880360"/>
            <a:ext cx="2990088" cy="4869180"/>
          </a:xfrm>
          <a:prstGeom prst="roundRect">
            <a:avLst>
              <a:gd name="adj" fmla="val 3211"/>
            </a:avLst>
          </a:prstGeom>
          <a:solidFill>
            <a:srgbClr val="112A40"/>
          </a:solidFill>
          <a:ln/>
        </p:spPr>
      </p:sp>
      <p:sp>
        <p:nvSpPr>
          <p:cNvPr id="22" name="Shape 20"/>
          <p:cNvSpPr/>
          <p:nvPr/>
        </p:nvSpPr>
        <p:spPr>
          <a:xfrm>
            <a:off x="14113764" y="3127248"/>
            <a:ext cx="2578608" cy="2125980"/>
          </a:xfrm>
          <a:prstGeom prst="roundRect">
            <a:avLst>
              <a:gd name="adj" fmla="val 3226"/>
            </a:avLst>
          </a:prstGeom>
          <a:solidFill>
            <a:srgbClr val="0B1B2B"/>
          </a:solidFill>
          <a:ln w="12700">
            <a:solidFill>
              <a:srgbClr val="27445E"/>
            </a:solidFill>
            <a:prstDash val="dash"/>
          </a:ln>
        </p:spPr>
      </p:sp>
      <p:sp>
        <p:nvSpPr>
          <p:cNvPr id="23" name="Text 21"/>
          <p:cNvSpPr/>
          <p:nvPr/>
        </p:nvSpPr>
        <p:spPr>
          <a:xfrm>
            <a:off x="14072616" y="5417820"/>
            <a:ext cx="2660904" cy="891540"/>
          </a:xfrm>
          <a:prstGeom prst="rect">
            <a:avLst/>
          </a:prstGeom>
          <a:noFill/>
          <a:ln/>
        </p:spPr>
        <p:txBody>
          <a:bodyPr wrap="square" lIns="0" tIns="0" rIns="0" bIns="0" rtlCol="0" anchor="t"/>
          <a:lstStyle/>
          <a:p>
            <a:pPr algn="ctr"/>
            <a:r>
              <a:rPr lang="en-US" sz="1950" b="1" dirty="0">
                <a:solidFill>
                  <a:srgbClr val="EAF2F8"/>
                </a:solidFill>
                <a:latin typeface="Baskerville Old Face" panose="02020602080505020303" pitchFamily="18" charset="0"/>
                <a:ea typeface="Calibri" pitchFamily="34" charset="-122"/>
                <a:cs typeface="Calibri" pitchFamily="34" charset="-120"/>
              </a:rPr>
              <a:t>Breadboard</a:t>
            </a:r>
            <a:endParaRPr lang="en-US" sz="1950" dirty="0">
              <a:latin typeface="Baskerville Old Face" panose="02020602080505020303" pitchFamily="18" charset="0"/>
            </a:endParaRPr>
          </a:p>
        </p:txBody>
      </p:sp>
      <p:sp>
        <p:nvSpPr>
          <p:cNvPr id="24" name="Text 22"/>
          <p:cNvSpPr/>
          <p:nvPr/>
        </p:nvSpPr>
        <p:spPr>
          <a:xfrm>
            <a:off x="14072616" y="6309360"/>
            <a:ext cx="2660904" cy="1234440"/>
          </a:xfrm>
          <a:prstGeom prst="rect">
            <a:avLst/>
          </a:prstGeom>
          <a:noFill/>
          <a:ln/>
        </p:spPr>
        <p:txBody>
          <a:bodyPr wrap="square" lIns="0" tIns="0" rIns="0" bIns="0" rtlCol="0" anchor="t"/>
          <a:lstStyle/>
          <a:p>
            <a:pPr algn="ctr"/>
            <a:r>
              <a:rPr lang="en-US" sz="1575" dirty="0">
                <a:solidFill>
                  <a:srgbClr val="9FB3C8"/>
                </a:solidFill>
                <a:latin typeface="Baskerville Old Face" panose="02020602080505020303" pitchFamily="18" charset="0"/>
                <a:ea typeface="Calibri" pitchFamily="34" charset="-122"/>
                <a:cs typeface="Calibri" pitchFamily="34" charset="-120"/>
              </a:rPr>
              <a:t>Plateforme de montage</a:t>
            </a:r>
            <a:endParaRPr lang="en-US" sz="1575" dirty="0">
              <a:latin typeface="Baskerville Old Face" panose="02020602080505020303" pitchFamily="18" charset="0"/>
            </a:endParaRPr>
          </a:p>
        </p:txBody>
      </p:sp>
      <p:sp>
        <p:nvSpPr>
          <p:cNvPr id="25" name="Text 23"/>
          <p:cNvSpPr/>
          <p:nvPr/>
        </p:nvSpPr>
        <p:spPr>
          <a:xfrm>
            <a:off x="960120" y="8161020"/>
            <a:ext cx="16322040" cy="548640"/>
          </a:xfrm>
          <a:prstGeom prst="rect">
            <a:avLst/>
          </a:prstGeom>
          <a:noFill/>
          <a:ln/>
        </p:spPr>
        <p:txBody>
          <a:bodyPr wrap="square" lIns="0" tIns="0" rIns="0" bIns="0" rtlCol="0" anchor="ctr"/>
          <a:lstStyle/>
          <a:p>
            <a:r>
              <a:rPr lang="en-US" i="1" dirty="0">
                <a:solidFill>
                  <a:srgbClr val="FFC857"/>
                </a:solidFill>
                <a:latin typeface="Calibri" pitchFamily="34" charset="0"/>
                <a:ea typeface="Calibri" pitchFamily="34" charset="-122"/>
                <a:cs typeface="Calibri" pitchFamily="34" charset="-120"/>
              </a:rPr>
              <a:t>+ fils de connexion (Jumpers) pour relier l'ensemble des modules et Resistances</a:t>
            </a:r>
            <a:endParaRPr lang="en-US" dirty="0"/>
          </a:p>
        </p:txBody>
      </p:sp>
      <p:sp>
        <p:nvSpPr>
          <p:cNvPr id="26" name="Text 24"/>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9FB3C8"/>
                </a:solidFill>
                <a:latin typeface="Calibri" pitchFamily="34" charset="0"/>
                <a:ea typeface="Calibri" pitchFamily="34" charset="-122"/>
                <a:cs typeface="Calibri" pitchFamily="34" charset="-120"/>
              </a:rPr>
              <a:t>6</a:t>
            </a:r>
            <a:endParaRPr lang="en-US" sz="1650" dirty="0"/>
          </a:p>
        </p:txBody>
      </p:sp>
      <p:sp>
        <p:nvSpPr>
          <p:cNvPr id="27" name="Text 25"/>
          <p:cNvSpPr/>
          <p:nvPr/>
        </p:nvSpPr>
        <p:spPr>
          <a:xfrm>
            <a:off x="822960" y="9601200"/>
            <a:ext cx="6858000" cy="411480"/>
          </a:xfrm>
          <a:prstGeom prst="rect">
            <a:avLst/>
          </a:prstGeom>
          <a:noFill/>
          <a:ln/>
        </p:spPr>
        <p:txBody>
          <a:bodyPr wrap="square" lIns="0" tIns="0" rIns="0" bIns="0" rtlCol="0" anchor="ctr"/>
          <a:lstStyle/>
          <a:p>
            <a:r>
              <a:rPr lang="en-US" sz="1500" dirty="0">
                <a:solidFill>
                  <a:srgbClr val="9FB3C8"/>
                </a:solidFill>
                <a:latin typeface="Calibri" pitchFamily="34" charset="0"/>
                <a:ea typeface="Calibri" pitchFamily="34" charset="-122"/>
                <a:cs typeface="Calibri" pitchFamily="34" charset="-120"/>
              </a:rPr>
              <a:t>Objets Connectés — Piste Intelligente</a:t>
            </a:r>
            <a:endParaRPr lang="en-US" sz="1500" dirty="0"/>
          </a:p>
        </p:txBody>
      </p:sp>
      <p:pic>
        <p:nvPicPr>
          <p:cNvPr id="29" name="Image 28">
            <a:extLst>
              <a:ext uri="{FF2B5EF4-FFF2-40B4-BE49-F238E27FC236}">
                <a16:creationId xmlns:a16="http://schemas.microsoft.com/office/drawing/2014/main" id="{068AE5C9-D205-4104-BFC5-37AB7F1D0C65}"/>
              </a:ext>
            </a:extLst>
          </p:cNvPr>
          <p:cNvPicPr>
            <a:picLocks noChangeAspect="1"/>
          </p:cNvPicPr>
          <p:nvPr/>
        </p:nvPicPr>
        <p:blipFill>
          <a:blip r:embed="rId3"/>
          <a:stretch>
            <a:fillRect/>
          </a:stretch>
        </p:blipFill>
        <p:spPr>
          <a:xfrm>
            <a:off x="7639812" y="3169136"/>
            <a:ext cx="2578608" cy="2084093"/>
          </a:xfrm>
          <a:prstGeom prst="rect">
            <a:avLst/>
          </a:prstGeom>
        </p:spPr>
      </p:pic>
      <p:pic>
        <p:nvPicPr>
          <p:cNvPr id="31" name="Image 30">
            <a:extLst>
              <a:ext uri="{FF2B5EF4-FFF2-40B4-BE49-F238E27FC236}">
                <a16:creationId xmlns:a16="http://schemas.microsoft.com/office/drawing/2014/main" id="{FEBF786B-951B-4DEB-B05E-617B6D333EF8}"/>
              </a:ext>
            </a:extLst>
          </p:cNvPr>
          <p:cNvPicPr>
            <a:picLocks noChangeAspect="1"/>
          </p:cNvPicPr>
          <p:nvPr/>
        </p:nvPicPr>
        <p:blipFill>
          <a:blip r:embed="rId4"/>
          <a:stretch>
            <a:fillRect/>
          </a:stretch>
        </p:blipFill>
        <p:spPr>
          <a:xfrm>
            <a:off x="10876788" y="3127249"/>
            <a:ext cx="2578608" cy="2111525"/>
          </a:xfrm>
          <a:prstGeom prst="rect">
            <a:avLst/>
          </a:prstGeom>
        </p:spPr>
      </p:pic>
      <p:pic>
        <p:nvPicPr>
          <p:cNvPr id="33" name="Image 32">
            <a:extLst>
              <a:ext uri="{FF2B5EF4-FFF2-40B4-BE49-F238E27FC236}">
                <a16:creationId xmlns:a16="http://schemas.microsoft.com/office/drawing/2014/main" id="{2D54960C-9E7A-4FCD-9502-07F0BA709601}"/>
              </a:ext>
            </a:extLst>
          </p:cNvPr>
          <p:cNvPicPr>
            <a:picLocks noChangeAspect="1"/>
          </p:cNvPicPr>
          <p:nvPr/>
        </p:nvPicPr>
        <p:blipFill>
          <a:blip r:embed="rId5"/>
          <a:stretch>
            <a:fillRect/>
          </a:stretch>
        </p:blipFill>
        <p:spPr>
          <a:xfrm>
            <a:off x="14122908" y="3154680"/>
            <a:ext cx="2569464" cy="2125980"/>
          </a:xfrm>
          <a:prstGeom prst="rect">
            <a:avLst/>
          </a:prstGeom>
        </p:spPr>
      </p:pic>
      <p:pic>
        <p:nvPicPr>
          <p:cNvPr id="2050" name="Picture 2" descr="Arduino UNO Rev3 [A000066] - Carte de développement Polyvalente avec microcontrôleur ATmega328P, Compatible avec Arduino IDE, idéale pour débutants et projets électroniques, robotique et DIY. : Arduino®: Amazon.fr: Informatique">
            <a:extLst>
              <a:ext uri="{FF2B5EF4-FFF2-40B4-BE49-F238E27FC236}">
                <a16:creationId xmlns:a16="http://schemas.microsoft.com/office/drawing/2014/main" id="{536649A3-5200-410A-AE05-DA1A3DD9E1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4646" y="3127248"/>
            <a:ext cx="2559822" cy="21534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odule Bluetooth HC-05 4pin (maître + esclave) avec fabricants et fabricants de boutons en Chine - Liste de prix - Kuongshun Electronic">
            <a:extLst>
              <a:ext uri="{FF2B5EF4-FFF2-40B4-BE49-F238E27FC236}">
                <a16:creationId xmlns:a16="http://schemas.microsoft.com/office/drawing/2014/main" id="{E793738A-BE19-4D9B-BDEF-FF6B57F1DD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2836" y="3127247"/>
            <a:ext cx="2578608" cy="2111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E0A93A"/>
                </a:solidFill>
                <a:latin typeface="Calibri" pitchFamily="34" charset="0"/>
                <a:ea typeface="Calibri" pitchFamily="34" charset="-122"/>
                <a:cs typeface="Calibri" pitchFamily="34" charset="-120"/>
              </a:rPr>
              <a:t>04</a:t>
            </a:r>
            <a:endParaRPr lang="en-US" sz="2100" dirty="0"/>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0B1B2B"/>
                </a:solidFill>
                <a:latin typeface="TT Supermolot Neue Expanded" panose="020B0604020202020204" charset="0"/>
                <a:ea typeface="Cambria" pitchFamily="34" charset="-122"/>
                <a:cs typeface="Cambria" pitchFamily="34" charset="-120"/>
              </a:rPr>
              <a:t>Présentation des pièces</a:t>
            </a:r>
            <a:endParaRPr lang="en-US" sz="4500" dirty="0">
              <a:latin typeface="TT Supermolot Neue Expanded" panose="020B0604020202020204" charset="0"/>
            </a:endParaRPr>
          </a:p>
        </p:txBody>
      </p:sp>
      <p:sp>
        <p:nvSpPr>
          <p:cNvPr id="4" name="Shape 2"/>
          <p:cNvSpPr/>
          <p:nvPr/>
        </p:nvSpPr>
        <p:spPr>
          <a:xfrm>
            <a:off x="1645920" y="2537460"/>
            <a:ext cx="4373880" cy="3182112"/>
          </a:xfrm>
          <a:prstGeom prst="roundRect">
            <a:avLst>
              <a:gd name="adj" fmla="val 3256"/>
            </a:avLst>
          </a:prstGeom>
          <a:blipFill dpi="0" rotWithShape="1">
            <a:blip r:embed="rId3">
              <a:extLst>
                <a:ext uri="{28A0092B-C50C-407E-A947-70E740481C1C}">
                  <a14:useLocalDpi xmlns:a14="http://schemas.microsoft.com/office/drawing/2010/main" val="0"/>
                </a:ext>
              </a:extLst>
            </a:blip>
            <a:srcRect/>
            <a:stretch>
              <a:fillRect/>
            </a:stretch>
          </a:blipFill>
          <a:ln w="15875">
            <a:solidFill>
              <a:srgbClr val="C7D3DD"/>
            </a:solidFill>
            <a:prstDash val="dash"/>
          </a:ln>
        </p:spPr>
      </p:sp>
      <p:sp>
        <p:nvSpPr>
          <p:cNvPr id="6" name="Shape 4"/>
          <p:cNvSpPr/>
          <p:nvPr/>
        </p:nvSpPr>
        <p:spPr>
          <a:xfrm>
            <a:off x="1615440" y="5935980"/>
            <a:ext cx="822960" cy="822960"/>
          </a:xfrm>
          <a:prstGeom prst="ellipse">
            <a:avLst/>
          </a:prstGeom>
          <a:solidFill>
            <a:srgbClr val="0B1B2B"/>
          </a:solidFill>
          <a:ln/>
        </p:spPr>
      </p:sp>
      <p:sp>
        <p:nvSpPr>
          <p:cNvPr id="7" name="Text 5"/>
          <p:cNvSpPr/>
          <p:nvPr/>
        </p:nvSpPr>
        <p:spPr>
          <a:xfrm>
            <a:off x="2644140" y="5894832"/>
            <a:ext cx="6583680" cy="850392"/>
          </a:xfrm>
          <a:prstGeom prst="rect">
            <a:avLst/>
          </a:prstGeom>
          <a:noFill/>
          <a:ln/>
        </p:spPr>
        <p:txBody>
          <a:bodyPr wrap="square" lIns="0" tIns="0" rIns="0" bIns="0" rtlCol="0" anchor="ctr"/>
          <a:lstStyle/>
          <a:p>
            <a:r>
              <a:rPr lang="en-US" sz="2550" b="1" dirty="0">
                <a:solidFill>
                  <a:srgbClr val="0B1B2B"/>
                </a:solidFill>
                <a:latin typeface="Baskerville Old Face" panose="02020602080505020303" pitchFamily="18" charset="0"/>
                <a:ea typeface="Calibri" pitchFamily="34" charset="-122"/>
                <a:cs typeface="Calibri" pitchFamily="34" charset="-120"/>
              </a:rPr>
              <a:t>Arduino Uno</a:t>
            </a:r>
            <a:endParaRPr lang="en-US" sz="2550" dirty="0">
              <a:latin typeface="Baskerville Old Face" panose="02020602080505020303" pitchFamily="18" charset="0"/>
            </a:endParaRPr>
          </a:p>
        </p:txBody>
      </p:sp>
      <p:sp>
        <p:nvSpPr>
          <p:cNvPr id="8" name="Text 6"/>
          <p:cNvSpPr/>
          <p:nvPr/>
        </p:nvSpPr>
        <p:spPr>
          <a:xfrm>
            <a:off x="1615440" y="6964680"/>
            <a:ext cx="7680960" cy="2674620"/>
          </a:xfrm>
          <a:prstGeom prst="rect">
            <a:avLst/>
          </a:prstGeom>
          <a:noFill/>
          <a:ln/>
        </p:spPr>
        <p:txBody>
          <a:bodyPr wrap="square" rtlCol="0" anchor="t"/>
          <a:lstStyle/>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Microcontrôleur qui exécute le programme</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Reçoit les données du Capteur HC-SR04</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Pilote l'allumage des 8 LED</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Programmé via l'Arduino IDE en USB</a:t>
            </a:r>
            <a:endParaRPr lang="en-US" sz="1875" dirty="0">
              <a:latin typeface="Baskerville Old Face" panose="02020602080505020303" pitchFamily="18" charset="0"/>
            </a:endParaRPr>
          </a:p>
        </p:txBody>
      </p:sp>
      <p:sp>
        <p:nvSpPr>
          <p:cNvPr id="9" name="Shape 7"/>
          <p:cNvSpPr/>
          <p:nvPr/>
        </p:nvSpPr>
        <p:spPr>
          <a:xfrm>
            <a:off x="11125200" y="2537460"/>
            <a:ext cx="4572000" cy="3182112"/>
          </a:xfrm>
          <a:prstGeom prst="roundRect">
            <a:avLst>
              <a:gd name="adj" fmla="val 3256"/>
            </a:avLst>
          </a:prstGeom>
          <a:blipFill dpi="0" rotWithShape="1">
            <a:blip r:embed="rId4">
              <a:extLst>
                <a:ext uri="{28A0092B-C50C-407E-A947-70E740481C1C}">
                  <a14:useLocalDpi xmlns:a14="http://schemas.microsoft.com/office/drawing/2010/main" val="0"/>
                </a:ext>
              </a:extLst>
            </a:blip>
            <a:srcRect/>
            <a:stretch>
              <a:fillRect/>
            </a:stretch>
          </a:blipFill>
          <a:ln w="15875">
            <a:solidFill>
              <a:srgbClr val="C7D3DD"/>
            </a:solidFill>
            <a:prstDash val="dash"/>
          </a:ln>
        </p:spPr>
      </p:sp>
      <p:sp>
        <p:nvSpPr>
          <p:cNvPr id="11" name="Shape 9"/>
          <p:cNvSpPr/>
          <p:nvPr/>
        </p:nvSpPr>
        <p:spPr>
          <a:xfrm>
            <a:off x="11064240" y="5935980"/>
            <a:ext cx="822960" cy="822960"/>
          </a:xfrm>
          <a:prstGeom prst="ellipse">
            <a:avLst/>
          </a:prstGeom>
          <a:solidFill>
            <a:srgbClr val="0B1B2B"/>
          </a:solidFill>
          <a:ln/>
        </p:spPr>
      </p:sp>
      <p:sp>
        <p:nvSpPr>
          <p:cNvPr id="12" name="Text 10"/>
          <p:cNvSpPr/>
          <p:nvPr/>
        </p:nvSpPr>
        <p:spPr>
          <a:xfrm>
            <a:off x="12092940" y="5894832"/>
            <a:ext cx="6583680" cy="850392"/>
          </a:xfrm>
          <a:prstGeom prst="rect">
            <a:avLst/>
          </a:prstGeom>
          <a:noFill/>
          <a:ln/>
        </p:spPr>
        <p:txBody>
          <a:bodyPr wrap="square" lIns="0" tIns="0" rIns="0" bIns="0" rtlCol="0" anchor="ctr"/>
          <a:lstStyle/>
          <a:p>
            <a:r>
              <a:rPr lang="en-US" sz="2550" b="1" dirty="0">
                <a:solidFill>
                  <a:srgbClr val="0B1B2B"/>
                </a:solidFill>
                <a:latin typeface="Baskerville Old Face" panose="02020602080505020303" pitchFamily="18" charset="0"/>
                <a:ea typeface="Calibri" pitchFamily="34" charset="-122"/>
                <a:cs typeface="Calibri" pitchFamily="34" charset="-120"/>
              </a:rPr>
              <a:t>Module Bluetooth HC-05</a:t>
            </a:r>
            <a:endParaRPr lang="en-US" sz="2550" dirty="0">
              <a:latin typeface="Baskerville Old Face" panose="02020602080505020303" pitchFamily="18" charset="0"/>
            </a:endParaRPr>
          </a:p>
        </p:txBody>
      </p:sp>
      <p:sp>
        <p:nvSpPr>
          <p:cNvPr id="13" name="Text 11"/>
          <p:cNvSpPr/>
          <p:nvPr/>
        </p:nvSpPr>
        <p:spPr>
          <a:xfrm>
            <a:off x="11064240" y="6964680"/>
            <a:ext cx="7680960" cy="2674620"/>
          </a:xfrm>
          <a:prstGeom prst="rect">
            <a:avLst/>
          </a:prstGeom>
          <a:noFill/>
          <a:ln/>
        </p:spPr>
        <p:txBody>
          <a:bodyPr wrap="square" rtlCol="0" anchor="t"/>
          <a:lstStyle/>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Assure la liaison sans fil avec l'interface web</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Permet de changer le mode de la guirlande</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Communique avec l'Arduino en série (UART)</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Portée suffisante pour un usage de proximité</a:t>
            </a:r>
            <a:endParaRPr lang="en-US" sz="1875" dirty="0">
              <a:latin typeface="Baskerville Old Face" panose="02020602080505020303" pitchFamily="18" charset="0"/>
            </a:endParaRPr>
          </a:p>
        </p:txBody>
      </p:sp>
      <p:sp>
        <p:nvSpPr>
          <p:cNvPr id="14" name="Text 12"/>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5A7184"/>
                </a:solidFill>
                <a:latin typeface="Calibri" pitchFamily="34" charset="0"/>
                <a:ea typeface="Calibri" pitchFamily="34" charset="-122"/>
                <a:cs typeface="Calibri" pitchFamily="34" charset="-120"/>
              </a:rPr>
              <a:t>7</a:t>
            </a:r>
            <a:endParaRPr lang="en-US" sz="1650" dirty="0"/>
          </a:p>
        </p:txBody>
      </p:sp>
      <p:sp>
        <p:nvSpPr>
          <p:cNvPr id="15" name="Text 13"/>
          <p:cNvSpPr/>
          <p:nvPr/>
        </p:nvSpPr>
        <p:spPr>
          <a:xfrm>
            <a:off x="822960" y="9601200"/>
            <a:ext cx="6858000" cy="411480"/>
          </a:xfrm>
          <a:prstGeom prst="rect">
            <a:avLst/>
          </a:prstGeom>
          <a:noFill/>
          <a:ln/>
        </p:spPr>
        <p:txBody>
          <a:bodyPr wrap="square" lIns="0" tIns="0" rIns="0" bIns="0" rtlCol="0" anchor="ctr"/>
          <a:lstStyle/>
          <a:p>
            <a:r>
              <a:rPr lang="en-US" sz="1500" dirty="0">
                <a:solidFill>
                  <a:srgbClr val="5A7184"/>
                </a:solidFill>
                <a:latin typeface="Calibri" pitchFamily="34" charset="0"/>
                <a:ea typeface="Calibri" pitchFamily="34" charset="-122"/>
                <a:cs typeface="Calibri" pitchFamily="34" charset="-120"/>
              </a:rPr>
              <a:t>Objets Connectés - Piste Intelligente</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E0A93A"/>
                </a:solidFill>
                <a:latin typeface="Calibri" pitchFamily="34" charset="0"/>
                <a:ea typeface="Calibri" pitchFamily="34" charset="-122"/>
                <a:cs typeface="Calibri" pitchFamily="34" charset="-120"/>
              </a:rPr>
              <a:t>04</a:t>
            </a:r>
            <a:endParaRPr lang="en-US" sz="2100" dirty="0"/>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0B1B2B"/>
                </a:solidFill>
                <a:latin typeface="TT Supermolot Neue Expanded" panose="020B0604020202020204" charset="0"/>
                <a:ea typeface="Cambria" pitchFamily="34" charset="-122"/>
                <a:cs typeface="Cambria" pitchFamily="34" charset="-120"/>
              </a:rPr>
              <a:t>Présentation des pièces</a:t>
            </a:r>
            <a:endParaRPr lang="en-US" sz="4500" dirty="0">
              <a:latin typeface="TT Supermolot Neue Expanded" panose="020B0604020202020204" charset="0"/>
            </a:endParaRPr>
          </a:p>
        </p:txBody>
      </p:sp>
      <p:sp>
        <p:nvSpPr>
          <p:cNvPr id="4" name="Shape 2"/>
          <p:cNvSpPr/>
          <p:nvPr/>
        </p:nvSpPr>
        <p:spPr>
          <a:xfrm>
            <a:off x="960120" y="2537460"/>
            <a:ext cx="7680960" cy="2948940"/>
          </a:xfrm>
          <a:prstGeom prst="roundRect">
            <a:avLst>
              <a:gd name="adj" fmla="val 3256"/>
            </a:avLst>
          </a:prstGeom>
          <a:solidFill>
            <a:srgbClr val="F3F6F9"/>
          </a:solidFill>
          <a:ln w="15875">
            <a:solidFill>
              <a:srgbClr val="C7D3DD"/>
            </a:solidFill>
            <a:prstDash val="dash"/>
          </a:ln>
        </p:spPr>
      </p:sp>
      <p:sp>
        <p:nvSpPr>
          <p:cNvPr id="5" name="Text 3"/>
          <p:cNvSpPr/>
          <p:nvPr/>
        </p:nvSpPr>
        <p:spPr>
          <a:xfrm>
            <a:off x="1371600" y="2537460"/>
            <a:ext cx="6858000" cy="2948940"/>
          </a:xfrm>
          <a:prstGeom prst="rect">
            <a:avLst/>
          </a:prstGeom>
          <a:noFill/>
          <a:ln/>
        </p:spPr>
        <p:txBody>
          <a:bodyPr wrap="square" lIns="0" tIns="0" rIns="0" bIns="0" rtlCol="0" anchor="ctr"/>
          <a:lstStyle/>
          <a:p>
            <a:pPr algn="ctr"/>
            <a:r>
              <a:rPr lang="en-US" sz="1725" i="1" dirty="0">
                <a:solidFill>
                  <a:srgbClr val="5A7184"/>
                </a:solidFill>
                <a:latin typeface="Calibri" pitchFamily="34" charset="0"/>
                <a:ea typeface="Calibri" pitchFamily="34" charset="-122"/>
                <a:cs typeface="Calibri" pitchFamily="34" charset="-120"/>
              </a:rPr>
              <a:t>Emplacement photo du composant</a:t>
            </a:r>
            <a:endParaRPr lang="en-US" sz="1725" dirty="0"/>
          </a:p>
        </p:txBody>
      </p:sp>
      <p:sp>
        <p:nvSpPr>
          <p:cNvPr id="6" name="Shape 4"/>
          <p:cNvSpPr/>
          <p:nvPr/>
        </p:nvSpPr>
        <p:spPr>
          <a:xfrm>
            <a:off x="960120" y="5829300"/>
            <a:ext cx="822960" cy="822960"/>
          </a:xfrm>
          <a:prstGeom prst="ellipse">
            <a:avLst/>
          </a:prstGeom>
          <a:solidFill>
            <a:srgbClr val="0B1B2B"/>
          </a:solidFill>
          <a:ln/>
        </p:spPr>
      </p:sp>
      <p:sp>
        <p:nvSpPr>
          <p:cNvPr id="7" name="Text 5"/>
          <p:cNvSpPr/>
          <p:nvPr/>
        </p:nvSpPr>
        <p:spPr>
          <a:xfrm>
            <a:off x="1988820" y="5788152"/>
            <a:ext cx="6583680" cy="850392"/>
          </a:xfrm>
          <a:prstGeom prst="rect">
            <a:avLst/>
          </a:prstGeom>
          <a:noFill/>
          <a:ln/>
        </p:spPr>
        <p:txBody>
          <a:bodyPr wrap="square" lIns="0" tIns="0" rIns="0" bIns="0" rtlCol="0" anchor="ctr"/>
          <a:lstStyle/>
          <a:p>
            <a:r>
              <a:rPr lang="en-US" sz="2550" b="1" dirty="0">
                <a:solidFill>
                  <a:srgbClr val="0B1B2B"/>
                </a:solidFill>
                <a:latin typeface="Baskerville Old Face" panose="02020602080505020303" pitchFamily="18" charset="0"/>
                <a:ea typeface="Calibri" pitchFamily="34" charset="-122"/>
                <a:cs typeface="Calibri" pitchFamily="34" charset="-120"/>
              </a:rPr>
              <a:t>Capteur Ultrason HC-SR04</a:t>
            </a:r>
            <a:endParaRPr lang="en-US" sz="2550" dirty="0">
              <a:latin typeface="Baskerville Old Face" panose="02020602080505020303" pitchFamily="18" charset="0"/>
            </a:endParaRPr>
          </a:p>
        </p:txBody>
      </p:sp>
      <p:sp>
        <p:nvSpPr>
          <p:cNvPr id="8" name="Text 6"/>
          <p:cNvSpPr/>
          <p:nvPr/>
        </p:nvSpPr>
        <p:spPr>
          <a:xfrm>
            <a:off x="960120" y="6858000"/>
            <a:ext cx="7680960" cy="2674620"/>
          </a:xfrm>
          <a:prstGeom prst="rect">
            <a:avLst/>
          </a:prstGeom>
          <a:noFill/>
          <a:ln/>
        </p:spPr>
        <p:txBody>
          <a:bodyPr wrap="square" rtlCol="0" anchor="t"/>
          <a:lstStyle/>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Mesure la distance par écho ultrasonore</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Détecte l'approche ou l'éloignement d'un objet</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Simule la détection d'un avion sur la </a:t>
            </a:r>
            <a:r>
              <a:rPr lang="en-US" sz="1875" dirty="0" err="1">
                <a:latin typeface="Baskerville Old Face" panose="02020602080505020303" pitchFamily="18" charset="0"/>
                <a:ea typeface="Calibri" pitchFamily="34" charset="-122"/>
                <a:cs typeface="Calibri" pitchFamily="34" charset="-120"/>
              </a:rPr>
              <a:t>piste</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Donnée de distance exploitable en temps réel</a:t>
            </a:r>
            <a:endParaRPr lang="en-US" sz="1875" dirty="0">
              <a:latin typeface="Baskerville Old Face" panose="02020602080505020303" pitchFamily="18" charset="0"/>
            </a:endParaRPr>
          </a:p>
        </p:txBody>
      </p:sp>
      <p:sp>
        <p:nvSpPr>
          <p:cNvPr id="9" name="Shape 7"/>
          <p:cNvSpPr/>
          <p:nvPr/>
        </p:nvSpPr>
        <p:spPr>
          <a:xfrm>
            <a:off x="9601200" y="2537460"/>
            <a:ext cx="7680960" cy="2948940"/>
          </a:xfrm>
          <a:prstGeom prst="roundRect">
            <a:avLst>
              <a:gd name="adj" fmla="val 3256"/>
            </a:avLst>
          </a:prstGeom>
          <a:solidFill>
            <a:srgbClr val="F3F6F9"/>
          </a:solidFill>
          <a:ln w="15875">
            <a:solidFill>
              <a:srgbClr val="C7D3DD"/>
            </a:solidFill>
            <a:prstDash val="dash"/>
          </a:ln>
        </p:spPr>
      </p:sp>
      <p:sp>
        <p:nvSpPr>
          <p:cNvPr id="10" name="Text 8"/>
          <p:cNvSpPr/>
          <p:nvPr/>
        </p:nvSpPr>
        <p:spPr>
          <a:xfrm>
            <a:off x="10012680" y="2537460"/>
            <a:ext cx="6858000" cy="2948940"/>
          </a:xfrm>
          <a:prstGeom prst="rect">
            <a:avLst/>
          </a:prstGeom>
          <a:noFill/>
          <a:ln/>
        </p:spPr>
        <p:txBody>
          <a:bodyPr wrap="square" lIns="0" tIns="0" rIns="0" bIns="0" rtlCol="0" anchor="ctr"/>
          <a:lstStyle/>
          <a:p>
            <a:pPr algn="ctr"/>
            <a:r>
              <a:rPr lang="en-US" sz="1725" i="1" dirty="0">
                <a:solidFill>
                  <a:srgbClr val="5A7184"/>
                </a:solidFill>
                <a:latin typeface="Calibri" pitchFamily="34" charset="0"/>
                <a:ea typeface="Calibri" pitchFamily="34" charset="-122"/>
                <a:cs typeface="Calibri" pitchFamily="34" charset="-120"/>
              </a:rPr>
              <a:t>Emplacement photo du composant</a:t>
            </a:r>
            <a:endParaRPr lang="en-US" sz="1725" dirty="0"/>
          </a:p>
        </p:txBody>
      </p:sp>
      <p:sp>
        <p:nvSpPr>
          <p:cNvPr id="11" name="Shape 9"/>
          <p:cNvSpPr/>
          <p:nvPr/>
        </p:nvSpPr>
        <p:spPr>
          <a:xfrm>
            <a:off x="9601200" y="5829300"/>
            <a:ext cx="822960" cy="822960"/>
          </a:xfrm>
          <a:prstGeom prst="ellipse">
            <a:avLst/>
          </a:prstGeom>
          <a:solidFill>
            <a:srgbClr val="0B1B2B"/>
          </a:solidFill>
          <a:ln/>
        </p:spPr>
      </p:sp>
      <p:sp>
        <p:nvSpPr>
          <p:cNvPr id="12" name="Text 10"/>
          <p:cNvSpPr/>
          <p:nvPr/>
        </p:nvSpPr>
        <p:spPr>
          <a:xfrm>
            <a:off x="10629900" y="5788152"/>
            <a:ext cx="6583680" cy="850392"/>
          </a:xfrm>
          <a:prstGeom prst="rect">
            <a:avLst/>
          </a:prstGeom>
          <a:noFill/>
          <a:ln/>
        </p:spPr>
        <p:txBody>
          <a:bodyPr wrap="square" lIns="0" tIns="0" rIns="0" bIns="0" rtlCol="0" anchor="ctr"/>
          <a:lstStyle/>
          <a:p>
            <a:r>
              <a:rPr lang="en-US" sz="2550" b="1" dirty="0">
                <a:solidFill>
                  <a:srgbClr val="0B1B2B"/>
                </a:solidFill>
                <a:latin typeface="Baskerville Old Face" panose="02020602080505020303" pitchFamily="18" charset="0"/>
                <a:ea typeface="Calibri" pitchFamily="34" charset="-122"/>
                <a:cs typeface="Calibri" pitchFamily="34" charset="-120"/>
              </a:rPr>
              <a:t>8 LED</a:t>
            </a:r>
            <a:endParaRPr lang="en-US" sz="2550" dirty="0">
              <a:latin typeface="Baskerville Old Face" panose="02020602080505020303" pitchFamily="18" charset="0"/>
            </a:endParaRPr>
          </a:p>
        </p:txBody>
      </p:sp>
      <p:sp>
        <p:nvSpPr>
          <p:cNvPr id="13" name="Text 11"/>
          <p:cNvSpPr/>
          <p:nvPr/>
        </p:nvSpPr>
        <p:spPr>
          <a:xfrm>
            <a:off x="9601200" y="6858000"/>
            <a:ext cx="7680960" cy="2674620"/>
          </a:xfrm>
          <a:prstGeom prst="rect">
            <a:avLst/>
          </a:prstGeom>
          <a:noFill/>
          <a:ln/>
        </p:spPr>
        <p:txBody>
          <a:bodyPr wrap="square" rtlCol="0" anchor="t"/>
          <a:lstStyle/>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Représentent le balisage lumineux de la </a:t>
            </a:r>
            <a:r>
              <a:rPr lang="en-US" sz="1875" dirty="0" err="1">
                <a:latin typeface="Baskerville Old Face" panose="02020602080505020303" pitchFamily="18" charset="0"/>
                <a:ea typeface="Calibri" pitchFamily="34" charset="-122"/>
                <a:cs typeface="Calibri" pitchFamily="34" charset="-120"/>
              </a:rPr>
              <a:t>piste</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S'allument en séquence </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Signalent visuellement une détection en cours</a:t>
            </a:r>
            <a:endParaRPr lang="en-US" sz="1875" dirty="0">
              <a:latin typeface="Baskerville Old Face" panose="02020602080505020303" pitchFamily="18" charset="0"/>
            </a:endParaRPr>
          </a:p>
          <a:p>
            <a:pPr marL="514350" indent="-514350">
              <a:spcAft>
                <a:spcPts val="900"/>
              </a:spcAft>
              <a:buSzPct val="100000"/>
              <a:buChar char="•"/>
            </a:pPr>
            <a:r>
              <a:rPr lang="en-US" sz="1875" dirty="0">
                <a:latin typeface="Baskerville Old Face" panose="02020602080505020303" pitchFamily="18" charset="0"/>
                <a:ea typeface="Calibri" pitchFamily="34" charset="-122"/>
                <a:cs typeface="Calibri" pitchFamily="34" charset="-120"/>
              </a:rPr>
              <a:t>Pilotées directement par les sorties Arduino</a:t>
            </a:r>
            <a:endParaRPr lang="en-US" sz="1875" dirty="0">
              <a:latin typeface="Baskerville Old Face" panose="02020602080505020303" pitchFamily="18" charset="0"/>
            </a:endParaRPr>
          </a:p>
        </p:txBody>
      </p:sp>
      <p:sp>
        <p:nvSpPr>
          <p:cNvPr id="14" name="Text 12"/>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5A7184"/>
                </a:solidFill>
                <a:latin typeface="Calibri" pitchFamily="34" charset="0"/>
                <a:ea typeface="Calibri" pitchFamily="34" charset="-122"/>
                <a:cs typeface="Calibri" pitchFamily="34" charset="-120"/>
              </a:rPr>
              <a:t>8</a:t>
            </a:r>
            <a:endParaRPr lang="en-US" sz="1650" dirty="0"/>
          </a:p>
        </p:txBody>
      </p:sp>
      <p:sp>
        <p:nvSpPr>
          <p:cNvPr id="15" name="Text 13"/>
          <p:cNvSpPr/>
          <p:nvPr/>
        </p:nvSpPr>
        <p:spPr>
          <a:xfrm>
            <a:off x="822960" y="9601200"/>
            <a:ext cx="6858000" cy="411480"/>
          </a:xfrm>
          <a:prstGeom prst="rect">
            <a:avLst/>
          </a:prstGeom>
          <a:noFill/>
          <a:ln/>
        </p:spPr>
        <p:txBody>
          <a:bodyPr wrap="square" lIns="0" tIns="0" rIns="0" bIns="0" rtlCol="0" anchor="ctr"/>
          <a:lstStyle/>
          <a:p>
            <a:r>
              <a:rPr lang="en-US" sz="1500" dirty="0">
                <a:solidFill>
                  <a:srgbClr val="5A7184"/>
                </a:solidFill>
                <a:latin typeface="Calibri" pitchFamily="34" charset="0"/>
                <a:ea typeface="Calibri" pitchFamily="34" charset="-122"/>
                <a:cs typeface="Calibri" pitchFamily="34" charset="-120"/>
              </a:rPr>
              <a:t>Objets Connectés — Piste Intelligente</a:t>
            </a:r>
            <a:endParaRPr lang="en-US" sz="1500" dirty="0"/>
          </a:p>
        </p:txBody>
      </p:sp>
      <p:pic>
        <p:nvPicPr>
          <p:cNvPr id="3074" name="Picture 2" descr="Item:Capteur de distance à ultrasons HC-SR04 — Wikidebrouillard">
            <a:extLst>
              <a:ext uri="{FF2B5EF4-FFF2-40B4-BE49-F238E27FC236}">
                <a16:creationId xmlns:a16="http://schemas.microsoft.com/office/drawing/2014/main" id="{3267DFBC-1E5A-4B96-8868-430E56672A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122" y="2537462"/>
            <a:ext cx="7680960" cy="294894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ED, 5 mm, bedraad, rood, 1800 mcd, 30°">
            <a:extLst>
              <a:ext uri="{FF2B5EF4-FFF2-40B4-BE49-F238E27FC236}">
                <a16:creationId xmlns:a16="http://schemas.microsoft.com/office/drawing/2014/main" id="{35B115AF-9F96-43A3-8368-C2E5009623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2537462"/>
            <a:ext cx="7680960" cy="29489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FFC857"/>
                </a:solidFill>
                <a:latin typeface="Calibri" pitchFamily="34" charset="0"/>
                <a:ea typeface="Calibri" pitchFamily="34" charset="-122"/>
                <a:cs typeface="Calibri" pitchFamily="34" charset="-120"/>
              </a:rPr>
              <a:t>05</a:t>
            </a:r>
            <a:endParaRPr lang="en-US" sz="2100" dirty="0"/>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EAF2F8"/>
                </a:solidFill>
                <a:latin typeface="TT Supermolot Neue Expanded" panose="020B0604020202020204" charset="0"/>
                <a:ea typeface="Cambria" pitchFamily="34" charset="-122"/>
                <a:cs typeface="Cambria" pitchFamily="34" charset="-120"/>
              </a:rPr>
              <a:t>Schéma de montage</a:t>
            </a:r>
            <a:endParaRPr lang="en-US" sz="4500" dirty="0">
              <a:latin typeface="TT Supermolot Neue Expanded" panose="020B0604020202020204" charset="0"/>
            </a:endParaRPr>
          </a:p>
        </p:txBody>
      </p:sp>
      <p:sp>
        <p:nvSpPr>
          <p:cNvPr id="4" name="Text 2"/>
          <p:cNvSpPr/>
          <p:nvPr/>
        </p:nvSpPr>
        <p:spPr>
          <a:xfrm>
            <a:off x="960120" y="1988820"/>
            <a:ext cx="12344400" cy="548640"/>
          </a:xfrm>
          <a:prstGeom prst="rect">
            <a:avLst/>
          </a:prstGeom>
          <a:noFill/>
          <a:ln/>
        </p:spPr>
        <p:txBody>
          <a:bodyPr wrap="square" lIns="0" tIns="0" rIns="0" bIns="0" rtlCol="0" anchor="ctr"/>
          <a:lstStyle/>
          <a:p>
            <a:r>
              <a:rPr lang="en-US" sz="2025" dirty="0">
                <a:solidFill>
                  <a:schemeClr val="bg1"/>
                </a:solidFill>
                <a:latin typeface="Baskerville Old Face" panose="02020602080505020303" pitchFamily="18" charset="0"/>
                <a:ea typeface="Calibri" pitchFamily="34" charset="-122"/>
                <a:cs typeface="Calibri" pitchFamily="34" charset="-120"/>
              </a:rPr>
              <a:t>Vue d'ensemble du circuit assemblé sur le breadboard</a:t>
            </a:r>
            <a:endParaRPr lang="en-US" sz="2025" dirty="0">
              <a:solidFill>
                <a:schemeClr val="bg1"/>
              </a:solidFill>
              <a:latin typeface="Baskerville Old Face" panose="02020602080505020303" pitchFamily="18" charset="0"/>
            </a:endParaRPr>
          </a:p>
        </p:txBody>
      </p:sp>
      <p:sp>
        <p:nvSpPr>
          <p:cNvPr id="5" name="Shape 3"/>
          <p:cNvSpPr/>
          <p:nvPr/>
        </p:nvSpPr>
        <p:spPr>
          <a:xfrm>
            <a:off x="960120" y="2857500"/>
            <a:ext cx="11521440" cy="6377940"/>
          </a:xfrm>
          <a:prstGeom prst="roundRect">
            <a:avLst>
              <a:gd name="adj" fmla="val 1505"/>
            </a:avLst>
          </a:prstGeom>
          <a:blipFill dpi="0" rotWithShape="1">
            <a:blip r:embed="rId3">
              <a:extLst>
                <a:ext uri="{28A0092B-C50C-407E-A947-70E740481C1C}">
                  <a14:useLocalDpi xmlns:a14="http://schemas.microsoft.com/office/drawing/2010/main" val="0"/>
                </a:ext>
              </a:extLst>
            </a:blip>
            <a:srcRect/>
            <a:stretch>
              <a:fillRect/>
            </a:stretch>
          </a:blipFill>
          <a:ln w="15875">
            <a:solidFill>
              <a:srgbClr val="2E4A63"/>
            </a:solidFill>
            <a:prstDash val="dash"/>
          </a:ln>
        </p:spPr>
      </p:sp>
      <p:sp>
        <p:nvSpPr>
          <p:cNvPr id="7" name="Shape 5"/>
          <p:cNvSpPr/>
          <p:nvPr/>
        </p:nvSpPr>
        <p:spPr>
          <a:xfrm>
            <a:off x="12893040" y="2811780"/>
            <a:ext cx="4457700" cy="6377940"/>
          </a:xfrm>
          <a:prstGeom prst="rect">
            <a:avLst/>
          </a:prstGeom>
          <a:solidFill>
            <a:srgbClr val="112A40"/>
          </a:solidFill>
          <a:ln/>
        </p:spPr>
      </p:sp>
      <p:sp>
        <p:nvSpPr>
          <p:cNvPr id="8" name="Text 6"/>
          <p:cNvSpPr/>
          <p:nvPr/>
        </p:nvSpPr>
        <p:spPr>
          <a:xfrm>
            <a:off x="13304520" y="3154680"/>
            <a:ext cx="3703320" cy="685800"/>
          </a:xfrm>
          <a:prstGeom prst="rect">
            <a:avLst/>
          </a:prstGeom>
          <a:noFill/>
          <a:ln/>
        </p:spPr>
        <p:txBody>
          <a:bodyPr wrap="square" lIns="0" tIns="0" rIns="0" bIns="0" rtlCol="0" anchor="ctr"/>
          <a:lstStyle/>
          <a:p>
            <a:r>
              <a:rPr lang="en-US" sz="2250" b="1" dirty="0">
                <a:solidFill>
                  <a:srgbClr val="FFC857"/>
                </a:solidFill>
                <a:latin typeface="Baskerville Old Face" panose="02020602080505020303" pitchFamily="18" charset="0"/>
                <a:ea typeface="Calibri" pitchFamily="34" charset="-122"/>
                <a:cs typeface="Calibri" pitchFamily="34" charset="-120"/>
              </a:rPr>
              <a:t>Liaisons principales</a:t>
            </a:r>
            <a:endParaRPr lang="en-US" sz="2250" dirty="0">
              <a:latin typeface="Baskerville Old Face" panose="02020602080505020303" pitchFamily="18" charset="0"/>
            </a:endParaRPr>
          </a:p>
        </p:txBody>
      </p:sp>
      <p:sp>
        <p:nvSpPr>
          <p:cNvPr id="9" name="Shape 7"/>
          <p:cNvSpPr/>
          <p:nvPr/>
        </p:nvSpPr>
        <p:spPr>
          <a:xfrm>
            <a:off x="13304520" y="4046220"/>
            <a:ext cx="192024" cy="192024"/>
          </a:xfrm>
          <a:prstGeom prst="ellipse">
            <a:avLst/>
          </a:prstGeom>
          <a:solidFill>
            <a:srgbClr val="FFC857"/>
          </a:solidFill>
          <a:ln/>
        </p:spPr>
      </p:sp>
      <p:sp>
        <p:nvSpPr>
          <p:cNvPr id="10" name="Text 8"/>
          <p:cNvSpPr/>
          <p:nvPr/>
        </p:nvSpPr>
        <p:spPr>
          <a:xfrm>
            <a:off x="13716000" y="3826764"/>
            <a:ext cx="3429000" cy="891540"/>
          </a:xfrm>
          <a:prstGeom prst="rect">
            <a:avLst/>
          </a:prstGeom>
          <a:noFill/>
          <a:ln/>
        </p:spPr>
        <p:txBody>
          <a:bodyPr wrap="square" lIns="0" tIns="0" rIns="0" bIns="0" rtlCol="0" anchor="t"/>
          <a:lstStyle/>
          <a:p>
            <a:r>
              <a:rPr lang="en-US" sz="1725" dirty="0">
                <a:solidFill>
                  <a:srgbClr val="EAF2F8"/>
                </a:solidFill>
                <a:latin typeface="Baskerville Old Face" panose="02020602080505020303" pitchFamily="18" charset="0"/>
                <a:ea typeface="Calibri" pitchFamily="34" charset="-122"/>
                <a:cs typeface="Calibri" pitchFamily="34" charset="-120"/>
              </a:rPr>
              <a:t>HC-SR04 → broches numériques (Trig / Echo)</a:t>
            </a:r>
            <a:endParaRPr lang="en-US" sz="1725" dirty="0">
              <a:latin typeface="Baskerville Old Face" panose="02020602080505020303" pitchFamily="18" charset="0"/>
            </a:endParaRPr>
          </a:p>
        </p:txBody>
      </p:sp>
      <p:sp>
        <p:nvSpPr>
          <p:cNvPr id="11" name="Shape 9"/>
          <p:cNvSpPr/>
          <p:nvPr/>
        </p:nvSpPr>
        <p:spPr>
          <a:xfrm>
            <a:off x="13304520" y="5253228"/>
            <a:ext cx="192024" cy="192024"/>
          </a:xfrm>
          <a:prstGeom prst="ellipse">
            <a:avLst/>
          </a:prstGeom>
          <a:solidFill>
            <a:srgbClr val="FFC857"/>
          </a:solidFill>
          <a:ln/>
        </p:spPr>
      </p:sp>
      <p:sp>
        <p:nvSpPr>
          <p:cNvPr id="12" name="Text 10"/>
          <p:cNvSpPr/>
          <p:nvPr/>
        </p:nvSpPr>
        <p:spPr>
          <a:xfrm>
            <a:off x="13716000" y="5033772"/>
            <a:ext cx="3429000" cy="891540"/>
          </a:xfrm>
          <a:prstGeom prst="rect">
            <a:avLst/>
          </a:prstGeom>
          <a:noFill/>
          <a:ln/>
        </p:spPr>
        <p:txBody>
          <a:bodyPr wrap="square" lIns="0" tIns="0" rIns="0" bIns="0" rtlCol="0" anchor="t"/>
          <a:lstStyle/>
          <a:p>
            <a:r>
              <a:rPr lang="en-US" sz="1725" dirty="0">
                <a:solidFill>
                  <a:srgbClr val="EAF2F8"/>
                </a:solidFill>
                <a:latin typeface="Baskerville Old Face" panose="02020602080505020303" pitchFamily="18" charset="0"/>
                <a:ea typeface="Calibri" pitchFamily="34" charset="-122"/>
                <a:cs typeface="Calibri" pitchFamily="34" charset="-120"/>
              </a:rPr>
              <a:t>8 LED → sorties numériques + résistances</a:t>
            </a:r>
            <a:endParaRPr lang="en-US" sz="1725" dirty="0">
              <a:latin typeface="Baskerville Old Face" panose="02020602080505020303" pitchFamily="18" charset="0"/>
            </a:endParaRPr>
          </a:p>
        </p:txBody>
      </p:sp>
      <p:sp>
        <p:nvSpPr>
          <p:cNvPr id="13" name="Shape 11"/>
          <p:cNvSpPr/>
          <p:nvPr/>
        </p:nvSpPr>
        <p:spPr>
          <a:xfrm>
            <a:off x="13304520" y="6460236"/>
            <a:ext cx="192024" cy="192024"/>
          </a:xfrm>
          <a:prstGeom prst="ellipse">
            <a:avLst/>
          </a:prstGeom>
          <a:solidFill>
            <a:srgbClr val="FFC857"/>
          </a:solidFill>
          <a:ln/>
        </p:spPr>
      </p:sp>
      <p:sp>
        <p:nvSpPr>
          <p:cNvPr id="14" name="Text 12"/>
          <p:cNvSpPr/>
          <p:nvPr/>
        </p:nvSpPr>
        <p:spPr>
          <a:xfrm>
            <a:off x="13716000" y="6240780"/>
            <a:ext cx="3429000" cy="891540"/>
          </a:xfrm>
          <a:prstGeom prst="rect">
            <a:avLst/>
          </a:prstGeom>
          <a:noFill/>
          <a:ln/>
        </p:spPr>
        <p:txBody>
          <a:bodyPr wrap="square" lIns="0" tIns="0" rIns="0" bIns="0" rtlCol="0" anchor="t"/>
          <a:lstStyle/>
          <a:p>
            <a:r>
              <a:rPr lang="en-US" sz="1725" dirty="0">
                <a:solidFill>
                  <a:srgbClr val="EAF2F8"/>
                </a:solidFill>
                <a:latin typeface="Baskerville Old Face" panose="02020602080505020303" pitchFamily="18" charset="0"/>
                <a:ea typeface="Calibri" pitchFamily="34" charset="-122"/>
                <a:cs typeface="Calibri" pitchFamily="34" charset="-120"/>
              </a:rPr>
              <a:t>HC-05 → broches RX/TX (série)</a:t>
            </a:r>
            <a:endParaRPr lang="en-US" sz="1725" dirty="0">
              <a:latin typeface="Baskerville Old Face" panose="02020602080505020303" pitchFamily="18" charset="0"/>
            </a:endParaRPr>
          </a:p>
        </p:txBody>
      </p:sp>
      <p:sp>
        <p:nvSpPr>
          <p:cNvPr id="15" name="Shape 13"/>
          <p:cNvSpPr/>
          <p:nvPr/>
        </p:nvSpPr>
        <p:spPr>
          <a:xfrm>
            <a:off x="13304520" y="7667244"/>
            <a:ext cx="192024" cy="192024"/>
          </a:xfrm>
          <a:prstGeom prst="ellipse">
            <a:avLst/>
          </a:prstGeom>
          <a:solidFill>
            <a:srgbClr val="FFC857"/>
          </a:solidFill>
          <a:ln/>
        </p:spPr>
      </p:sp>
      <p:sp>
        <p:nvSpPr>
          <p:cNvPr id="16" name="Text 14"/>
          <p:cNvSpPr/>
          <p:nvPr/>
        </p:nvSpPr>
        <p:spPr>
          <a:xfrm>
            <a:off x="13716000" y="7447788"/>
            <a:ext cx="3429000" cy="891540"/>
          </a:xfrm>
          <a:prstGeom prst="rect">
            <a:avLst/>
          </a:prstGeom>
          <a:noFill/>
          <a:ln/>
        </p:spPr>
        <p:txBody>
          <a:bodyPr wrap="square" lIns="0" tIns="0" rIns="0" bIns="0" rtlCol="0" anchor="t"/>
          <a:lstStyle/>
          <a:p>
            <a:r>
              <a:rPr lang="en-US" sz="1725" dirty="0">
                <a:solidFill>
                  <a:srgbClr val="EAF2F8"/>
                </a:solidFill>
                <a:latin typeface="Baskerville Old Face" panose="02020602080505020303" pitchFamily="18" charset="0"/>
                <a:ea typeface="Calibri" pitchFamily="34" charset="-122"/>
                <a:cs typeface="Calibri" pitchFamily="34" charset="-120"/>
              </a:rPr>
              <a:t>Alimentation 5V / GND via breadboard</a:t>
            </a:r>
            <a:endParaRPr lang="en-US" sz="1725" dirty="0">
              <a:latin typeface="Baskerville Old Face" panose="02020602080505020303" pitchFamily="18" charset="0"/>
            </a:endParaRPr>
          </a:p>
        </p:txBody>
      </p:sp>
      <p:sp>
        <p:nvSpPr>
          <p:cNvPr id="17" name="Text 15"/>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9FB3C8"/>
                </a:solidFill>
                <a:latin typeface="Calibri" pitchFamily="34" charset="0"/>
                <a:ea typeface="Calibri" pitchFamily="34" charset="-122"/>
                <a:cs typeface="Calibri" pitchFamily="34" charset="-120"/>
              </a:rPr>
              <a:t>9</a:t>
            </a:r>
            <a:endParaRPr lang="en-US" sz="1650" dirty="0"/>
          </a:p>
        </p:txBody>
      </p:sp>
      <p:sp>
        <p:nvSpPr>
          <p:cNvPr id="18" name="Text 16"/>
          <p:cNvSpPr/>
          <p:nvPr/>
        </p:nvSpPr>
        <p:spPr>
          <a:xfrm>
            <a:off x="822960" y="9601200"/>
            <a:ext cx="6858000" cy="411480"/>
          </a:xfrm>
          <a:prstGeom prst="rect">
            <a:avLst/>
          </a:prstGeom>
          <a:noFill/>
          <a:ln/>
        </p:spPr>
        <p:txBody>
          <a:bodyPr wrap="square" lIns="0" tIns="0" rIns="0" bIns="0" rtlCol="0" anchor="ctr"/>
          <a:lstStyle/>
          <a:p>
            <a:r>
              <a:rPr lang="en-US" sz="1500" dirty="0">
                <a:solidFill>
                  <a:srgbClr val="9FB3C8"/>
                </a:solidFill>
                <a:latin typeface="Calibri" pitchFamily="34" charset="0"/>
                <a:ea typeface="Calibri" pitchFamily="34" charset="-122"/>
                <a:cs typeface="Calibri" pitchFamily="34" charset="-120"/>
              </a:rPr>
              <a:t>Objets Connectés - Piste Intelligente</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E0A93A"/>
                </a:solidFill>
                <a:latin typeface="Calibri" pitchFamily="34" charset="0"/>
                <a:ea typeface="Calibri" pitchFamily="34" charset="-122"/>
                <a:cs typeface="Calibri" pitchFamily="34" charset="-120"/>
              </a:rPr>
              <a:t>06</a:t>
            </a:r>
            <a:endParaRPr lang="en-US" sz="2100" dirty="0"/>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0B1B2B"/>
                </a:solidFill>
                <a:latin typeface="TT Supermolot Neue Expanded" panose="020B0604020202020204" charset="0"/>
                <a:ea typeface="Cambria" pitchFamily="34" charset="-122"/>
                <a:cs typeface="Cambria" pitchFamily="34" charset="-120"/>
              </a:rPr>
              <a:t>Étapes d'assemblage</a:t>
            </a:r>
            <a:endParaRPr lang="en-US" sz="4500" dirty="0">
              <a:latin typeface="TT Supermolot Neue Expanded" panose="020B0604020202020204" charset="0"/>
            </a:endParaRPr>
          </a:p>
        </p:txBody>
      </p:sp>
      <p:sp>
        <p:nvSpPr>
          <p:cNvPr id="4" name="Shape 2"/>
          <p:cNvSpPr/>
          <p:nvPr/>
        </p:nvSpPr>
        <p:spPr>
          <a:xfrm>
            <a:off x="960120" y="2537460"/>
            <a:ext cx="5280660" cy="3497580"/>
          </a:xfrm>
          <a:prstGeom prst="roundRect">
            <a:avLst>
              <a:gd name="adj" fmla="val 3137"/>
            </a:avLst>
          </a:prstGeom>
          <a:solidFill>
            <a:srgbClr val="FFFFFF"/>
          </a:solidFill>
          <a:ln/>
          <a:effectLst>
            <a:outerShdw blurRad="101600" dist="38100" dir="5400000" algn="bl" rotWithShape="0">
              <a:srgbClr val="000000">
                <a:alpha val="10000"/>
              </a:srgbClr>
            </a:outerShdw>
          </a:effectLst>
        </p:spPr>
      </p:sp>
      <p:sp>
        <p:nvSpPr>
          <p:cNvPr id="5" name="Shape 3"/>
          <p:cNvSpPr/>
          <p:nvPr/>
        </p:nvSpPr>
        <p:spPr>
          <a:xfrm>
            <a:off x="1303020" y="2880360"/>
            <a:ext cx="754380" cy="754380"/>
          </a:xfrm>
          <a:prstGeom prst="ellipse">
            <a:avLst/>
          </a:prstGeom>
          <a:solidFill>
            <a:srgbClr val="FFC857"/>
          </a:solidFill>
          <a:ln/>
        </p:spPr>
      </p:sp>
      <p:sp>
        <p:nvSpPr>
          <p:cNvPr id="6" name="Text 4"/>
          <p:cNvSpPr/>
          <p:nvPr/>
        </p:nvSpPr>
        <p:spPr>
          <a:xfrm>
            <a:off x="1303020" y="2880360"/>
            <a:ext cx="754380" cy="754380"/>
          </a:xfrm>
          <a:prstGeom prst="rect">
            <a:avLst/>
          </a:prstGeom>
          <a:noFill/>
          <a:ln/>
        </p:spPr>
        <p:txBody>
          <a:bodyPr wrap="square" lIns="0" tIns="0" rIns="0" bIns="0" rtlCol="0" anchor="ctr"/>
          <a:lstStyle/>
          <a:p>
            <a:pPr algn="ctr"/>
            <a:r>
              <a:rPr lang="en-US" sz="2700" b="1" dirty="0">
                <a:solidFill>
                  <a:srgbClr val="0B1B2B"/>
                </a:solidFill>
                <a:latin typeface="Cambria" pitchFamily="34" charset="0"/>
                <a:ea typeface="Cambria" pitchFamily="34" charset="-122"/>
                <a:cs typeface="Cambria" pitchFamily="34" charset="-120"/>
              </a:rPr>
              <a:t>1</a:t>
            </a:r>
            <a:endParaRPr lang="en-US" sz="2700" dirty="0"/>
          </a:p>
        </p:txBody>
      </p:sp>
      <p:sp>
        <p:nvSpPr>
          <p:cNvPr id="7" name="Text 5"/>
          <p:cNvSpPr/>
          <p:nvPr/>
        </p:nvSpPr>
        <p:spPr>
          <a:xfrm>
            <a:off x="2263140" y="2894076"/>
            <a:ext cx="3703320" cy="754380"/>
          </a:xfrm>
          <a:prstGeom prst="rect">
            <a:avLst/>
          </a:prstGeom>
          <a:noFill/>
          <a:ln/>
        </p:spPr>
        <p:txBody>
          <a:bodyPr wrap="square" lIns="0" tIns="0" rIns="0" bIns="0" rtlCol="0" anchor="ctr"/>
          <a:lstStyle/>
          <a:p>
            <a:r>
              <a:rPr lang="en-US" sz="2100" b="1" dirty="0">
                <a:solidFill>
                  <a:srgbClr val="0B1B2B"/>
                </a:solidFill>
                <a:latin typeface="Baskerville Old Face" panose="02020602080505020303" pitchFamily="18" charset="0"/>
                <a:ea typeface="Calibri" pitchFamily="34" charset="-122"/>
                <a:cs typeface="Calibri" pitchFamily="34" charset="-120"/>
              </a:rPr>
              <a:t>Placer le breadboard</a:t>
            </a:r>
            <a:endParaRPr lang="en-US" sz="2100" dirty="0">
              <a:latin typeface="Baskerville Old Face" panose="02020602080505020303" pitchFamily="18" charset="0"/>
            </a:endParaRPr>
          </a:p>
        </p:txBody>
      </p:sp>
      <p:sp>
        <p:nvSpPr>
          <p:cNvPr id="8" name="Text 6"/>
          <p:cNvSpPr/>
          <p:nvPr/>
        </p:nvSpPr>
        <p:spPr>
          <a:xfrm>
            <a:off x="1303020" y="3909060"/>
            <a:ext cx="4594860" cy="1851660"/>
          </a:xfrm>
          <a:prstGeom prst="rect">
            <a:avLst/>
          </a:prstGeom>
          <a:noFill/>
          <a:ln/>
        </p:spPr>
        <p:txBody>
          <a:bodyPr wrap="square" lIns="0" tIns="0" rIns="0" bIns="0" rtlCol="0" anchor="t"/>
          <a:lstStyle/>
          <a:p>
            <a:pPr>
              <a:lnSpc>
                <a:spcPct val="150000"/>
              </a:lnSpc>
            </a:pPr>
            <a:r>
              <a:rPr lang="en-US" sz="1725" dirty="0">
                <a:latin typeface="Baskerville Old Face" panose="02020602080505020303" pitchFamily="18" charset="0"/>
                <a:ea typeface="Calibri" pitchFamily="34" charset="-122"/>
                <a:cs typeface="Calibri" pitchFamily="34" charset="-120"/>
              </a:rPr>
              <a:t>Fixer le breadboard comme support central du montage.</a:t>
            </a:r>
            <a:endParaRPr lang="en-US" sz="1725" dirty="0">
              <a:latin typeface="Baskerville Old Face" panose="02020602080505020303" pitchFamily="18" charset="0"/>
            </a:endParaRPr>
          </a:p>
        </p:txBody>
      </p:sp>
      <p:sp>
        <p:nvSpPr>
          <p:cNvPr id="9" name="Shape 7"/>
          <p:cNvSpPr/>
          <p:nvPr/>
        </p:nvSpPr>
        <p:spPr>
          <a:xfrm>
            <a:off x="6611112" y="2537460"/>
            <a:ext cx="5280660" cy="3497580"/>
          </a:xfrm>
          <a:prstGeom prst="roundRect">
            <a:avLst>
              <a:gd name="adj" fmla="val 3137"/>
            </a:avLst>
          </a:prstGeom>
          <a:solidFill>
            <a:srgbClr val="FFFFFF"/>
          </a:solidFill>
          <a:ln/>
          <a:effectLst>
            <a:outerShdw blurRad="101600" dist="38100" dir="5400000" algn="bl" rotWithShape="0">
              <a:srgbClr val="000000">
                <a:alpha val="10000"/>
              </a:srgbClr>
            </a:outerShdw>
          </a:effectLst>
        </p:spPr>
      </p:sp>
      <p:sp>
        <p:nvSpPr>
          <p:cNvPr id="10" name="Shape 8"/>
          <p:cNvSpPr/>
          <p:nvPr/>
        </p:nvSpPr>
        <p:spPr>
          <a:xfrm>
            <a:off x="6954012" y="2880360"/>
            <a:ext cx="754380" cy="754380"/>
          </a:xfrm>
          <a:prstGeom prst="ellipse">
            <a:avLst/>
          </a:prstGeom>
          <a:solidFill>
            <a:srgbClr val="FFC857"/>
          </a:solidFill>
          <a:ln/>
        </p:spPr>
      </p:sp>
      <p:sp>
        <p:nvSpPr>
          <p:cNvPr id="11" name="Text 9"/>
          <p:cNvSpPr/>
          <p:nvPr/>
        </p:nvSpPr>
        <p:spPr>
          <a:xfrm>
            <a:off x="6954012" y="2880360"/>
            <a:ext cx="754380" cy="754380"/>
          </a:xfrm>
          <a:prstGeom prst="rect">
            <a:avLst/>
          </a:prstGeom>
          <a:noFill/>
          <a:ln/>
        </p:spPr>
        <p:txBody>
          <a:bodyPr wrap="square" lIns="0" tIns="0" rIns="0" bIns="0" rtlCol="0" anchor="ctr"/>
          <a:lstStyle/>
          <a:p>
            <a:pPr algn="ctr"/>
            <a:r>
              <a:rPr lang="en-US" sz="2700" b="1" dirty="0">
                <a:solidFill>
                  <a:srgbClr val="0B1B2B"/>
                </a:solidFill>
                <a:latin typeface="Cambria" pitchFamily="34" charset="0"/>
                <a:ea typeface="Cambria" pitchFamily="34" charset="-122"/>
                <a:cs typeface="Cambria" pitchFamily="34" charset="-120"/>
              </a:rPr>
              <a:t>2</a:t>
            </a:r>
            <a:endParaRPr lang="en-US" sz="2700" dirty="0"/>
          </a:p>
        </p:txBody>
      </p:sp>
      <p:sp>
        <p:nvSpPr>
          <p:cNvPr id="12" name="Text 10"/>
          <p:cNvSpPr/>
          <p:nvPr/>
        </p:nvSpPr>
        <p:spPr>
          <a:xfrm>
            <a:off x="7914132" y="2894076"/>
            <a:ext cx="3703320" cy="754380"/>
          </a:xfrm>
          <a:prstGeom prst="rect">
            <a:avLst/>
          </a:prstGeom>
          <a:noFill/>
          <a:ln/>
        </p:spPr>
        <p:txBody>
          <a:bodyPr wrap="square" lIns="0" tIns="0" rIns="0" bIns="0" rtlCol="0" anchor="ctr"/>
          <a:lstStyle/>
          <a:p>
            <a:r>
              <a:rPr lang="en-US" sz="2100" b="1" dirty="0">
                <a:solidFill>
                  <a:srgbClr val="0B1B2B"/>
                </a:solidFill>
                <a:latin typeface="Baskerville Old Face" panose="02020602080505020303" pitchFamily="18" charset="0"/>
                <a:ea typeface="Calibri" pitchFamily="34" charset="-122"/>
                <a:cs typeface="Calibri" pitchFamily="34" charset="-120"/>
              </a:rPr>
              <a:t>Installer l'Arduino Uno</a:t>
            </a:r>
            <a:endParaRPr lang="en-US" sz="2100" dirty="0">
              <a:latin typeface="Baskerville Old Face" panose="02020602080505020303" pitchFamily="18" charset="0"/>
            </a:endParaRPr>
          </a:p>
        </p:txBody>
      </p:sp>
      <p:sp>
        <p:nvSpPr>
          <p:cNvPr id="13" name="Text 11"/>
          <p:cNvSpPr/>
          <p:nvPr/>
        </p:nvSpPr>
        <p:spPr>
          <a:xfrm>
            <a:off x="6954012" y="3909060"/>
            <a:ext cx="4594860" cy="1851660"/>
          </a:xfrm>
          <a:prstGeom prst="rect">
            <a:avLst/>
          </a:prstGeom>
          <a:noFill/>
          <a:ln/>
        </p:spPr>
        <p:txBody>
          <a:bodyPr wrap="square" lIns="0" tIns="0" rIns="0" bIns="0" rtlCol="0" anchor="t"/>
          <a:lstStyle/>
          <a:p>
            <a:pPr>
              <a:lnSpc>
                <a:spcPct val="150000"/>
              </a:lnSpc>
            </a:pPr>
            <a:r>
              <a:rPr lang="en-US" sz="1725" dirty="0">
                <a:latin typeface="Baskerville Old Face" panose="02020602080505020303" pitchFamily="18" charset="0"/>
                <a:ea typeface="Calibri" pitchFamily="34" charset="-122"/>
                <a:cs typeface="Calibri" pitchFamily="34" charset="-120"/>
              </a:rPr>
              <a:t>Positionner la carte à proximité du breadboard pour faciliter le câblage.</a:t>
            </a:r>
            <a:endParaRPr lang="en-US" sz="1725" dirty="0">
              <a:latin typeface="Baskerville Old Face" panose="02020602080505020303" pitchFamily="18" charset="0"/>
            </a:endParaRPr>
          </a:p>
        </p:txBody>
      </p:sp>
      <p:sp>
        <p:nvSpPr>
          <p:cNvPr id="14" name="Shape 12"/>
          <p:cNvSpPr/>
          <p:nvPr/>
        </p:nvSpPr>
        <p:spPr>
          <a:xfrm>
            <a:off x="12262104" y="2537460"/>
            <a:ext cx="5280660" cy="3497580"/>
          </a:xfrm>
          <a:prstGeom prst="roundRect">
            <a:avLst>
              <a:gd name="adj" fmla="val 3137"/>
            </a:avLst>
          </a:prstGeom>
          <a:solidFill>
            <a:srgbClr val="FFFFFF"/>
          </a:solidFill>
          <a:ln/>
          <a:effectLst>
            <a:outerShdw blurRad="101600" dist="38100" dir="5400000" algn="bl" rotWithShape="0">
              <a:srgbClr val="000000">
                <a:alpha val="10000"/>
              </a:srgbClr>
            </a:outerShdw>
          </a:effectLst>
        </p:spPr>
      </p:sp>
      <p:sp>
        <p:nvSpPr>
          <p:cNvPr id="15" name="Shape 13"/>
          <p:cNvSpPr/>
          <p:nvPr/>
        </p:nvSpPr>
        <p:spPr>
          <a:xfrm>
            <a:off x="12605004" y="2880360"/>
            <a:ext cx="754380" cy="754380"/>
          </a:xfrm>
          <a:prstGeom prst="ellipse">
            <a:avLst/>
          </a:prstGeom>
          <a:solidFill>
            <a:srgbClr val="FFC857"/>
          </a:solidFill>
          <a:ln/>
        </p:spPr>
      </p:sp>
      <p:sp>
        <p:nvSpPr>
          <p:cNvPr id="16" name="Text 14"/>
          <p:cNvSpPr/>
          <p:nvPr/>
        </p:nvSpPr>
        <p:spPr>
          <a:xfrm>
            <a:off x="12605004" y="2880360"/>
            <a:ext cx="754380" cy="754380"/>
          </a:xfrm>
          <a:prstGeom prst="rect">
            <a:avLst/>
          </a:prstGeom>
          <a:noFill/>
          <a:ln/>
        </p:spPr>
        <p:txBody>
          <a:bodyPr wrap="square" lIns="0" tIns="0" rIns="0" bIns="0" rtlCol="0" anchor="ctr"/>
          <a:lstStyle/>
          <a:p>
            <a:pPr algn="ctr"/>
            <a:r>
              <a:rPr lang="en-US" sz="2700" b="1" dirty="0">
                <a:solidFill>
                  <a:srgbClr val="0B1B2B"/>
                </a:solidFill>
                <a:latin typeface="Cambria" pitchFamily="34" charset="0"/>
                <a:ea typeface="Cambria" pitchFamily="34" charset="-122"/>
                <a:cs typeface="Cambria" pitchFamily="34" charset="-120"/>
              </a:rPr>
              <a:t>3</a:t>
            </a:r>
            <a:endParaRPr lang="en-US" sz="2700" dirty="0"/>
          </a:p>
        </p:txBody>
      </p:sp>
      <p:sp>
        <p:nvSpPr>
          <p:cNvPr id="17" name="Text 15"/>
          <p:cNvSpPr/>
          <p:nvPr/>
        </p:nvSpPr>
        <p:spPr>
          <a:xfrm>
            <a:off x="13565124" y="2894076"/>
            <a:ext cx="3703320" cy="754380"/>
          </a:xfrm>
          <a:prstGeom prst="rect">
            <a:avLst/>
          </a:prstGeom>
          <a:noFill/>
          <a:ln/>
        </p:spPr>
        <p:txBody>
          <a:bodyPr wrap="square" lIns="0" tIns="0" rIns="0" bIns="0" rtlCol="0" anchor="ctr"/>
          <a:lstStyle/>
          <a:p>
            <a:r>
              <a:rPr lang="en-US" sz="2100" b="1" dirty="0">
                <a:solidFill>
                  <a:srgbClr val="0B1B2B"/>
                </a:solidFill>
                <a:latin typeface="Baskerville Old Face" panose="02020602080505020303" pitchFamily="18" charset="0"/>
                <a:ea typeface="Calibri" pitchFamily="34" charset="-122"/>
                <a:cs typeface="Calibri" pitchFamily="34" charset="-120"/>
              </a:rPr>
              <a:t>Connecter les LEDS et Resistances</a:t>
            </a:r>
            <a:endParaRPr lang="en-US" sz="2100" dirty="0">
              <a:latin typeface="Baskerville Old Face" panose="02020602080505020303" pitchFamily="18" charset="0"/>
            </a:endParaRPr>
          </a:p>
        </p:txBody>
      </p:sp>
      <p:sp>
        <p:nvSpPr>
          <p:cNvPr id="18" name="Text 16"/>
          <p:cNvSpPr/>
          <p:nvPr/>
        </p:nvSpPr>
        <p:spPr>
          <a:xfrm>
            <a:off x="12605004" y="3909060"/>
            <a:ext cx="4594860" cy="1851660"/>
          </a:xfrm>
          <a:prstGeom prst="rect">
            <a:avLst/>
          </a:prstGeom>
          <a:noFill/>
          <a:ln/>
        </p:spPr>
        <p:txBody>
          <a:bodyPr wrap="square" lIns="0" tIns="0" rIns="0" bIns="0" rtlCol="0" anchor="t"/>
          <a:lstStyle/>
          <a:p>
            <a:pPr>
              <a:lnSpc>
                <a:spcPct val="150000"/>
              </a:lnSpc>
            </a:pPr>
            <a:r>
              <a:rPr lang="en-US" sz="1725" dirty="0">
                <a:latin typeface="Baskerville Old Face" panose="02020602080505020303" pitchFamily="18" charset="0"/>
                <a:ea typeface="Calibri" pitchFamily="34" charset="-122"/>
                <a:cs typeface="Calibri" pitchFamily="34" charset="-120"/>
              </a:rPr>
              <a:t>Relier chaque LED à une sortie numérique via une résistance, puis à la masse.</a:t>
            </a:r>
            <a:endParaRPr lang="en-US" sz="1725" dirty="0">
              <a:latin typeface="Baskerville Old Face" panose="02020602080505020303" pitchFamily="18" charset="0"/>
            </a:endParaRPr>
          </a:p>
        </p:txBody>
      </p:sp>
      <p:sp>
        <p:nvSpPr>
          <p:cNvPr id="19" name="Shape 17"/>
          <p:cNvSpPr/>
          <p:nvPr/>
        </p:nvSpPr>
        <p:spPr>
          <a:xfrm>
            <a:off x="960120" y="6377940"/>
            <a:ext cx="5280660" cy="3497580"/>
          </a:xfrm>
          <a:prstGeom prst="roundRect">
            <a:avLst>
              <a:gd name="adj" fmla="val 3137"/>
            </a:avLst>
          </a:prstGeom>
          <a:solidFill>
            <a:srgbClr val="FFFFFF"/>
          </a:solidFill>
          <a:ln/>
          <a:effectLst>
            <a:outerShdw blurRad="101600" dist="38100" dir="5400000" algn="bl" rotWithShape="0">
              <a:srgbClr val="000000">
                <a:alpha val="10000"/>
              </a:srgbClr>
            </a:outerShdw>
          </a:effectLst>
        </p:spPr>
      </p:sp>
      <p:sp>
        <p:nvSpPr>
          <p:cNvPr id="20" name="Shape 18"/>
          <p:cNvSpPr/>
          <p:nvPr/>
        </p:nvSpPr>
        <p:spPr>
          <a:xfrm>
            <a:off x="1303020" y="6720840"/>
            <a:ext cx="754380" cy="754380"/>
          </a:xfrm>
          <a:prstGeom prst="ellipse">
            <a:avLst/>
          </a:prstGeom>
          <a:solidFill>
            <a:srgbClr val="FFC857"/>
          </a:solidFill>
          <a:ln/>
        </p:spPr>
      </p:sp>
      <p:sp>
        <p:nvSpPr>
          <p:cNvPr id="21" name="Text 19"/>
          <p:cNvSpPr/>
          <p:nvPr/>
        </p:nvSpPr>
        <p:spPr>
          <a:xfrm>
            <a:off x="1303020" y="6720840"/>
            <a:ext cx="754380" cy="754380"/>
          </a:xfrm>
          <a:prstGeom prst="rect">
            <a:avLst/>
          </a:prstGeom>
          <a:noFill/>
          <a:ln/>
        </p:spPr>
        <p:txBody>
          <a:bodyPr wrap="square" lIns="0" tIns="0" rIns="0" bIns="0" rtlCol="0" anchor="ctr"/>
          <a:lstStyle/>
          <a:p>
            <a:pPr algn="ctr"/>
            <a:r>
              <a:rPr lang="en-US" sz="2700" b="1" dirty="0">
                <a:solidFill>
                  <a:srgbClr val="0B1B2B"/>
                </a:solidFill>
                <a:latin typeface="Cambria" pitchFamily="34" charset="0"/>
                <a:ea typeface="Cambria" pitchFamily="34" charset="-122"/>
                <a:cs typeface="Cambria" pitchFamily="34" charset="-120"/>
              </a:rPr>
              <a:t>4</a:t>
            </a:r>
            <a:endParaRPr lang="en-US" sz="2700" dirty="0"/>
          </a:p>
        </p:txBody>
      </p:sp>
      <p:sp>
        <p:nvSpPr>
          <p:cNvPr id="22" name="Text 20"/>
          <p:cNvSpPr/>
          <p:nvPr/>
        </p:nvSpPr>
        <p:spPr>
          <a:xfrm>
            <a:off x="2263140" y="6734556"/>
            <a:ext cx="3703320" cy="754380"/>
          </a:xfrm>
          <a:prstGeom prst="rect">
            <a:avLst/>
          </a:prstGeom>
          <a:noFill/>
          <a:ln/>
        </p:spPr>
        <p:txBody>
          <a:bodyPr wrap="square" lIns="0" tIns="0" rIns="0" bIns="0" rtlCol="0" anchor="ctr"/>
          <a:lstStyle/>
          <a:p>
            <a:r>
              <a:rPr lang="en-US" sz="2100" b="1" dirty="0">
                <a:solidFill>
                  <a:srgbClr val="0B1B2B"/>
                </a:solidFill>
                <a:latin typeface="Baskerville Old Face" panose="02020602080505020303" pitchFamily="18" charset="0"/>
                <a:ea typeface="Calibri" pitchFamily="34" charset="-122"/>
                <a:cs typeface="Calibri" pitchFamily="34" charset="-120"/>
              </a:rPr>
              <a:t>Brancher le HC-SR04</a:t>
            </a:r>
            <a:endParaRPr lang="en-US" sz="2100" dirty="0">
              <a:latin typeface="Baskerville Old Face" panose="02020602080505020303" pitchFamily="18" charset="0"/>
            </a:endParaRPr>
          </a:p>
        </p:txBody>
      </p:sp>
      <p:sp>
        <p:nvSpPr>
          <p:cNvPr id="23" name="Text 21"/>
          <p:cNvSpPr/>
          <p:nvPr/>
        </p:nvSpPr>
        <p:spPr>
          <a:xfrm>
            <a:off x="1303020" y="7749540"/>
            <a:ext cx="4594860" cy="1851660"/>
          </a:xfrm>
          <a:prstGeom prst="rect">
            <a:avLst/>
          </a:prstGeom>
          <a:noFill/>
          <a:ln/>
        </p:spPr>
        <p:txBody>
          <a:bodyPr wrap="square" lIns="0" tIns="0" rIns="0" bIns="0" rtlCol="0" anchor="t"/>
          <a:lstStyle/>
          <a:p>
            <a:pPr>
              <a:lnSpc>
                <a:spcPct val="150000"/>
              </a:lnSpc>
            </a:pPr>
            <a:r>
              <a:rPr lang="en-US" sz="1725" dirty="0">
                <a:latin typeface="Baskerville Old Face" panose="02020602080505020303" pitchFamily="18" charset="0"/>
                <a:ea typeface="Calibri" pitchFamily="34" charset="-122"/>
                <a:cs typeface="Calibri" pitchFamily="34" charset="-120"/>
              </a:rPr>
              <a:t>Connecter VCC, GND, Trig et Echo aux broches dédiées de l'Arduino.</a:t>
            </a:r>
            <a:endParaRPr lang="en-US" sz="1725" dirty="0">
              <a:latin typeface="Baskerville Old Face" panose="02020602080505020303" pitchFamily="18" charset="0"/>
            </a:endParaRPr>
          </a:p>
        </p:txBody>
      </p:sp>
      <p:sp>
        <p:nvSpPr>
          <p:cNvPr id="24" name="Shape 22"/>
          <p:cNvSpPr/>
          <p:nvPr/>
        </p:nvSpPr>
        <p:spPr>
          <a:xfrm>
            <a:off x="6611112" y="6377940"/>
            <a:ext cx="5280660" cy="3497580"/>
          </a:xfrm>
          <a:prstGeom prst="roundRect">
            <a:avLst>
              <a:gd name="adj" fmla="val 3137"/>
            </a:avLst>
          </a:prstGeom>
          <a:solidFill>
            <a:srgbClr val="FFFFFF"/>
          </a:solidFill>
          <a:ln/>
          <a:effectLst>
            <a:outerShdw blurRad="101600" dist="38100" dir="5400000" algn="bl" rotWithShape="0">
              <a:srgbClr val="000000">
                <a:alpha val="10000"/>
              </a:srgbClr>
            </a:outerShdw>
          </a:effectLst>
        </p:spPr>
      </p:sp>
      <p:sp>
        <p:nvSpPr>
          <p:cNvPr id="25" name="Shape 23"/>
          <p:cNvSpPr/>
          <p:nvPr/>
        </p:nvSpPr>
        <p:spPr>
          <a:xfrm>
            <a:off x="6954012" y="6720840"/>
            <a:ext cx="754380" cy="754380"/>
          </a:xfrm>
          <a:prstGeom prst="ellipse">
            <a:avLst/>
          </a:prstGeom>
          <a:solidFill>
            <a:srgbClr val="FFC857"/>
          </a:solidFill>
          <a:ln/>
        </p:spPr>
      </p:sp>
      <p:sp>
        <p:nvSpPr>
          <p:cNvPr id="26" name="Text 24"/>
          <p:cNvSpPr/>
          <p:nvPr/>
        </p:nvSpPr>
        <p:spPr>
          <a:xfrm>
            <a:off x="6954012" y="6720840"/>
            <a:ext cx="754380" cy="754380"/>
          </a:xfrm>
          <a:prstGeom prst="rect">
            <a:avLst/>
          </a:prstGeom>
          <a:noFill/>
          <a:ln/>
        </p:spPr>
        <p:txBody>
          <a:bodyPr wrap="square" lIns="0" tIns="0" rIns="0" bIns="0" rtlCol="0" anchor="ctr"/>
          <a:lstStyle/>
          <a:p>
            <a:pPr algn="ctr"/>
            <a:r>
              <a:rPr lang="en-US" sz="2700" b="1" dirty="0">
                <a:solidFill>
                  <a:srgbClr val="0B1B2B"/>
                </a:solidFill>
                <a:latin typeface="Cambria" pitchFamily="34" charset="0"/>
                <a:ea typeface="Cambria" pitchFamily="34" charset="-122"/>
                <a:cs typeface="Cambria" pitchFamily="34" charset="-120"/>
              </a:rPr>
              <a:t>5</a:t>
            </a:r>
            <a:endParaRPr lang="en-US" sz="2700" dirty="0"/>
          </a:p>
        </p:txBody>
      </p:sp>
      <p:sp>
        <p:nvSpPr>
          <p:cNvPr id="27" name="Text 25"/>
          <p:cNvSpPr/>
          <p:nvPr/>
        </p:nvSpPr>
        <p:spPr>
          <a:xfrm>
            <a:off x="7914132" y="6734556"/>
            <a:ext cx="3703320" cy="754380"/>
          </a:xfrm>
          <a:prstGeom prst="rect">
            <a:avLst/>
          </a:prstGeom>
          <a:noFill/>
          <a:ln/>
        </p:spPr>
        <p:txBody>
          <a:bodyPr wrap="square" lIns="0" tIns="0" rIns="0" bIns="0" rtlCol="0" anchor="ctr"/>
          <a:lstStyle/>
          <a:p>
            <a:r>
              <a:rPr lang="en-US" sz="2100" b="1" dirty="0">
                <a:solidFill>
                  <a:srgbClr val="0B1B2B"/>
                </a:solidFill>
                <a:latin typeface="Baskerville Old Face" panose="02020602080505020303" pitchFamily="18" charset="0"/>
                <a:ea typeface="Calibri" pitchFamily="34" charset="-122"/>
                <a:cs typeface="Calibri" pitchFamily="34" charset="-120"/>
              </a:rPr>
              <a:t>Ajouter le module HC-05</a:t>
            </a:r>
            <a:endParaRPr lang="en-US" sz="2100" dirty="0">
              <a:latin typeface="Baskerville Old Face" panose="02020602080505020303" pitchFamily="18" charset="0"/>
            </a:endParaRPr>
          </a:p>
        </p:txBody>
      </p:sp>
      <p:sp>
        <p:nvSpPr>
          <p:cNvPr id="28" name="Text 26"/>
          <p:cNvSpPr/>
          <p:nvPr/>
        </p:nvSpPr>
        <p:spPr>
          <a:xfrm>
            <a:off x="6954012" y="7749540"/>
            <a:ext cx="4594860" cy="1851660"/>
          </a:xfrm>
          <a:prstGeom prst="rect">
            <a:avLst/>
          </a:prstGeom>
          <a:noFill/>
          <a:ln/>
        </p:spPr>
        <p:txBody>
          <a:bodyPr wrap="square" lIns="0" tIns="0" rIns="0" bIns="0" rtlCol="0" anchor="t"/>
          <a:lstStyle/>
          <a:p>
            <a:pPr>
              <a:lnSpc>
                <a:spcPct val="150000"/>
              </a:lnSpc>
            </a:pPr>
            <a:r>
              <a:rPr lang="en-US" sz="1725" dirty="0">
                <a:latin typeface="Baskerville Old Face" panose="02020602080505020303" pitchFamily="18" charset="0"/>
                <a:ea typeface="Calibri" pitchFamily="34" charset="-122"/>
                <a:cs typeface="Calibri" pitchFamily="34" charset="-120"/>
              </a:rPr>
              <a:t>Relier RX/TX (avec diviseur de tension) ainsi que VCC et GND.</a:t>
            </a:r>
            <a:endParaRPr lang="en-US" sz="1725" dirty="0">
              <a:latin typeface="Baskerville Old Face" panose="02020602080505020303" pitchFamily="18" charset="0"/>
            </a:endParaRPr>
          </a:p>
        </p:txBody>
      </p:sp>
      <p:sp>
        <p:nvSpPr>
          <p:cNvPr id="29" name="Shape 27"/>
          <p:cNvSpPr/>
          <p:nvPr/>
        </p:nvSpPr>
        <p:spPr>
          <a:xfrm>
            <a:off x="12262104" y="6377940"/>
            <a:ext cx="5280660" cy="3497580"/>
          </a:xfrm>
          <a:prstGeom prst="roundRect">
            <a:avLst>
              <a:gd name="adj" fmla="val 3137"/>
            </a:avLst>
          </a:prstGeom>
          <a:solidFill>
            <a:srgbClr val="FFFFFF"/>
          </a:solidFill>
          <a:ln/>
          <a:effectLst>
            <a:outerShdw blurRad="101600" dist="38100" dir="5400000" algn="bl" rotWithShape="0">
              <a:srgbClr val="000000">
                <a:alpha val="10000"/>
              </a:srgbClr>
            </a:outerShdw>
          </a:effectLst>
        </p:spPr>
      </p:sp>
      <p:sp>
        <p:nvSpPr>
          <p:cNvPr id="30" name="Shape 28"/>
          <p:cNvSpPr/>
          <p:nvPr/>
        </p:nvSpPr>
        <p:spPr>
          <a:xfrm>
            <a:off x="12605004" y="6720840"/>
            <a:ext cx="754380" cy="754380"/>
          </a:xfrm>
          <a:prstGeom prst="ellipse">
            <a:avLst/>
          </a:prstGeom>
          <a:solidFill>
            <a:srgbClr val="FFC857"/>
          </a:solidFill>
          <a:ln/>
        </p:spPr>
      </p:sp>
      <p:sp>
        <p:nvSpPr>
          <p:cNvPr id="31" name="Text 29"/>
          <p:cNvSpPr/>
          <p:nvPr/>
        </p:nvSpPr>
        <p:spPr>
          <a:xfrm>
            <a:off x="12605004" y="6720840"/>
            <a:ext cx="754380" cy="754380"/>
          </a:xfrm>
          <a:prstGeom prst="rect">
            <a:avLst/>
          </a:prstGeom>
          <a:noFill/>
          <a:ln/>
        </p:spPr>
        <p:txBody>
          <a:bodyPr wrap="square" lIns="0" tIns="0" rIns="0" bIns="0" rtlCol="0" anchor="ctr"/>
          <a:lstStyle/>
          <a:p>
            <a:pPr algn="ctr"/>
            <a:r>
              <a:rPr lang="en-US" sz="2700" b="1" dirty="0">
                <a:solidFill>
                  <a:srgbClr val="0B1B2B"/>
                </a:solidFill>
                <a:latin typeface="Cambria" pitchFamily="34" charset="0"/>
                <a:ea typeface="Cambria" pitchFamily="34" charset="-122"/>
                <a:cs typeface="Cambria" pitchFamily="34" charset="-120"/>
              </a:rPr>
              <a:t>6</a:t>
            </a:r>
            <a:endParaRPr lang="en-US" sz="2700" dirty="0"/>
          </a:p>
        </p:txBody>
      </p:sp>
      <p:sp>
        <p:nvSpPr>
          <p:cNvPr id="32" name="Text 30"/>
          <p:cNvSpPr/>
          <p:nvPr/>
        </p:nvSpPr>
        <p:spPr>
          <a:xfrm>
            <a:off x="13565124" y="6734556"/>
            <a:ext cx="3703320" cy="754380"/>
          </a:xfrm>
          <a:prstGeom prst="rect">
            <a:avLst/>
          </a:prstGeom>
          <a:noFill/>
          <a:ln/>
        </p:spPr>
        <p:txBody>
          <a:bodyPr wrap="square" lIns="0" tIns="0" rIns="0" bIns="0" rtlCol="0" anchor="ctr"/>
          <a:lstStyle/>
          <a:p>
            <a:r>
              <a:rPr lang="en-US" sz="2100" b="1" dirty="0">
                <a:solidFill>
                  <a:srgbClr val="0B1B2B"/>
                </a:solidFill>
                <a:latin typeface="Baskerville Old Face" panose="02020602080505020303" pitchFamily="18" charset="0"/>
                <a:ea typeface="Calibri" pitchFamily="34" charset="-122"/>
                <a:cs typeface="Calibri" pitchFamily="34" charset="-120"/>
              </a:rPr>
              <a:t>Téléverser le programme</a:t>
            </a:r>
            <a:endParaRPr lang="en-US" sz="2100" dirty="0">
              <a:latin typeface="Baskerville Old Face" panose="02020602080505020303" pitchFamily="18" charset="0"/>
            </a:endParaRPr>
          </a:p>
        </p:txBody>
      </p:sp>
      <p:sp>
        <p:nvSpPr>
          <p:cNvPr id="33" name="Text 31"/>
          <p:cNvSpPr/>
          <p:nvPr/>
        </p:nvSpPr>
        <p:spPr>
          <a:xfrm>
            <a:off x="12605004" y="7749540"/>
            <a:ext cx="4594860" cy="1851660"/>
          </a:xfrm>
          <a:prstGeom prst="rect">
            <a:avLst/>
          </a:prstGeom>
          <a:noFill/>
          <a:ln/>
        </p:spPr>
        <p:txBody>
          <a:bodyPr wrap="square" lIns="0" tIns="0" rIns="0" bIns="0" rtlCol="0" anchor="t"/>
          <a:lstStyle/>
          <a:p>
            <a:pPr>
              <a:lnSpc>
                <a:spcPct val="150000"/>
              </a:lnSpc>
            </a:pPr>
            <a:r>
              <a:rPr lang="en-US" sz="1725" dirty="0">
                <a:latin typeface="Baskerville Old Face" panose="02020602080505020303" pitchFamily="18" charset="0"/>
                <a:ea typeface="Calibri" pitchFamily="34" charset="-122"/>
                <a:cs typeface="Calibri" pitchFamily="34" charset="-120"/>
              </a:rPr>
              <a:t>Envoyer le code depuis l'Arduino IDE, puis tester via l'interface web.</a:t>
            </a:r>
            <a:endParaRPr lang="en-US" sz="1725" dirty="0">
              <a:latin typeface="Baskerville Old Face" panose="02020602080505020303" pitchFamily="18" charset="0"/>
            </a:endParaRPr>
          </a:p>
        </p:txBody>
      </p:sp>
      <p:sp>
        <p:nvSpPr>
          <p:cNvPr id="34" name="Text 32"/>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5A7184"/>
                </a:solidFill>
                <a:latin typeface="Calibri" pitchFamily="34" charset="0"/>
                <a:ea typeface="Calibri" pitchFamily="34" charset="-122"/>
                <a:cs typeface="Calibri" pitchFamily="34" charset="-120"/>
              </a:rPr>
              <a:t>10</a:t>
            </a:r>
            <a:endParaRPr lang="en-US" sz="1650" dirty="0"/>
          </a:p>
        </p:txBody>
      </p:sp>
      <p:sp>
        <p:nvSpPr>
          <p:cNvPr id="35" name="Text 33"/>
          <p:cNvSpPr/>
          <p:nvPr/>
        </p:nvSpPr>
        <p:spPr>
          <a:xfrm>
            <a:off x="822960" y="9837420"/>
            <a:ext cx="6858000" cy="411480"/>
          </a:xfrm>
          <a:prstGeom prst="rect">
            <a:avLst/>
          </a:prstGeom>
          <a:noFill/>
          <a:ln/>
        </p:spPr>
        <p:txBody>
          <a:bodyPr wrap="square" lIns="0" tIns="0" rIns="0" bIns="0" rtlCol="0" anchor="ctr"/>
          <a:lstStyle/>
          <a:p>
            <a:r>
              <a:rPr lang="en-US" sz="1500" dirty="0">
                <a:solidFill>
                  <a:srgbClr val="5A7184"/>
                </a:solidFill>
                <a:latin typeface="Calibri" pitchFamily="34" charset="0"/>
                <a:ea typeface="Calibri" pitchFamily="34" charset="-122"/>
                <a:cs typeface="Calibri" pitchFamily="34" charset="-120"/>
              </a:rPr>
              <a:t>Objets Connectés Piste Intelligente</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FFC857"/>
                </a:solidFill>
                <a:latin typeface="Calibri" pitchFamily="34" charset="0"/>
                <a:ea typeface="Calibri" pitchFamily="34" charset="-122"/>
                <a:cs typeface="Calibri" pitchFamily="34" charset="-120"/>
              </a:rPr>
              <a:t>07</a:t>
            </a:r>
            <a:endParaRPr lang="en-US" sz="2100" dirty="0"/>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EAF2F8"/>
                </a:solidFill>
                <a:latin typeface="TT Supermolot Neue Expanded" panose="020B0604020202020204" charset="0"/>
                <a:ea typeface="Cambria" pitchFamily="34" charset="-122"/>
                <a:cs typeface="Cambria" pitchFamily="34" charset="-120"/>
              </a:rPr>
              <a:t>Fonctionnement du système</a:t>
            </a:r>
            <a:endParaRPr lang="en-US" sz="4500" dirty="0">
              <a:latin typeface="TT Supermolot Neue Expanded" panose="020B0604020202020204" charset="0"/>
            </a:endParaRPr>
          </a:p>
        </p:txBody>
      </p:sp>
      <p:sp>
        <p:nvSpPr>
          <p:cNvPr id="4" name="Text 2"/>
          <p:cNvSpPr/>
          <p:nvPr/>
        </p:nvSpPr>
        <p:spPr>
          <a:xfrm>
            <a:off x="960120" y="1988820"/>
            <a:ext cx="15087600" cy="548640"/>
          </a:xfrm>
          <a:prstGeom prst="rect">
            <a:avLst/>
          </a:prstGeom>
          <a:noFill/>
          <a:ln/>
        </p:spPr>
        <p:txBody>
          <a:bodyPr wrap="square" lIns="0" tIns="0" rIns="0" bIns="0" rtlCol="0" anchor="ctr"/>
          <a:lstStyle/>
          <a:p>
            <a:r>
              <a:rPr lang="en-US" sz="1950" dirty="0">
                <a:solidFill>
                  <a:schemeClr val="bg1"/>
                </a:solidFill>
                <a:latin typeface="Calibri" pitchFamily="34" charset="0"/>
                <a:ea typeface="Calibri" pitchFamily="34" charset="-122"/>
                <a:cs typeface="Calibri" pitchFamily="34" charset="-120"/>
              </a:rPr>
              <a:t>Logique de détection programmée dans l'Arduino (code C++ non détaillé ici)</a:t>
            </a:r>
            <a:endParaRPr lang="en-US" sz="1950" dirty="0">
              <a:solidFill>
                <a:schemeClr val="bg1"/>
              </a:solidFill>
            </a:endParaRPr>
          </a:p>
        </p:txBody>
      </p:sp>
      <p:sp>
        <p:nvSpPr>
          <p:cNvPr id="5" name="Shape 3"/>
          <p:cNvSpPr/>
          <p:nvPr/>
        </p:nvSpPr>
        <p:spPr>
          <a:xfrm>
            <a:off x="960120" y="2948940"/>
            <a:ext cx="3909060" cy="4114800"/>
          </a:xfrm>
          <a:prstGeom prst="roundRect">
            <a:avLst>
              <a:gd name="adj" fmla="val 2807"/>
            </a:avLst>
          </a:prstGeom>
          <a:solidFill>
            <a:srgbClr val="112A40"/>
          </a:solidFill>
          <a:ln/>
        </p:spPr>
      </p:sp>
      <p:sp>
        <p:nvSpPr>
          <p:cNvPr id="6" name="Text 4"/>
          <p:cNvSpPr/>
          <p:nvPr/>
        </p:nvSpPr>
        <p:spPr>
          <a:xfrm>
            <a:off x="1234440" y="4457700"/>
            <a:ext cx="3360420" cy="685800"/>
          </a:xfrm>
          <a:prstGeom prst="rect">
            <a:avLst/>
          </a:prstGeom>
          <a:noFill/>
          <a:ln/>
        </p:spPr>
        <p:txBody>
          <a:bodyPr wrap="square" lIns="0" tIns="0" rIns="0" bIns="0" rtlCol="0" anchor="ctr"/>
          <a:lstStyle/>
          <a:p>
            <a:pPr algn="ctr"/>
            <a:r>
              <a:rPr lang="en-US" sz="2025" b="1" dirty="0">
                <a:solidFill>
                  <a:schemeClr val="bg1"/>
                </a:solidFill>
                <a:latin typeface="Baskerville Old Face" panose="02020602080505020303" pitchFamily="18" charset="0"/>
                <a:ea typeface="Calibri" pitchFamily="34" charset="-122"/>
                <a:cs typeface="Calibri" pitchFamily="34" charset="-120"/>
              </a:rPr>
              <a:t>Mesure continue</a:t>
            </a:r>
            <a:endParaRPr lang="en-US" sz="2025" dirty="0">
              <a:solidFill>
                <a:schemeClr val="bg1"/>
              </a:solidFill>
              <a:latin typeface="Baskerville Old Face" panose="02020602080505020303" pitchFamily="18" charset="0"/>
            </a:endParaRPr>
          </a:p>
        </p:txBody>
      </p:sp>
      <p:sp>
        <p:nvSpPr>
          <p:cNvPr id="7" name="Text 5"/>
          <p:cNvSpPr/>
          <p:nvPr/>
        </p:nvSpPr>
        <p:spPr>
          <a:xfrm>
            <a:off x="1234440" y="5170932"/>
            <a:ext cx="3360420" cy="1783080"/>
          </a:xfrm>
          <a:prstGeom prst="rect">
            <a:avLst/>
          </a:prstGeom>
          <a:noFill/>
          <a:ln/>
        </p:spPr>
        <p:txBody>
          <a:bodyPr wrap="square" lIns="0" tIns="0" rIns="0" bIns="0" rtlCol="0" anchor="t"/>
          <a:lstStyle/>
          <a:p>
            <a:pPr algn="ctr">
              <a:lnSpc>
                <a:spcPct val="150000"/>
              </a:lnSpc>
            </a:pPr>
            <a:r>
              <a:rPr lang="en-US" sz="1650" dirty="0">
                <a:solidFill>
                  <a:schemeClr val="bg1"/>
                </a:solidFill>
                <a:latin typeface="Baskerville Old Face" panose="02020602080505020303" pitchFamily="18" charset="0"/>
                <a:ea typeface="Calibri" pitchFamily="34" charset="-122"/>
                <a:cs typeface="Calibri" pitchFamily="34" charset="-120"/>
              </a:rPr>
              <a:t>Le HC-SR04 mesure en permanence la distance face à lui.</a:t>
            </a:r>
            <a:endParaRPr lang="en-US" sz="1650" dirty="0">
              <a:solidFill>
                <a:schemeClr val="bg1"/>
              </a:solidFill>
              <a:latin typeface="Baskerville Old Face" panose="02020602080505020303" pitchFamily="18" charset="0"/>
            </a:endParaRPr>
          </a:p>
        </p:txBody>
      </p:sp>
      <p:sp>
        <p:nvSpPr>
          <p:cNvPr id="8" name="Text 6"/>
          <p:cNvSpPr/>
          <p:nvPr/>
        </p:nvSpPr>
        <p:spPr>
          <a:xfrm>
            <a:off x="4896612" y="4594860"/>
            <a:ext cx="301752" cy="822960"/>
          </a:xfrm>
          <a:prstGeom prst="rect">
            <a:avLst/>
          </a:prstGeom>
          <a:noFill/>
          <a:ln/>
        </p:spPr>
        <p:txBody>
          <a:bodyPr wrap="square" lIns="0" tIns="0" rIns="0" bIns="0" rtlCol="0" anchor="ctr"/>
          <a:lstStyle/>
          <a:p>
            <a:pPr algn="ctr"/>
            <a:r>
              <a:rPr lang="en-US" sz="3000" dirty="0">
                <a:solidFill>
                  <a:srgbClr val="FFC857"/>
                </a:solidFill>
              </a:rPr>
              <a:t>→</a:t>
            </a:r>
            <a:endParaRPr lang="en-US" sz="3000" dirty="0"/>
          </a:p>
        </p:txBody>
      </p:sp>
      <p:sp>
        <p:nvSpPr>
          <p:cNvPr id="9" name="Shape 7"/>
          <p:cNvSpPr/>
          <p:nvPr/>
        </p:nvSpPr>
        <p:spPr>
          <a:xfrm>
            <a:off x="5212080" y="2948940"/>
            <a:ext cx="3909060" cy="4114800"/>
          </a:xfrm>
          <a:prstGeom prst="roundRect">
            <a:avLst>
              <a:gd name="adj" fmla="val 2807"/>
            </a:avLst>
          </a:prstGeom>
          <a:solidFill>
            <a:srgbClr val="112A40"/>
          </a:solidFill>
          <a:ln/>
        </p:spPr>
      </p:sp>
      <p:sp>
        <p:nvSpPr>
          <p:cNvPr id="10" name="Text 8"/>
          <p:cNvSpPr/>
          <p:nvPr/>
        </p:nvSpPr>
        <p:spPr>
          <a:xfrm>
            <a:off x="5486400" y="4457700"/>
            <a:ext cx="3360420" cy="685800"/>
          </a:xfrm>
          <a:prstGeom prst="rect">
            <a:avLst/>
          </a:prstGeom>
          <a:noFill/>
          <a:ln/>
        </p:spPr>
        <p:txBody>
          <a:bodyPr wrap="square" lIns="0" tIns="0" rIns="0" bIns="0" rtlCol="0" anchor="ctr"/>
          <a:lstStyle/>
          <a:p>
            <a:pPr algn="ctr"/>
            <a:r>
              <a:rPr lang="en-US" sz="2025" b="1" dirty="0">
                <a:solidFill>
                  <a:schemeClr val="bg1"/>
                </a:solidFill>
                <a:latin typeface="Baskerville Old Face" panose="02020602080505020303" pitchFamily="18" charset="0"/>
                <a:ea typeface="Calibri" pitchFamily="34" charset="-122"/>
                <a:cs typeface="Calibri" pitchFamily="34" charset="-120"/>
              </a:rPr>
              <a:t>Objet détecté</a:t>
            </a:r>
            <a:endParaRPr lang="en-US" sz="2025" dirty="0">
              <a:solidFill>
                <a:schemeClr val="bg1"/>
              </a:solidFill>
              <a:latin typeface="Baskerville Old Face" panose="02020602080505020303" pitchFamily="18" charset="0"/>
            </a:endParaRPr>
          </a:p>
        </p:txBody>
      </p:sp>
      <p:sp>
        <p:nvSpPr>
          <p:cNvPr id="11" name="Text 9"/>
          <p:cNvSpPr/>
          <p:nvPr/>
        </p:nvSpPr>
        <p:spPr>
          <a:xfrm>
            <a:off x="5486400" y="5170932"/>
            <a:ext cx="3360420" cy="1783080"/>
          </a:xfrm>
          <a:prstGeom prst="rect">
            <a:avLst/>
          </a:prstGeom>
          <a:noFill/>
          <a:ln/>
        </p:spPr>
        <p:txBody>
          <a:bodyPr wrap="square" lIns="0" tIns="0" rIns="0" bIns="0" rtlCol="0" anchor="t"/>
          <a:lstStyle/>
          <a:p>
            <a:pPr algn="ctr">
              <a:lnSpc>
                <a:spcPct val="150000"/>
              </a:lnSpc>
            </a:pPr>
            <a:r>
              <a:rPr lang="en-US" sz="1650" dirty="0">
                <a:solidFill>
                  <a:schemeClr val="bg1"/>
                </a:solidFill>
                <a:latin typeface="Baskerville Old Face" panose="02020602080505020303" pitchFamily="18" charset="0"/>
                <a:ea typeface="Calibri" pitchFamily="34" charset="-122"/>
                <a:cs typeface="Calibri" pitchFamily="34" charset="-120"/>
              </a:rPr>
              <a:t>Sous un certain seuil, l'objet est interprété comme un avion qui s'approche ou s'éloigne.</a:t>
            </a:r>
            <a:endParaRPr lang="en-US" sz="1650" dirty="0">
              <a:solidFill>
                <a:schemeClr val="bg1"/>
              </a:solidFill>
              <a:latin typeface="Baskerville Old Face" panose="02020602080505020303" pitchFamily="18" charset="0"/>
            </a:endParaRPr>
          </a:p>
        </p:txBody>
      </p:sp>
      <p:sp>
        <p:nvSpPr>
          <p:cNvPr id="12" name="Text 10"/>
          <p:cNvSpPr/>
          <p:nvPr/>
        </p:nvSpPr>
        <p:spPr>
          <a:xfrm>
            <a:off x="9148572" y="4594860"/>
            <a:ext cx="301752" cy="822960"/>
          </a:xfrm>
          <a:prstGeom prst="rect">
            <a:avLst/>
          </a:prstGeom>
          <a:noFill/>
          <a:ln/>
        </p:spPr>
        <p:txBody>
          <a:bodyPr wrap="square" lIns="0" tIns="0" rIns="0" bIns="0" rtlCol="0" anchor="ctr"/>
          <a:lstStyle/>
          <a:p>
            <a:pPr algn="ctr"/>
            <a:r>
              <a:rPr lang="en-US" sz="3000" dirty="0">
                <a:solidFill>
                  <a:srgbClr val="FFC857"/>
                </a:solidFill>
              </a:rPr>
              <a:t>→</a:t>
            </a:r>
            <a:endParaRPr lang="en-US" sz="3000" dirty="0"/>
          </a:p>
        </p:txBody>
      </p:sp>
      <p:sp>
        <p:nvSpPr>
          <p:cNvPr id="13" name="Shape 11"/>
          <p:cNvSpPr/>
          <p:nvPr/>
        </p:nvSpPr>
        <p:spPr>
          <a:xfrm>
            <a:off x="9464040" y="2948940"/>
            <a:ext cx="3909060" cy="4114800"/>
          </a:xfrm>
          <a:prstGeom prst="roundRect">
            <a:avLst>
              <a:gd name="adj" fmla="val 2807"/>
            </a:avLst>
          </a:prstGeom>
          <a:solidFill>
            <a:srgbClr val="112A40"/>
          </a:solidFill>
          <a:ln/>
        </p:spPr>
      </p:sp>
      <p:sp>
        <p:nvSpPr>
          <p:cNvPr id="14" name="Text 12"/>
          <p:cNvSpPr/>
          <p:nvPr/>
        </p:nvSpPr>
        <p:spPr>
          <a:xfrm>
            <a:off x="9738360" y="4457700"/>
            <a:ext cx="3360420" cy="685800"/>
          </a:xfrm>
          <a:prstGeom prst="rect">
            <a:avLst/>
          </a:prstGeom>
          <a:noFill/>
          <a:ln/>
        </p:spPr>
        <p:txBody>
          <a:bodyPr wrap="square" lIns="0" tIns="0" rIns="0" bIns="0" rtlCol="0" anchor="ctr"/>
          <a:lstStyle/>
          <a:p>
            <a:pPr algn="ctr"/>
            <a:r>
              <a:rPr lang="en-US" sz="2025" b="1" dirty="0">
                <a:solidFill>
                  <a:schemeClr val="bg1"/>
                </a:solidFill>
                <a:latin typeface="Baskerville Old Face" panose="02020602080505020303" pitchFamily="18" charset="0"/>
                <a:ea typeface="Calibri" pitchFamily="34" charset="-122"/>
                <a:cs typeface="Calibri" pitchFamily="34" charset="-120"/>
              </a:rPr>
              <a:t>Animation LED</a:t>
            </a:r>
            <a:endParaRPr lang="en-US" sz="2025" dirty="0">
              <a:solidFill>
                <a:schemeClr val="bg1"/>
              </a:solidFill>
              <a:latin typeface="Baskerville Old Face" panose="02020602080505020303" pitchFamily="18" charset="0"/>
            </a:endParaRPr>
          </a:p>
        </p:txBody>
      </p:sp>
      <p:sp>
        <p:nvSpPr>
          <p:cNvPr id="15" name="Text 13"/>
          <p:cNvSpPr/>
          <p:nvPr/>
        </p:nvSpPr>
        <p:spPr>
          <a:xfrm>
            <a:off x="9738360" y="5170932"/>
            <a:ext cx="3360420" cy="1783080"/>
          </a:xfrm>
          <a:prstGeom prst="rect">
            <a:avLst/>
          </a:prstGeom>
          <a:noFill/>
          <a:ln/>
        </p:spPr>
        <p:txBody>
          <a:bodyPr wrap="square" lIns="0" tIns="0" rIns="0" bIns="0" rtlCol="0" anchor="t"/>
          <a:lstStyle/>
          <a:p>
            <a:pPr algn="ctr">
              <a:lnSpc>
                <a:spcPct val="150000"/>
              </a:lnSpc>
            </a:pPr>
            <a:r>
              <a:rPr lang="en-US" sz="1650" dirty="0">
                <a:solidFill>
                  <a:schemeClr val="bg1"/>
                </a:solidFill>
                <a:latin typeface="Baskerville Old Face" panose="02020602080505020303" pitchFamily="18" charset="0"/>
                <a:ea typeface="Calibri" pitchFamily="34" charset="-122"/>
                <a:cs typeface="Calibri" pitchFamily="34" charset="-120"/>
              </a:rPr>
              <a:t>Les 8 LED s'allument en séquence, effet « fusée », pour signaler l'événement.</a:t>
            </a:r>
            <a:endParaRPr lang="en-US" sz="1650" dirty="0">
              <a:solidFill>
                <a:schemeClr val="bg1"/>
              </a:solidFill>
              <a:latin typeface="Baskerville Old Face" panose="02020602080505020303" pitchFamily="18" charset="0"/>
            </a:endParaRPr>
          </a:p>
        </p:txBody>
      </p:sp>
      <p:sp>
        <p:nvSpPr>
          <p:cNvPr id="16" name="Text 14"/>
          <p:cNvSpPr/>
          <p:nvPr/>
        </p:nvSpPr>
        <p:spPr>
          <a:xfrm>
            <a:off x="13400532" y="4594860"/>
            <a:ext cx="301752" cy="822960"/>
          </a:xfrm>
          <a:prstGeom prst="rect">
            <a:avLst/>
          </a:prstGeom>
          <a:noFill/>
          <a:ln/>
        </p:spPr>
        <p:txBody>
          <a:bodyPr wrap="square" lIns="0" tIns="0" rIns="0" bIns="0" rtlCol="0" anchor="ctr"/>
          <a:lstStyle/>
          <a:p>
            <a:pPr algn="ctr"/>
            <a:r>
              <a:rPr lang="en-US" sz="3000" dirty="0">
                <a:solidFill>
                  <a:srgbClr val="FFC857"/>
                </a:solidFill>
              </a:rPr>
              <a:t>→</a:t>
            </a:r>
            <a:endParaRPr lang="en-US" sz="3000" dirty="0"/>
          </a:p>
        </p:txBody>
      </p:sp>
      <p:sp>
        <p:nvSpPr>
          <p:cNvPr id="17" name="Shape 15"/>
          <p:cNvSpPr/>
          <p:nvPr/>
        </p:nvSpPr>
        <p:spPr>
          <a:xfrm>
            <a:off x="13716000" y="2948940"/>
            <a:ext cx="3909060" cy="4114800"/>
          </a:xfrm>
          <a:prstGeom prst="roundRect">
            <a:avLst>
              <a:gd name="adj" fmla="val 2807"/>
            </a:avLst>
          </a:prstGeom>
          <a:solidFill>
            <a:srgbClr val="112A40"/>
          </a:solidFill>
          <a:ln/>
        </p:spPr>
      </p:sp>
      <p:sp>
        <p:nvSpPr>
          <p:cNvPr id="18" name="Text 16"/>
          <p:cNvSpPr/>
          <p:nvPr/>
        </p:nvSpPr>
        <p:spPr>
          <a:xfrm>
            <a:off x="13990320" y="4457700"/>
            <a:ext cx="3360420" cy="685800"/>
          </a:xfrm>
          <a:prstGeom prst="rect">
            <a:avLst/>
          </a:prstGeom>
          <a:noFill/>
          <a:ln/>
        </p:spPr>
        <p:txBody>
          <a:bodyPr wrap="square" lIns="0" tIns="0" rIns="0" bIns="0" rtlCol="0" anchor="ctr"/>
          <a:lstStyle/>
          <a:p>
            <a:pPr algn="ctr"/>
            <a:r>
              <a:rPr lang="en-US" sz="2025" b="1" dirty="0">
                <a:solidFill>
                  <a:schemeClr val="bg1"/>
                </a:solidFill>
                <a:latin typeface="Baskerville Old Face" panose="02020602080505020303" pitchFamily="18" charset="0"/>
                <a:ea typeface="Calibri" pitchFamily="34" charset="-122"/>
                <a:cs typeface="Calibri" pitchFamily="34" charset="-120"/>
              </a:rPr>
              <a:t>Piste libérée</a:t>
            </a:r>
            <a:endParaRPr lang="en-US" sz="2025" dirty="0">
              <a:solidFill>
                <a:schemeClr val="bg1"/>
              </a:solidFill>
              <a:latin typeface="Baskerville Old Face" panose="02020602080505020303" pitchFamily="18" charset="0"/>
            </a:endParaRPr>
          </a:p>
        </p:txBody>
      </p:sp>
      <p:sp>
        <p:nvSpPr>
          <p:cNvPr id="19" name="Text 17"/>
          <p:cNvSpPr/>
          <p:nvPr/>
        </p:nvSpPr>
        <p:spPr>
          <a:xfrm>
            <a:off x="13990320" y="5170932"/>
            <a:ext cx="3360420" cy="1783080"/>
          </a:xfrm>
          <a:prstGeom prst="rect">
            <a:avLst/>
          </a:prstGeom>
          <a:noFill/>
          <a:ln/>
        </p:spPr>
        <p:txBody>
          <a:bodyPr wrap="square" lIns="0" tIns="0" rIns="0" bIns="0" rtlCol="0" anchor="t"/>
          <a:lstStyle/>
          <a:p>
            <a:pPr algn="ctr">
              <a:lnSpc>
                <a:spcPct val="150000"/>
              </a:lnSpc>
            </a:pPr>
            <a:r>
              <a:rPr lang="en-US" sz="1650" dirty="0">
                <a:solidFill>
                  <a:schemeClr val="bg1"/>
                </a:solidFill>
                <a:latin typeface="Baskerville Old Face" panose="02020602080505020303" pitchFamily="18" charset="0"/>
                <a:ea typeface="Calibri" pitchFamily="34" charset="-122"/>
                <a:cs typeface="Calibri" pitchFamily="34" charset="-120"/>
              </a:rPr>
              <a:t>Une fois l'objet éloigné, les LED s'éteignent : la Piste redevient disponible.</a:t>
            </a:r>
            <a:endParaRPr lang="en-US" sz="1650" dirty="0">
              <a:solidFill>
                <a:schemeClr val="bg1"/>
              </a:solidFill>
              <a:latin typeface="Baskerville Old Face" panose="02020602080505020303" pitchFamily="18" charset="0"/>
            </a:endParaRPr>
          </a:p>
        </p:txBody>
      </p:sp>
      <p:sp>
        <p:nvSpPr>
          <p:cNvPr id="20" name="Text 18"/>
          <p:cNvSpPr/>
          <p:nvPr/>
        </p:nvSpPr>
        <p:spPr>
          <a:xfrm>
            <a:off x="960120" y="7475220"/>
            <a:ext cx="16322040" cy="822960"/>
          </a:xfrm>
          <a:prstGeom prst="rect">
            <a:avLst/>
          </a:prstGeom>
          <a:noFill/>
          <a:ln/>
        </p:spPr>
        <p:txBody>
          <a:bodyPr wrap="square" lIns="0" tIns="0" rIns="0" bIns="0" rtlCol="0" anchor="ctr"/>
          <a:lstStyle/>
          <a:p>
            <a:r>
              <a:rPr lang="en-US" sz="1875" i="1" dirty="0">
                <a:solidFill>
                  <a:srgbClr val="FFC857"/>
                </a:solidFill>
                <a:latin typeface="Calibri" pitchFamily="34" charset="0"/>
                <a:ea typeface="Calibri" pitchFamily="34" charset="-122"/>
                <a:cs typeface="Calibri" pitchFamily="34" charset="-120"/>
              </a:rPr>
              <a:t>Un second Capteur (ou le même, réutilisé) applique la même logique pour signaler les départs d'avions.</a:t>
            </a:r>
            <a:endParaRPr lang="en-US" sz="1875" dirty="0"/>
          </a:p>
        </p:txBody>
      </p:sp>
      <p:sp>
        <p:nvSpPr>
          <p:cNvPr id="21" name="Text 19"/>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9FB3C8"/>
                </a:solidFill>
                <a:latin typeface="Calibri" pitchFamily="34" charset="0"/>
                <a:ea typeface="Calibri" pitchFamily="34" charset="-122"/>
                <a:cs typeface="Calibri" pitchFamily="34" charset="-120"/>
              </a:rPr>
              <a:t>11</a:t>
            </a:r>
            <a:endParaRPr lang="en-US" sz="1650" dirty="0"/>
          </a:p>
        </p:txBody>
      </p:sp>
      <p:sp>
        <p:nvSpPr>
          <p:cNvPr id="22" name="Text 20"/>
          <p:cNvSpPr/>
          <p:nvPr/>
        </p:nvSpPr>
        <p:spPr>
          <a:xfrm>
            <a:off x="822960" y="9601200"/>
            <a:ext cx="6858000" cy="411480"/>
          </a:xfrm>
          <a:prstGeom prst="rect">
            <a:avLst/>
          </a:prstGeom>
          <a:noFill/>
          <a:ln/>
        </p:spPr>
        <p:txBody>
          <a:bodyPr wrap="square" lIns="0" tIns="0" rIns="0" bIns="0" rtlCol="0" anchor="ctr"/>
          <a:lstStyle/>
          <a:p>
            <a:r>
              <a:rPr lang="en-US" sz="1500" dirty="0">
                <a:solidFill>
                  <a:srgbClr val="9FB3C8"/>
                </a:solidFill>
                <a:latin typeface="Calibri" pitchFamily="34" charset="0"/>
                <a:ea typeface="Calibri" pitchFamily="34" charset="-122"/>
                <a:cs typeface="Calibri" pitchFamily="34" charset="-120"/>
              </a:rPr>
              <a:t>Objets Connectés — Piste Intelligente</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E0A93A"/>
                </a:solidFill>
                <a:latin typeface="Calibri" pitchFamily="34" charset="0"/>
                <a:ea typeface="Calibri" pitchFamily="34" charset="-122"/>
                <a:cs typeface="Calibri" pitchFamily="34" charset="-120"/>
              </a:rPr>
              <a:t>08</a:t>
            </a:r>
            <a:endParaRPr lang="en-US" sz="2100" dirty="0"/>
          </a:p>
        </p:txBody>
      </p:sp>
      <p:sp>
        <p:nvSpPr>
          <p:cNvPr id="3" name="Text 1"/>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0B1B2B"/>
                </a:solidFill>
                <a:latin typeface="Cambria" pitchFamily="34" charset="0"/>
                <a:ea typeface="Cambria" pitchFamily="34" charset="-122"/>
                <a:cs typeface="Cambria" pitchFamily="34" charset="-120"/>
              </a:rPr>
              <a:t>Démonstration</a:t>
            </a:r>
            <a:endParaRPr lang="en-US" sz="4500" dirty="0"/>
          </a:p>
        </p:txBody>
      </p:sp>
      <p:sp>
        <p:nvSpPr>
          <p:cNvPr id="4" name="Text 2"/>
          <p:cNvSpPr/>
          <p:nvPr/>
        </p:nvSpPr>
        <p:spPr>
          <a:xfrm>
            <a:off x="960120" y="1988820"/>
            <a:ext cx="12344400" cy="548640"/>
          </a:xfrm>
          <a:prstGeom prst="rect">
            <a:avLst/>
          </a:prstGeom>
          <a:solidFill>
            <a:schemeClr val="bg1"/>
          </a:solidFill>
          <a:ln/>
        </p:spPr>
        <p:txBody>
          <a:bodyPr wrap="square" lIns="0" tIns="0" rIns="0" bIns="0" rtlCol="0" anchor="ctr"/>
          <a:lstStyle/>
          <a:p>
            <a:r>
              <a:rPr lang="en-US" sz="2025" dirty="0">
                <a:solidFill>
                  <a:srgbClr val="5A7184"/>
                </a:solidFill>
                <a:latin typeface="TT Supermolot Neue Expanded" panose="020B0604020202020204" charset="0"/>
                <a:ea typeface="Calibri" pitchFamily="34" charset="-122"/>
                <a:cs typeface="Calibri" pitchFamily="34" charset="-120"/>
              </a:rPr>
              <a:t>Montage final en fonctionnement réel</a:t>
            </a:r>
            <a:endParaRPr lang="en-US" sz="2025" dirty="0">
              <a:latin typeface="TT Supermolot Neue Expanded" panose="020B0604020202020204" charset="0"/>
            </a:endParaRPr>
          </a:p>
        </p:txBody>
      </p:sp>
      <p:sp>
        <p:nvSpPr>
          <p:cNvPr id="5" name="Shape 3"/>
          <p:cNvSpPr/>
          <p:nvPr/>
        </p:nvSpPr>
        <p:spPr>
          <a:xfrm>
            <a:off x="2331720" y="2880360"/>
            <a:ext cx="13578840" cy="6446520"/>
          </a:xfrm>
          <a:prstGeom prst="roundRect">
            <a:avLst>
              <a:gd name="adj" fmla="val 1702"/>
            </a:avLst>
          </a:prstGeom>
          <a:solidFill>
            <a:srgbClr val="0B1B2B"/>
          </a:solidFill>
          <a:ln w="15875">
            <a:solidFill>
              <a:srgbClr val="C7D3DD"/>
            </a:solidFill>
            <a:prstDash val="dash"/>
          </a:ln>
        </p:spPr>
      </p:sp>
      <p:sp>
        <p:nvSpPr>
          <p:cNvPr id="6" name="Shape 4"/>
          <p:cNvSpPr/>
          <p:nvPr/>
        </p:nvSpPr>
        <p:spPr>
          <a:xfrm>
            <a:off x="8462772" y="5349240"/>
            <a:ext cx="1371600" cy="1371600"/>
          </a:xfrm>
          <a:prstGeom prst="ellipse">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sp>
      <p:sp>
        <p:nvSpPr>
          <p:cNvPr id="7" name="Text 5"/>
          <p:cNvSpPr/>
          <p:nvPr/>
        </p:nvSpPr>
        <p:spPr>
          <a:xfrm>
            <a:off x="3703320" y="7063740"/>
            <a:ext cx="10835640" cy="1234440"/>
          </a:xfrm>
          <a:prstGeom prst="rect">
            <a:avLst/>
          </a:prstGeom>
          <a:noFill/>
          <a:ln/>
        </p:spPr>
        <p:txBody>
          <a:bodyPr wrap="square" lIns="0" tIns="0" rIns="0" bIns="0" rtlCol="0" anchor="ctr"/>
          <a:lstStyle/>
          <a:p>
            <a:pPr algn="ctr"/>
            <a:r>
              <a:rPr lang="en-US" sz="2000" i="1" dirty="0">
                <a:solidFill>
                  <a:schemeClr val="bg1"/>
                </a:solidFill>
                <a:latin typeface="Calibri" pitchFamily="34" charset="0"/>
                <a:ea typeface="Calibri" pitchFamily="34" charset="-122"/>
                <a:cs typeface="Calibri" pitchFamily="34" charset="-120"/>
              </a:rPr>
              <a:t>MISE EN PRATIQUE</a:t>
            </a:r>
            <a:endParaRPr lang="en-US" sz="1950" dirty="0">
              <a:solidFill>
                <a:schemeClr val="bg1"/>
              </a:solidFill>
            </a:endParaRPr>
          </a:p>
        </p:txBody>
      </p:sp>
      <p:sp>
        <p:nvSpPr>
          <p:cNvPr id="8" name="Text 6"/>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5A7184"/>
                </a:solidFill>
                <a:latin typeface="Calibri" pitchFamily="34" charset="0"/>
                <a:ea typeface="Calibri" pitchFamily="34" charset="-122"/>
                <a:cs typeface="Calibri" pitchFamily="34" charset="-120"/>
              </a:rPr>
              <a:t>12</a:t>
            </a:r>
            <a:endParaRPr lang="en-US" sz="1650" dirty="0"/>
          </a:p>
        </p:txBody>
      </p:sp>
      <p:sp>
        <p:nvSpPr>
          <p:cNvPr id="9" name="Text 7"/>
          <p:cNvSpPr/>
          <p:nvPr/>
        </p:nvSpPr>
        <p:spPr>
          <a:xfrm>
            <a:off x="822960" y="9601200"/>
            <a:ext cx="6858000" cy="411480"/>
          </a:xfrm>
          <a:prstGeom prst="rect">
            <a:avLst/>
          </a:prstGeom>
          <a:noFill/>
          <a:ln/>
        </p:spPr>
        <p:txBody>
          <a:bodyPr wrap="square" lIns="0" tIns="0" rIns="0" bIns="0" rtlCol="0" anchor="ctr"/>
          <a:lstStyle/>
          <a:p>
            <a:r>
              <a:rPr lang="en-US" sz="1500" dirty="0">
                <a:solidFill>
                  <a:srgbClr val="5A7184"/>
                </a:solidFill>
                <a:latin typeface="Calibri" pitchFamily="34" charset="0"/>
                <a:ea typeface="Calibri" pitchFamily="34" charset="-122"/>
                <a:cs typeface="Calibri" pitchFamily="34" charset="-120"/>
              </a:rPr>
              <a:t>Objets Connectés — Piste Intelligente</a:t>
            </a:r>
            <a:endParaRPr lang="en-US" sz="1500" dirty="0"/>
          </a:p>
        </p:txBody>
      </p:sp>
      <p:sp>
        <p:nvSpPr>
          <p:cNvPr id="10" name="Ellipse 9">
            <a:hlinkClick r:id="" action="ppaction://noaction" highlightClick="1"/>
            <a:extLst>
              <a:ext uri="{FF2B5EF4-FFF2-40B4-BE49-F238E27FC236}">
                <a16:creationId xmlns:a16="http://schemas.microsoft.com/office/drawing/2014/main" id="{AAD1BD03-9C5D-E8B0-087F-2BED22021E64}"/>
              </a:ext>
            </a:extLst>
          </p:cNvPr>
          <p:cNvSpPr/>
          <p:nvPr/>
        </p:nvSpPr>
        <p:spPr>
          <a:xfrm>
            <a:off x="8777478" y="5692140"/>
            <a:ext cx="762000" cy="685800"/>
          </a:xfrm>
          <a:prstGeom prst="ellipse">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dirty="0"/>
          </a:p>
        </p:txBody>
      </p:sp>
      <p:sp>
        <p:nvSpPr>
          <p:cNvPr id="11" name="Freeform 22">
            <a:extLst>
              <a:ext uri="{FF2B5EF4-FFF2-40B4-BE49-F238E27FC236}">
                <a16:creationId xmlns:a16="http://schemas.microsoft.com/office/drawing/2014/main" id="{21E08D34-DBF1-4C4A-989E-084157FBB4AD}"/>
              </a:ext>
            </a:extLst>
          </p:cNvPr>
          <p:cNvSpPr/>
          <p:nvPr/>
        </p:nvSpPr>
        <p:spPr>
          <a:xfrm>
            <a:off x="14038638" y="7522976"/>
            <a:ext cx="1917642" cy="1941064"/>
          </a:xfrm>
          <a:custGeom>
            <a:avLst/>
            <a:gdLst/>
            <a:ahLst/>
            <a:cxnLst/>
            <a:rect l="l" t="t" r="r" b="b"/>
            <a:pathLst>
              <a:path w="2821284" h="3319654">
                <a:moveTo>
                  <a:pt x="0" y="0"/>
                </a:moveTo>
                <a:lnTo>
                  <a:pt x="2821284" y="0"/>
                </a:lnTo>
                <a:lnTo>
                  <a:pt x="2821284" y="3319654"/>
                </a:lnTo>
                <a:lnTo>
                  <a:pt x="0" y="3319654"/>
                </a:lnTo>
                <a:lnTo>
                  <a:pt x="0" y="0"/>
                </a:lnTo>
                <a:close/>
              </a:path>
            </a:pathLst>
          </a:custGeom>
          <a:blipFill>
            <a:blip r:embed="rId3"/>
            <a:stretch>
              <a:fillRect/>
            </a:stretch>
          </a:blipFill>
        </p:spPr>
      </p:sp>
      <p:sp>
        <p:nvSpPr>
          <p:cNvPr id="12" name="Freeform 23">
            <a:extLst>
              <a:ext uri="{FF2B5EF4-FFF2-40B4-BE49-F238E27FC236}">
                <a16:creationId xmlns:a16="http://schemas.microsoft.com/office/drawing/2014/main" id="{1A1E97E9-76CB-5EFA-D615-EA543979D69C}"/>
              </a:ext>
            </a:extLst>
          </p:cNvPr>
          <p:cNvSpPr/>
          <p:nvPr/>
        </p:nvSpPr>
        <p:spPr>
          <a:xfrm rot="5400000">
            <a:off x="2416816" y="2912108"/>
            <a:ext cx="955033" cy="1033784"/>
          </a:xfrm>
          <a:custGeom>
            <a:avLst/>
            <a:gdLst/>
            <a:ahLst/>
            <a:cxnLst/>
            <a:rect l="l" t="t" r="r" b="b"/>
            <a:pathLst>
              <a:path w="2619583" h="2619583">
                <a:moveTo>
                  <a:pt x="0" y="0"/>
                </a:moveTo>
                <a:lnTo>
                  <a:pt x="2619583" y="0"/>
                </a:lnTo>
                <a:lnTo>
                  <a:pt x="2619583" y="2619582"/>
                </a:lnTo>
                <a:lnTo>
                  <a:pt x="0" y="26195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24">
            <a:extLst>
              <a:ext uri="{FF2B5EF4-FFF2-40B4-BE49-F238E27FC236}">
                <a16:creationId xmlns:a16="http://schemas.microsoft.com/office/drawing/2014/main" id="{36837184-9A5C-FD03-AB7A-597F25F8A5A5}"/>
              </a:ext>
            </a:extLst>
          </p:cNvPr>
          <p:cNvSpPr/>
          <p:nvPr/>
        </p:nvSpPr>
        <p:spPr>
          <a:xfrm>
            <a:off x="14188503" y="2880360"/>
            <a:ext cx="2131002" cy="403904"/>
          </a:xfrm>
          <a:custGeom>
            <a:avLst/>
            <a:gdLst/>
            <a:ahLst/>
            <a:cxnLst/>
            <a:rect l="l" t="t" r="r" b="b"/>
            <a:pathLst>
              <a:path w="3657600" h="532015">
                <a:moveTo>
                  <a:pt x="0" y="0"/>
                </a:moveTo>
                <a:lnTo>
                  <a:pt x="3657600" y="0"/>
                </a:lnTo>
                <a:lnTo>
                  <a:pt x="3657600" y="532015"/>
                </a:lnTo>
                <a:lnTo>
                  <a:pt x="0" y="5320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25">
            <a:extLst>
              <a:ext uri="{FF2B5EF4-FFF2-40B4-BE49-F238E27FC236}">
                <a16:creationId xmlns:a16="http://schemas.microsoft.com/office/drawing/2014/main" id="{DE9A00B3-CF53-0761-65B4-A87CB44FFC8F}"/>
              </a:ext>
            </a:extLst>
          </p:cNvPr>
          <p:cNvSpPr/>
          <p:nvPr/>
        </p:nvSpPr>
        <p:spPr>
          <a:xfrm>
            <a:off x="1922775" y="9073181"/>
            <a:ext cx="1780545" cy="190206"/>
          </a:xfrm>
          <a:custGeom>
            <a:avLst/>
            <a:gdLst/>
            <a:ahLst/>
            <a:cxnLst/>
            <a:rect l="l" t="t" r="r" b="b"/>
            <a:pathLst>
              <a:path w="3938691" h="572901">
                <a:moveTo>
                  <a:pt x="0" y="0"/>
                </a:moveTo>
                <a:lnTo>
                  <a:pt x="3938691" y="0"/>
                </a:lnTo>
                <a:lnTo>
                  <a:pt x="3938691" y="572901"/>
                </a:lnTo>
                <a:lnTo>
                  <a:pt x="0" y="57290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10896600" y="3238500"/>
            <a:ext cx="8001000" cy="719937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p:spPr>
      </p:sp>
      <p:sp>
        <p:nvSpPr>
          <p:cNvPr id="3" name="Text 1"/>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FFC857"/>
                </a:solidFill>
                <a:latin typeface="Calibri" pitchFamily="34" charset="0"/>
                <a:ea typeface="Calibri" pitchFamily="34" charset="-122"/>
                <a:cs typeface="Calibri" pitchFamily="34" charset="-120"/>
              </a:rPr>
              <a:t>09</a:t>
            </a:r>
            <a:endParaRPr lang="en-US" sz="2100" dirty="0"/>
          </a:p>
        </p:txBody>
      </p:sp>
      <p:sp>
        <p:nvSpPr>
          <p:cNvPr id="4" name="Text 2"/>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EAF2F8"/>
                </a:solidFill>
                <a:latin typeface="TT Supermolot Neue Expanded" panose="020B0604020202020204" charset="0"/>
                <a:ea typeface="Cambria" pitchFamily="34" charset="-122"/>
                <a:cs typeface="Cambria" pitchFamily="34" charset="-120"/>
              </a:rPr>
              <a:t>Difficultés Rencontrées</a:t>
            </a:r>
            <a:endParaRPr lang="en-US" sz="4500" dirty="0">
              <a:latin typeface="TT Supermolot Neue Expanded" panose="020B0604020202020204" charset="0"/>
            </a:endParaRPr>
          </a:p>
        </p:txBody>
      </p:sp>
      <p:sp>
        <p:nvSpPr>
          <p:cNvPr id="6" name="Shape 4"/>
          <p:cNvSpPr/>
          <p:nvPr/>
        </p:nvSpPr>
        <p:spPr>
          <a:xfrm>
            <a:off x="960120" y="4375404"/>
            <a:ext cx="246888" cy="246888"/>
          </a:xfrm>
          <a:prstGeom prst="ellipse">
            <a:avLst/>
          </a:prstGeom>
          <a:solidFill>
            <a:srgbClr val="FFC857"/>
          </a:solidFill>
          <a:ln/>
        </p:spPr>
      </p:sp>
      <p:sp>
        <p:nvSpPr>
          <p:cNvPr id="7" name="Text 5"/>
          <p:cNvSpPr/>
          <p:nvPr/>
        </p:nvSpPr>
        <p:spPr>
          <a:xfrm>
            <a:off x="1440180" y="4142232"/>
            <a:ext cx="10561320" cy="685800"/>
          </a:xfrm>
          <a:prstGeom prst="rect">
            <a:avLst/>
          </a:prstGeom>
          <a:noFill/>
          <a:ln/>
        </p:spPr>
        <p:txBody>
          <a:bodyPr wrap="square" lIns="0" tIns="0" rIns="0" bIns="0" rtlCol="0" anchor="t"/>
          <a:lstStyle/>
          <a:p>
            <a:r>
              <a:rPr lang="en-US" sz="2025" dirty="0">
                <a:solidFill>
                  <a:schemeClr val="bg1"/>
                </a:solidFill>
                <a:latin typeface="Baskerville Old Face" panose="02020602080505020303" pitchFamily="18" charset="0"/>
                <a:ea typeface="Calibri" pitchFamily="34" charset="-122"/>
                <a:cs typeface="Calibri" pitchFamily="34" charset="-120"/>
              </a:rPr>
              <a:t>Cohabitation confliictuelle entre le Capteur HC-SR04 et La carte Bluetooth Module HC-05</a:t>
            </a:r>
          </a:p>
          <a:p>
            <a:endParaRPr lang="en-US" sz="2025" dirty="0"/>
          </a:p>
        </p:txBody>
      </p:sp>
      <p:sp>
        <p:nvSpPr>
          <p:cNvPr id="10" name="Shape 8"/>
          <p:cNvSpPr/>
          <p:nvPr/>
        </p:nvSpPr>
        <p:spPr>
          <a:xfrm>
            <a:off x="960120" y="5600700"/>
            <a:ext cx="246888" cy="246888"/>
          </a:xfrm>
          <a:prstGeom prst="ellipse">
            <a:avLst/>
          </a:prstGeom>
          <a:solidFill>
            <a:srgbClr val="FFC857"/>
          </a:solidFill>
          <a:ln/>
        </p:spPr>
      </p:sp>
      <p:sp>
        <p:nvSpPr>
          <p:cNvPr id="11" name="Text 9"/>
          <p:cNvSpPr/>
          <p:nvPr/>
        </p:nvSpPr>
        <p:spPr>
          <a:xfrm>
            <a:off x="1440180" y="5295900"/>
            <a:ext cx="10561320" cy="685800"/>
          </a:xfrm>
          <a:prstGeom prst="rect">
            <a:avLst/>
          </a:prstGeom>
          <a:noFill/>
          <a:ln/>
        </p:spPr>
        <p:txBody>
          <a:bodyPr wrap="square" lIns="0" tIns="0" rIns="0" bIns="0" rtlCol="0" anchor="t"/>
          <a:lstStyle/>
          <a:p>
            <a:r>
              <a:rPr lang="en-US" sz="2025" dirty="0">
                <a:solidFill>
                  <a:schemeClr val="bg1"/>
                </a:solidFill>
                <a:latin typeface="Baskerville Old Face" panose="02020602080505020303" pitchFamily="18" charset="0"/>
                <a:ea typeface="Calibri" pitchFamily="34" charset="-122"/>
                <a:cs typeface="Calibri" pitchFamily="34" charset="-120"/>
              </a:rPr>
              <a:t>Signal lumineux clair pour les avions à l'approche et au départ</a:t>
            </a:r>
            <a:endParaRPr lang="en-US" sz="2025" dirty="0">
              <a:solidFill>
                <a:schemeClr val="bg1"/>
              </a:solidFill>
              <a:latin typeface="Baskerville Old Face" panose="02020602080505020303" pitchFamily="18" charset="0"/>
            </a:endParaRPr>
          </a:p>
        </p:txBody>
      </p:sp>
      <p:sp>
        <p:nvSpPr>
          <p:cNvPr id="12" name="Shape 10"/>
          <p:cNvSpPr/>
          <p:nvPr/>
        </p:nvSpPr>
        <p:spPr>
          <a:xfrm>
            <a:off x="960120" y="6926580"/>
            <a:ext cx="246888" cy="246888"/>
          </a:xfrm>
          <a:prstGeom prst="ellipse">
            <a:avLst/>
          </a:prstGeom>
          <a:solidFill>
            <a:srgbClr val="FFC857"/>
          </a:solidFill>
          <a:ln/>
        </p:spPr>
      </p:sp>
      <p:sp>
        <p:nvSpPr>
          <p:cNvPr id="13" name="Text 11"/>
          <p:cNvSpPr/>
          <p:nvPr/>
        </p:nvSpPr>
        <p:spPr>
          <a:xfrm>
            <a:off x="1440180" y="6693408"/>
            <a:ext cx="10561320" cy="685800"/>
          </a:xfrm>
          <a:prstGeom prst="rect">
            <a:avLst/>
          </a:prstGeom>
          <a:noFill/>
          <a:ln/>
        </p:spPr>
        <p:txBody>
          <a:bodyPr wrap="square" lIns="0" tIns="0" rIns="0" bIns="0" rtlCol="0" anchor="t"/>
          <a:lstStyle/>
          <a:p>
            <a:r>
              <a:rPr lang="en-US" sz="2025" dirty="0">
                <a:solidFill>
                  <a:schemeClr val="bg1"/>
                </a:solidFill>
                <a:latin typeface="Baskerville Old Face" panose="02020602080505020303" pitchFamily="18" charset="0"/>
                <a:ea typeface="Calibri" pitchFamily="34" charset="-122"/>
                <a:cs typeface="Calibri" pitchFamily="34" charset="-120"/>
              </a:rPr>
              <a:t>Matériel insuffisant</a:t>
            </a:r>
            <a:endParaRPr lang="en-US" sz="2025" dirty="0">
              <a:solidFill>
                <a:schemeClr val="bg1"/>
              </a:solidFill>
              <a:latin typeface="Baskerville Old Face" panose="02020602080505020303" pitchFamily="18" charset="0"/>
            </a:endParaRPr>
          </a:p>
        </p:txBody>
      </p:sp>
      <p:sp>
        <p:nvSpPr>
          <p:cNvPr id="14" name="Text 12"/>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9FB3C8"/>
                </a:solidFill>
                <a:latin typeface="Calibri" pitchFamily="34" charset="0"/>
                <a:ea typeface="Calibri" pitchFamily="34" charset="-122"/>
                <a:cs typeface="Calibri" pitchFamily="34" charset="-120"/>
              </a:rPr>
              <a:t>13</a:t>
            </a:r>
            <a:endParaRPr lang="en-US" sz="1650" dirty="0"/>
          </a:p>
        </p:txBody>
      </p:sp>
      <p:sp>
        <p:nvSpPr>
          <p:cNvPr id="16" name="Freeform 22">
            <a:extLst>
              <a:ext uri="{FF2B5EF4-FFF2-40B4-BE49-F238E27FC236}">
                <a16:creationId xmlns:a16="http://schemas.microsoft.com/office/drawing/2014/main" id="{7AD3C8E5-91A5-079E-C53F-771EB5F7B48A}"/>
              </a:ext>
            </a:extLst>
          </p:cNvPr>
          <p:cNvSpPr/>
          <p:nvPr/>
        </p:nvSpPr>
        <p:spPr>
          <a:xfrm flipH="1">
            <a:off x="-15240" y="8345936"/>
            <a:ext cx="1915218" cy="1941064"/>
          </a:xfrm>
          <a:custGeom>
            <a:avLst/>
            <a:gdLst/>
            <a:ahLst/>
            <a:cxnLst/>
            <a:rect l="l" t="t" r="r" b="b"/>
            <a:pathLst>
              <a:path w="2821284" h="3319654">
                <a:moveTo>
                  <a:pt x="0" y="0"/>
                </a:moveTo>
                <a:lnTo>
                  <a:pt x="2821284" y="0"/>
                </a:lnTo>
                <a:lnTo>
                  <a:pt x="2821284" y="3319654"/>
                </a:lnTo>
                <a:lnTo>
                  <a:pt x="0" y="3319654"/>
                </a:lnTo>
                <a:lnTo>
                  <a:pt x="0" y="0"/>
                </a:lnTo>
                <a:close/>
              </a:path>
            </a:pathLst>
          </a:custGeom>
          <a:blipFill>
            <a:blip r:embed="rId4"/>
            <a:stretch>
              <a:fillRect/>
            </a:stretch>
          </a:blipFill>
        </p:spPr>
      </p:sp>
      <p:sp>
        <p:nvSpPr>
          <p:cNvPr id="17" name="Freeform 25">
            <a:extLst>
              <a:ext uri="{FF2B5EF4-FFF2-40B4-BE49-F238E27FC236}">
                <a16:creationId xmlns:a16="http://schemas.microsoft.com/office/drawing/2014/main" id="{5F083870-6842-7299-A0EB-06817E7FBF76}"/>
              </a:ext>
            </a:extLst>
          </p:cNvPr>
          <p:cNvSpPr/>
          <p:nvPr/>
        </p:nvSpPr>
        <p:spPr>
          <a:xfrm flipH="1">
            <a:off x="16108680" y="33013"/>
            <a:ext cx="2819400" cy="538487"/>
          </a:xfrm>
          <a:custGeom>
            <a:avLst/>
            <a:gdLst/>
            <a:ahLst/>
            <a:cxnLst/>
            <a:rect l="l" t="t" r="r" b="b"/>
            <a:pathLst>
              <a:path w="3938691" h="572901">
                <a:moveTo>
                  <a:pt x="0" y="0"/>
                </a:moveTo>
                <a:lnTo>
                  <a:pt x="3938691" y="0"/>
                </a:lnTo>
                <a:lnTo>
                  <a:pt x="3938691" y="572901"/>
                </a:lnTo>
                <a:lnTo>
                  <a:pt x="0" y="5729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10668000" y="2208276"/>
            <a:ext cx="8229600" cy="822960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p:spPr>
      </p:sp>
      <p:sp>
        <p:nvSpPr>
          <p:cNvPr id="3" name="Text 1"/>
          <p:cNvSpPr/>
          <p:nvPr/>
        </p:nvSpPr>
        <p:spPr>
          <a:xfrm>
            <a:off x="960120" y="685800"/>
            <a:ext cx="2057400" cy="685800"/>
          </a:xfrm>
          <a:prstGeom prst="rect">
            <a:avLst/>
          </a:prstGeom>
          <a:noFill/>
          <a:ln/>
        </p:spPr>
        <p:txBody>
          <a:bodyPr wrap="square" lIns="0" tIns="0" rIns="0" bIns="0" rtlCol="0" anchor="ctr"/>
          <a:lstStyle/>
          <a:p>
            <a:r>
              <a:rPr lang="en-US" sz="2100" b="1" dirty="0">
                <a:solidFill>
                  <a:srgbClr val="FFC857"/>
                </a:solidFill>
                <a:latin typeface="Calibri" pitchFamily="34" charset="0"/>
                <a:ea typeface="Calibri" pitchFamily="34" charset="-122"/>
                <a:cs typeface="Calibri" pitchFamily="34" charset="-120"/>
              </a:rPr>
              <a:t>09</a:t>
            </a:r>
            <a:endParaRPr lang="en-US" sz="2100" dirty="0"/>
          </a:p>
        </p:txBody>
      </p:sp>
      <p:sp>
        <p:nvSpPr>
          <p:cNvPr id="4" name="Text 2"/>
          <p:cNvSpPr/>
          <p:nvPr/>
        </p:nvSpPr>
        <p:spPr>
          <a:xfrm>
            <a:off x="960120" y="1165860"/>
            <a:ext cx="12344400" cy="822960"/>
          </a:xfrm>
          <a:prstGeom prst="rect">
            <a:avLst/>
          </a:prstGeom>
          <a:noFill/>
          <a:ln/>
        </p:spPr>
        <p:txBody>
          <a:bodyPr wrap="square" lIns="0" tIns="0" rIns="0" bIns="0" rtlCol="0" anchor="ctr"/>
          <a:lstStyle/>
          <a:p>
            <a:r>
              <a:rPr lang="en-US" sz="4500" b="1" dirty="0">
                <a:solidFill>
                  <a:srgbClr val="EAF2F8"/>
                </a:solidFill>
                <a:latin typeface="TT Supermolot Neue Expanded" panose="020B0604020202020204" charset="0"/>
                <a:ea typeface="Cambria" pitchFamily="34" charset="-122"/>
                <a:cs typeface="Cambria" pitchFamily="34" charset="-120"/>
              </a:rPr>
              <a:t>Conclusion</a:t>
            </a:r>
            <a:endParaRPr lang="en-US" sz="4500" dirty="0">
              <a:latin typeface="TT Supermolot Neue Expanded" panose="020B0604020202020204" charset="0"/>
            </a:endParaRPr>
          </a:p>
        </p:txBody>
      </p:sp>
      <p:sp>
        <p:nvSpPr>
          <p:cNvPr id="5" name="Text 3"/>
          <p:cNvSpPr/>
          <p:nvPr/>
        </p:nvSpPr>
        <p:spPr>
          <a:xfrm>
            <a:off x="960120" y="2400300"/>
            <a:ext cx="11247120" cy="1508760"/>
          </a:xfrm>
          <a:prstGeom prst="rect">
            <a:avLst/>
          </a:prstGeom>
          <a:noFill/>
          <a:ln/>
        </p:spPr>
        <p:txBody>
          <a:bodyPr wrap="square" lIns="0" tIns="0" rIns="0" bIns="0" rtlCol="0" anchor="ctr"/>
          <a:lstStyle/>
          <a:p>
            <a:pPr>
              <a:lnSpc>
                <a:spcPct val="150000"/>
              </a:lnSpc>
            </a:pPr>
            <a:r>
              <a:rPr lang="en-US" sz="2325" dirty="0">
                <a:solidFill>
                  <a:srgbClr val="EAF2F8"/>
                </a:solidFill>
                <a:latin typeface="Baskerville Old Face" panose="02020602080505020303" pitchFamily="18" charset="0"/>
                <a:ea typeface="Calibri" pitchFamily="34" charset="-122"/>
                <a:cs typeface="Calibri" pitchFamily="34" charset="-120"/>
              </a:rPr>
              <a:t>D'une simple guirlande décorative à un véritable outil d'aide à la décision sur l'état d'une </a:t>
            </a:r>
            <a:r>
              <a:rPr lang="en-US" sz="2325" dirty="0" err="1">
                <a:solidFill>
                  <a:srgbClr val="EAF2F8"/>
                </a:solidFill>
                <a:latin typeface="Baskerville Old Face" panose="02020602080505020303" pitchFamily="18" charset="0"/>
                <a:ea typeface="Calibri" pitchFamily="34" charset="-122"/>
                <a:cs typeface="Calibri" pitchFamily="34" charset="-120"/>
              </a:rPr>
              <a:t>piste</a:t>
            </a:r>
            <a:r>
              <a:rPr lang="en-US" sz="2325" dirty="0">
                <a:solidFill>
                  <a:srgbClr val="EAF2F8"/>
                </a:solidFill>
                <a:latin typeface="Baskerville Old Face" panose="02020602080505020303" pitchFamily="18" charset="0"/>
                <a:ea typeface="Calibri" pitchFamily="34" charset="-122"/>
                <a:cs typeface="Calibri" pitchFamily="34" charset="-120"/>
              </a:rPr>
              <a:t>, grâce à l'ajout d'un Capteur de distance et d'une logique de détection.</a:t>
            </a:r>
            <a:endParaRPr lang="en-US" sz="2325" dirty="0">
              <a:latin typeface="Baskerville Old Face" panose="02020602080505020303" pitchFamily="18" charset="0"/>
            </a:endParaRPr>
          </a:p>
        </p:txBody>
      </p:sp>
      <p:sp>
        <p:nvSpPr>
          <p:cNvPr id="6" name="Shape 4"/>
          <p:cNvSpPr/>
          <p:nvPr/>
        </p:nvSpPr>
        <p:spPr>
          <a:xfrm>
            <a:off x="960120" y="4375404"/>
            <a:ext cx="246888" cy="246888"/>
          </a:xfrm>
          <a:prstGeom prst="ellipse">
            <a:avLst/>
          </a:prstGeom>
          <a:solidFill>
            <a:srgbClr val="FFC857"/>
          </a:solidFill>
          <a:ln/>
        </p:spPr>
      </p:sp>
      <p:sp>
        <p:nvSpPr>
          <p:cNvPr id="7" name="Text 5"/>
          <p:cNvSpPr/>
          <p:nvPr/>
        </p:nvSpPr>
        <p:spPr>
          <a:xfrm>
            <a:off x="1440180" y="4142232"/>
            <a:ext cx="10561320" cy="685800"/>
          </a:xfrm>
          <a:prstGeom prst="rect">
            <a:avLst/>
          </a:prstGeom>
          <a:noFill/>
          <a:ln/>
        </p:spPr>
        <p:txBody>
          <a:bodyPr wrap="square" lIns="0" tIns="0" rIns="0" bIns="0" rtlCol="0" anchor="t"/>
          <a:lstStyle/>
          <a:p>
            <a:r>
              <a:rPr lang="en-US" sz="2025" dirty="0">
                <a:solidFill>
                  <a:schemeClr val="bg1"/>
                </a:solidFill>
                <a:latin typeface="Baskerville Old Face" panose="02020602080505020303" pitchFamily="18" charset="0"/>
                <a:ea typeface="Calibri" pitchFamily="34" charset="-122"/>
                <a:cs typeface="Calibri" pitchFamily="34" charset="-120"/>
              </a:rPr>
              <a:t>Liaison Bluetooth conservée pour le pilotage à distance</a:t>
            </a:r>
            <a:endParaRPr lang="en-US" sz="2025" dirty="0">
              <a:solidFill>
                <a:schemeClr val="bg1"/>
              </a:solidFill>
              <a:latin typeface="Baskerville Old Face" panose="02020602080505020303" pitchFamily="18" charset="0"/>
            </a:endParaRPr>
          </a:p>
        </p:txBody>
      </p:sp>
      <p:sp>
        <p:nvSpPr>
          <p:cNvPr id="8" name="Shape 6"/>
          <p:cNvSpPr/>
          <p:nvPr/>
        </p:nvSpPr>
        <p:spPr>
          <a:xfrm>
            <a:off x="960120" y="5225796"/>
            <a:ext cx="246888" cy="246888"/>
          </a:xfrm>
          <a:prstGeom prst="ellipse">
            <a:avLst/>
          </a:prstGeom>
          <a:solidFill>
            <a:srgbClr val="FFC857"/>
          </a:solidFill>
          <a:ln/>
        </p:spPr>
      </p:sp>
      <p:sp>
        <p:nvSpPr>
          <p:cNvPr id="9" name="Text 7"/>
          <p:cNvSpPr/>
          <p:nvPr/>
        </p:nvSpPr>
        <p:spPr>
          <a:xfrm>
            <a:off x="1440180" y="4992624"/>
            <a:ext cx="10561320" cy="685800"/>
          </a:xfrm>
          <a:prstGeom prst="rect">
            <a:avLst/>
          </a:prstGeom>
          <a:noFill/>
          <a:ln/>
        </p:spPr>
        <p:txBody>
          <a:bodyPr wrap="square" lIns="0" tIns="0" rIns="0" bIns="0" rtlCol="0" anchor="t"/>
          <a:lstStyle/>
          <a:p>
            <a:r>
              <a:rPr lang="en-US" sz="2025" dirty="0">
                <a:solidFill>
                  <a:schemeClr val="bg1"/>
                </a:solidFill>
                <a:latin typeface="Baskerville Old Face" panose="02020602080505020303" pitchFamily="18" charset="0"/>
                <a:ea typeface="Calibri" pitchFamily="34" charset="-122"/>
                <a:cs typeface="Calibri" pitchFamily="34" charset="-120"/>
              </a:rPr>
              <a:t>Détection en temps réel avec le Capteur HC-SR04</a:t>
            </a:r>
            <a:endParaRPr lang="en-US" sz="2025" dirty="0">
              <a:solidFill>
                <a:schemeClr val="bg1"/>
              </a:solidFill>
              <a:latin typeface="Baskerville Old Face" panose="02020602080505020303" pitchFamily="18" charset="0"/>
            </a:endParaRPr>
          </a:p>
        </p:txBody>
      </p:sp>
      <p:sp>
        <p:nvSpPr>
          <p:cNvPr id="10" name="Shape 8"/>
          <p:cNvSpPr/>
          <p:nvPr/>
        </p:nvSpPr>
        <p:spPr>
          <a:xfrm>
            <a:off x="960120" y="6076188"/>
            <a:ext cx="246888" cy="246888"/>
          </a:xfrm>
          <a:prstGeom prst="ellipse">
            <a:avLst/>
          </a:prstGeom>
          <a:solidFill>
            <a:srgbClr val="FFC857"/>
          </a:solidFill>
          <a:ln/>
        </p:spPr>
      </p:sp>
      <p:sp>
        <p:nvSpPr>
          <p:cNvPr id="11" name="Text 9"/>
          <p:cNvSpPr/>
          <p:nvPr/>
        </p:nvSpPr>
        <p:spPr>
          <a:xfrm>
            <a:off x="1440180" y="5843016"/>
            <a:ext cx="10561320" cy="685800"/>
          </a:xfrm>
          <a:prstGeom prst="rect">
            <a:avLst/>
          </a:prstGeom>
          <a:noFill/>
          <a:ln/>
        </p:spPr>
        <p:txBody>
          <a:bodyPr wrap="square" lIns="0" tIns="0" rIns="0" bIns="0" rtlCol="0" anchor="t"/>
          <a:lstStyle/>
          <a:p>
            <a:r>
              <a:rPr lang="en-US" sz="2025" dirty="0">
                <a:solidFill>
                  <a:schemeClr val="bg1"/>
                </a:solidFill>
                <a:latin typeface="Baskerville Old Face" panose="02020602080505020303" pitchFamily="18" charset="0"/>
                <a:ea typeface="Calibri" pitchFamily="34" charset="-122"/>
                <a:cs typeface="Calibri" pitchFamily="34" charset="-120"/>
              </a:rPr>
              <a:t>Signal lumineux clair pour les avions à l'approche et au départ</a:t>
            </a:r>
            <a:endParaRPr lang="en-US" sz="2025" dirty="0">
              <a:solidFill>
                <a:schemeClr val="bg1"/>
              </a:solidFill>
              <a:latin typeface="Baskerville Old Face" panose="02020602080505020303" pitchFamily="18" charset="0"/>
            </a:endParaRPr>
          </a:p>
        </p:txBody>
      </p:sp>
      <p:sp>
        <p:nvSpPr>
          <p:cNvPr id="12" name="Shape 10"/>
          <p:cNvSpPr/>
          <p:nvPr/>
        </p:nvSpPr>
        <p:spPr>
          <a:xfrm>
            <a:off x="960120" y="6926580"/>
            <a:ext cx="246888" cy="246888"/>
          </a:xfrm>
          <a:prstGeom prst="ellipse">
            <a:avLst/>
          </a:prstGeom>
          <a:solidFill>
            <a:srgbClr val="FFC857"/>
          </a:solidFill>
          <a:ln/>
        </p:spPr>
      </p:sp>
      <p:sp>
        <p:nvSpPr>
          <p:cNvPr id="13" name="Text 11"/>
          <p:cNvSpPr/>
          <p:nvPr/>
        </p:nvSpPr>
        <p:spPr>
          <a:xfrm>
            <a:off x="1440180" y="6693408"/>
            <a:ext cx="10561320" cy="685800"/>
          </a:xfrm>
          <a:prstGeom prst="rect">
            <a:avLst/>
          </a:prstGeom>
          <a:noFill/>
          <a:ln/>
        </p:spPr>
        <p:txBody>
          <a:bodyPr wrap="square" lIns="0" tIns="0" rIns="0" bIns="0" rtlCol="0" anchor="t"/>
          <a:lstStyle/>
          <a:p>
            <a:r>
              <a:rPr lang="en-US" sz="2025" dirty="0">
                <a:solidFill>
                  <a:schemeClr val="bg1"/>
                </a:solidFill>
                <a:latin typeface="Baskerville Old Face" panose="02020602080505020303" pitchFamily="18" charset="0"/>
                <a:ea typeface="Calibri" pitchFamily="34" charset="-122"/>
                <a:cs typeface="Calibri" pitchFamily="34" charset="-120"/>
              </a:rPr>
              <a:t>Une base extensible vers d'autres scénarios de sécurité</a:t>
            </a:r>
            <a:endParaRPr lang="en-US" sz="2025" dirty="0">
              <a:solidFill>
                <a:schemeClr val="bg1"/>
              </a:solidFill>
              <a:latin typeface="Baskerville Old Face" panose="02020602080505020303" pitchFamily="18" charset="0"/>
            </a:endParaRPr>
          </a:p>
        </p:txBody>
      </p:sp>
      <p:sp>
        <p:nvSpPr>
          <p:cNvPr id="14" name="Text 12"/>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9FB3C8"/>
                </a:solidFill>
                <a:latin typeface="Calibri" pitchFamily="34" charset="0"/>
                <a:ea typeface="Calibri" pitchFamily="34" charset="-122"/>
                <a:cs typeface="Calibri" pitchFamily="34" charset="-120"/>
              </a:rPr>
              <a:t>13</a:t>
            </a:r>
            <a:endParaRPr lang="en-US" sz="1650" dirty="0"/>
          </a:p>
        </p:txBody>
      </p:sp>
      <p:sp>
        <p:nvSpPr>
          <p:cNvPr id="16" name="Freeform 22">
            <a:extLst>
              <a:ext uri="{FF2B5EF4-FFF2-40B4-BE49-F238E27FC236}">
                <a16:creationId xmlns:a16="http://schemas.microsoft.com/office/drawing/2014/main" id="{7AD3C8E5-91A5-079E-C53F-771EB5F7B48A}"/>
              </a:ext>
            </a:extLst>
          </p:cNvPr>
          <p:cNvSpPr/>
          <p:nvPr/>
        </p:nvSpPr>
        <p:spPr>
          <a:xfrm flipH="1">
            <a:off x="-15240" y="8345936"/>
            <a:ext cx="1915218" cy="1941064"/>
          </a:xfrm>
          <a:custGeom>
            <a:avLst/>
            <a:gdLst/>
            <a:ahLst/>
            <a:cxnLst/>
            <a:rect l="l" t="t" r="r" b="b"/>
            <a:pathLst>
              <a:path w="2821284" h="3319654">
                <a:moveTo>
                  <a:pt x="0" y="0"/>
                </a:moveTo>
                <a:lnTo>
                  <a:pt x="2821284" y="0"/>
                </a:lnTo>
                <a:lnTo>
                  <a:pt x="2821284" y="3319654"/>
                </a:lnTo>
                <a:lnTo>
                  <a:pt x="0" y="3319654"/>
                </a:lnTo>
                <a:lnTo>
                  <a:pt x="0" y="0"/>
                </a:lnTo>
                <a:close/>
              </a:path>
            </a:pathLst>
          </a:custGeom>
          <a:blipFill>
            <a:blip r:embed="rId4"/>
            <a:stretch>
              <a:fillRect/>
            </a:stretch>
          </a:blipFill>
        </p:spPr>
      </p:sp>
      <p:sp>
        <p:nvSpPr>
          <p:cNvPr id="17" name="Freeform 25">
            <a:extLst>
              <a:ext uri="{FF2B5EF4-FFF2-40B4-BE49-F238E27FC236}">
                <a16:creationId xmlns:a16="http://schemas.microsoft.com/office/drawing/2014/main" id="{5F083870-6842-7299-A0EB-06817E7FBF76}"/>
              </a:ext>
            </a:extLst>
          </p:cNvPr>
          <p:cNvSpPr/>
          <p:nvPr/>
        </p:nvSpPr>
        <p:spPr>
          <a:xfrm flipH="1">
            <a:off x="16108680" y="33013"/>
            <a:ext cx="2819400" cy="538487"/>
          </a:xfrm>
          <a:custGeom>
            <a:avLst/>
            <a:gdLst/>
            <a:ahLst/>
            <a:cxnLst/>
            <a:rect l="l" t="t" r="r" b="b"/>
            <a:pathLst>
              <a:path w="3938691" h="572901">
                <a:moveTo>
                  <a:pt x="0" y="0"/>
                </a:moveTo>
                <a:lnTo>
                  <a:pt x="3938691" y="0"/>
                </a:lnTo>
                <a:lnTo>
                  <a:pt x="3938691" y="572901"/>
                </a:lnTo>
                <a:lnTo>
                  <a:pt x="0" y="5729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941514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6880632" y="3497580"/>
            <a:ext cx="411480" cy="61722"/>
          </a:xfrm>
          <a:prstGeom prst="rect">
            <a:avLst/>
          </a:prstGeom>
          <a:solidFill>
            <a:srgbClr val="FFC857"/>
          </a:solidFill>
          <a:ln/>
        </p:spPr>
      </p:sp>
      <p:sp>
        <p:nvSpPr>
          <p:cNvPr id="3" name="Shape 1"/>
          <p:cNvSpPr/>
          <p:nvPr/>
        </p:nvSpPr>
        <p:spPr>
          <a:xfrm>
            <a:off x="7539000" y="3497580"/>
            <a:ext cx="411480" cy="61722"/>
          </a:xfrm>
          <a:prstGeom prst="rect">
            <a:avLst/>
          </a:prstGeom>
          <a:solidFill>
            <a:srgbClr val="FFC857"/>
          </a:solidFill>
          <a:ln/>
        </p:spPr>
      </p:sp>
      <p:sp>
        <p:nvSpPr>
          <p:cNvPr id="4" name="Shape 2"/>
          <p:cNvSpPr/>
          <p:nvPr/>
        </p:nvSpPr>
        <p:spPr>
          <a:xfrm>
            <a:off x="8197368" y="3497580"/>
            <a:ext cx="411480" cy="61722"/>
          </a:xfrm>
          <a:prstGeom prst="rect">
            <a:avLst/>
          </a:prstGeom>
          <a:solidFill>
            <a:srgbClr val="FFC857"/>
          </a:solidFill>
          <a:ln/>
        </p:spPr>
      </p:sp>
      <p:sp>
        <p:nvSpPr>
          <p:cNvPr id="5" name="Shape 3"/>
          <p:cNvSpPr/>
          <p:nvPr/>
        </p:nvSpPr>
        <p:spPr>
          <a:xfrm>
            <a:off x="8855736" y="3497580"/>
            <a:ext cx="411480" cy="61722"/>
          </a:xfrm>
          <a:prstGeom prst="rect">
            <a:avLst/>
          </a:prstGeom>
          <a:solidFill>
            <a:srgbClr val="FFC857"/>
          </a:solidFill>
          <a:ln/>
        </p:spPr>
      </p:sp>
      <p:sp>
        <p:nvSpPr>
          <p:cNvPr id="6" name="Shape 4"/>
          <p:cNvSpPr/>
          <p:nvPr/>
        </p:nvSpPr>
        <p:spPr>
          <a:xfrm>
            <a:off x="9514104" y="3497580"/>
            <a:ext cx="411480" cy="61722"/>
          </a:xfrm>
          <a:prstGeom prst="rect">
            <a:avLst/>
          </a:prstGeom>
          <a:solidFill>
            <a:srgbClr val="FFC857"/>
          </a:solidFill>
          <a:ln/>
        </p:spPr>
      </p:sp>
      <p:sp>
        <p:nvSpPr>
          <p:cNvPr id="7" name="Shape 5"/>
          <p:cNvSpPr/>
          <p:nvPr/>
        </p:nvSpPr>
        <p:spPr>
          <a:xfrm>
            <a:off x="10172472" y="3497580"/>
            <a:ext cx="411480" cy="61722"/>
          </a:xfrm>
          <a:prstGeom prst="rect">
            <a:avLst/>
          </a:prstGeom>
          <a:solidFill>
            <a:srgbClr val="FFC857"/>
          </a:solidFill>
          <a:ln/>
        </p:spPr>
      </p:sp>
      <p:sp>
        <p:nvSpPr>
          <p:cNvPr id="8" name="Shape 6"/>
          <p:cNvSpPr/>
          <p:nvPr/>
        </p:nvSpPr>
        <p:spPr>
          <a:xfrm>
            <a:off x="10830840" y="3497580"/>
            <a:ext cx="411480" cy="61722"/>
          </a:xfrm>
          <a:prstGeom prst="rect">
            <a:avLst/>
          </a:prstGeom>
          <a:solidFill>
            <a:srgbClr val="FFC857"/>
          </a:solidFill>
          <a:ln/>
        </p:spPr>
      </p:sp>
      <p:sp>
        <p:nvSpPr>
          <p:cNvPr id="9" name="Shape 7"/>
          <p:cNvSpPr/>
          <p:nvPr/>
        </p:nvSpPr>
        <p:spPr>
          <a:xfrm>
            <a:off x="11489208" y="3497580"/>
            <a:ext cx="411480" cy="61722"/>
          </a:xfrm>
          <a:prstGeom prst="rect">
            <a:avLst/>
          </a:prstGeom>
          <a:solidFill>
            <a:srgbClr val="FFC857"/>
          </a:solidFill>
          <a:ln/>
        </p:spPr>
      </p:sp>
      <p:sp>
        <p:nvSpPr>
          <p:cNvPr id="10" name="Text 8"/>
          <p:cNvSpPr/>
          <p:nvPr/>
        </p:nvSpPr>
        <p:spPr>
          <a:xfrm>
            <a:off x="1" y="4114800"/>
            <a:ext cx="18287543" cy="1371600"/>
          </a:xfrm>
          <a:prstGeom prst="rect">
            <a:avLst/>
          </a:prstGeom>
          <a:noFill/>
          <a:ln/>
        </p:spPr>
        <p:txBody>
          <a:bodyPr wrap="square" lIns="0" tIns="0" rIns="0" bIns="0" rtlCol="0" anchor="ctr"/>
          <a:lstStyle/>
          <a:p>
            <a:pPr algn="ctr"/>
            <a:r>
              <a:rPr lang="en-US" sz="6300" b="1" dirty="0">
                <a:solidFill>
                  <a:srgbClr val="EAF2F8"/>
                </a:solidFill>
                <a:latin typeface="TT Supermolot Neue Expanded" panose="020B0604020202020204" charset="0"/>
                <a:ea typeface="Cambria" pitchFamily="34" charset="-122"/>
                <a:cs typeface="Cambria" pitchFamily="34" charset="-120"/>
              </a:rPr>
              <a:t>Questions ?</a:t>
            </a:r>
            <a:endParaRPr lang="en-US" sz="6300" dirty="0">
              <a:latin typeface="TT Supermolot Neue Expanded" panose="020B0604020202020204" charset="0"/>
            </a:endParaRPr>
          </a:p>
        </p:txBody>
      </p:sp>
      <p:sp>
        <p:nvSpPr>
          <p:cNvPr id="11" name="Text 9"/>
          <p:cNvSpPr/>
          <p:nvPr/>
        </p:nvSpPr>
        <p:spPr>
          <a:xfrm>
            <a:off x="1" y="5417820"/>
            <a:ext cx="18287543" cy="685800"/>
          </a:xfrm>
          <a:prstGeom prst="rect">
            <a:avLst/>
          </a:prstGeom>
          <a:noFill/>
          <a:ln/>
        </p:spPr>
        <p:txBody>
          <a:bodyPr wrap="square" lIns="0" tIns="0" rIns="0" bIns="0" rtlCol="0" anchor="ctr"/>
          <a:lstStyle/>
          <a:p>
            <a:pPr algn="ctr"/>
            <a:r>
              <a:rPr lang="en-US" sz="2400" dirty="0">
                <a:solidFill>
                  <a:schemeClr val="bg1"/>
                </a:solidFill>
                <a:latin typeface="Baskerville Old Face" panose="02020602080505020303" pitchFamily="18" charset="0"/>
                <a:ea typeface="Calibri" pitchFamily="34" charset="-122"/>
                <a:cs typeface="Calibri" pitchFamily="34" charset="-120"/>
              </a:rPr>
              <a:t>Merci de votre attention</a:t>
            </a:r>
            <a:endParaRPr lang="en-US" sz="2400" dirty="0">
              <a:solidFill>
                <a:schemeClr val="bg1"/>
              </a:solidFill>
              <a:latin typeface="Baskerville Old Face" panose="02020602080505020303" pitchFamily="18" charset="0"/>
            </a:endParaRPr>
          </a:p>
        </p:txBody>
      </p:sp>
      <p:sp>
        <p:nvSpPr>
          <p:cNvPr id="13" name="Text 11"/>
          <p:cNvSpPr/>
          <p:nvPr/>
        </p:nvSpPr>
        <p:spPr>
          <a:xfrm>
            <a:off x="17327423" y="9601200"/>
            <a:ext cx="548640" cy="411480"/>
          </a:xfrm>
          <a:prstGeom prst="rect">
            <a:avLst/>
          </a:prstGeom>
          <a:noFill/>
          <a:ln/>
        </p:spPr>
        <p:txBody>
          <a:bodyPr wrap="square" lIns="0" tIns="0" rIns="0" bIns="0" rtlCol="0" anchor="ctr"/>
          <a:lstStyle/>
          <a:p>
            <a:pPr algn="r"/>
            <a:r>
              <a:rPr lang="en-US" sz="1650" dirty="0">
                <a:solidFill>
                  <a:srgbClr val="9FB3C8"/>
                </a:solidFill>
                <a:latin typeface="Calibri" pitchFamily="34" charset="0"/>
                <a:ea typeface="Calibri" pitchFamily="34" charset="-122"/>
                <a:cs typeface="Calibri" pitchFamily="34" charset="-120"/>
              </a:rPr>
              <a:t>14</a:t>
            </a:r>
            <a:endParaRPr lang="en-US" sz="1650" dirty="0"/>
          </a:p>
        </p:txBody>
      </p:sp>
    </p:spTree>
    <p:extLst>
      <p:ext uri="{BB962C8B-B14F-4D97-AF65-F5344CB8AC3E}">
        <p14:creationId xmlns:p14="http://schemas.microsoft.com/office/powerpoint/2010/main" val="1208720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1038</TotalTime>
  <Words>952</Words>
  <Application>Microsoft Office PowerPoint</Application>
  <PresentationFormat>Personnalisé</PresentationFormat>
  <Paragraphs>211</Paragraphs>
  <Slides>16</Slides>
  <Notes>15</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16</vt:i4>
      </vt:variant>
    </vt:vector>
  </HeadingPairs>
  <TitlesOfParts>
    <vt:vector size="26" baseType="lpstr">
      <vt:lpstr>Calibri</vt:lpstr>
      <vt:lpstr>Aptos</vt:lpstr>
      <vt:lpstr>Wingdings</vt:lpstr>
      <vt:lpstr>Times New Roman</vt:lpstr>
      <vt:lpstr>TT Supermolot Neue Expanded</vt:lpstr>
      <vt:lpstr>Baskerville Old Face</vt:lpstr>
      <vt:lpstr>Cambria</vt:lpstr>
      <vt:lpstr>TT Supermolot Neue Expanded Bold</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 Cloud computing Présentation</dc:title>
  <dc:creator>jamy bee</dc:creator>
  <cp:lastModifiedBy>jamy bee</cp:lastModifiedBy>
  <cp:revision>20</cp:revision>
  <dcterms:created xsi:type="dcterms:W3CDTF">2006-08-16T00:00:00Z</dcterms:created>
  <dcterms:modified xsi:type="dcterms:W3CDTF">2026-06-30T16:32:15Z</dcterms:modified>
  <dc:identifier>DAHK7iGsBkk</dc:identifier>
</cp:coreProperties>
</file>